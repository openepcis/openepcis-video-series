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68"/>
    <p:restoredTop sz="94610"/>
  </p:normalViewPr>
  <p:slideViewPr>
    <p:cSldViewPr snapToGrid="0" snapToObjects="1">
      <p:cViewPr varScale="1">
        <p:scale>
          <a:sx n="157" d="100"/>
          <a:sy n="157" d="100"/>
        </p:scale>
        <p:origin x="7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4344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Short intro of both Sven &amp; Aravinda.</a:t>
            </a:r>
          </a:p>
          <a:p>
            <a:r>
              <a:rPr lang="en-US" dirty="0"/>
              <a:t>
Explain the series: one 15-minute episode per week, one topic, one live demo.</a:t>
            </a:r>
          </a:p>
          <a:p>
            <a:r>
              <a:rPr lang="en-US" dirty="0"/>
              <a:t>
Today: the basics of EPCIS, so that every later episode has a common starting point.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plan in a few seconds. Mention the demo at step 4 so people stay for it.
Total about 15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question. Pick up any product on your desk as an example.
Many companies handle it before it reaches the shelf: producer, packer, logistics, wholesaler, retailer.
Each one keeps its own records, in its own system and format.
Without a shared language, answering 'where has this been?' means emails and spreadsheets.
EPCIS is the GS1 standard that gives everyone the same way to record and share what happened.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bar of chocolate (we reuse this product in every episode).
Each step is something that happened at a certain time and place: that is an event.
The small words under each step (commissioning, packing ...) are the official CBV business steps.
Key message: every step becomes one EPCIS event, and together they tell the product's story.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EPCIS. Every event answers these questions.
What: which product, pallet or item, by its GS1 identifier.
When: date, time and time zone.
Where: the location where it happened, usually a GLN.
Why: the business step (shipping, receiving ...) and the state of the product (disposition).
How: new in EPCIS 2.0, sensor data such as temperature.
Remember line: what, when, where, why, how.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GS1 is the global, not-for-profit standards body behind the barcode.</a:t>
            </a:r>
            <a:br>
              <a:rPr lang="en-US" dirty="0"/>
            </a:br>
            <a:r>
              <a:rPr lang="en-US" dirty="0"/>
              <a:t>
Its standards follow three steps: identify things, capture data about them, share that data.</a:t>
            </a:r>
            <a:br>
              <a:rPr lang="en-US" dirty="0"/>
            </a:br>
            <a:r>
              <a:rPr lang="en-US" dirty="0"/>
              <a:t>
Identify: GTIN for products, GLN for locations, SSCC for pallets (episode 2 goes deeper).</a:t>
            </a:r>
            <a:br>
              <a:rPr lang="en-US" dirty="0"/>
            </a:br>
            <a:r>
              <a:rPr lang="en-US" dirty="0"/>
              <a:t>
Capture: barcodes, 2D codes, RFID tags.</a:t>
            </a:r>
            <a:br>
              <a:rPr lang="en-US" dirty="0"/>
            </a:br>
            <a:r>
              <a:rPr lang="en-US" dirty="0"/>
              <a:t>
Share: EPCIS defines how events are structured and exchanged; CBV is the shared vocabulary, the words everyone uses.</a:t>
            </a:r>
            <a:br>
              <a:rPr lang="en-US" dirty="0"/>
            </a:br>
            <a:r>
              <a:rPr lang="en-US" dirty="0"/>
              <a:t>
Click the links to show the official standard pages.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five questions are literally fields in the data.
eventTime answers when. epcList answers what: here one chocolate bar as a GS1 Digital Link.
bizStep and disposition answer why. readPoint answers where.
How (sensor data) is optional and left out here to keep it short.
This is a simplified excerpt of EPCIS 2.0 JSON; a full document also carries @context and a few header fields.
Identifiers use the GS1 demo prefix 952, so they never clash with real products.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recording: prepare one shipping event for the chocolate bar, so the demo runs without typing.
1. Open the Event Data Designer and show how the event is put together visually.
2. Open the Format Converter and show the same event as XML and as JSON.
3. Point at the five questions in the result: eventTime, epcList, readPoint, bizStep.
Keep it to about 5 minutes. Close with: 'next weeks we look at each of these tools in depth'.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tour of what is available, each tool gets its own episode later.
Designer: build events visually, no coding.
Generator: create realistic test data, many linked events at once.
Format Converter: XML and JSON, EPCIS 1.2 and 2.0.
Event Hash Generator: a fingerprint per event, to find duplicates.
Invite viewers to try them at tools.openepcis.io.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OpenEPCIS: open-source EPCIS 2.0 software and tools, Apache 2.0 licence, code on GitHub.
benelog: the team that builds OpenEPCIS, and works with companies on EPCIS projects.
We take part in the GS1 EPCIS and CBV standards work, including version 2.1.
Mention the Business Edition for companies that want support or a hosted setup.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road ahead so viewers subscribe.
Highlight next week: identifiers and GS1 Digital Link.
Ask viewers which topic they want most, in the comments.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viewers. Read out the five links and ask viewers to follow benelog on LinkedIn. Ask for comments and topic ideas. Announce next week's episode: identifiers and GS1 Digital Link.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pic>
        <p:nvPicPr>
          <p:cNvPr id="2" name="Image 0" descr="/private/tmp/claude-502/-Users-aravinda-baligab-Downloads-EPCIS-Context-Issue/2683edc8-9c8b-4839-95e0-e04f849e6f42/scratchpad/deck/img/openepcis-logo-light.png"/>
          <p:cNvPicPr>
            <a:picLocks noChangeAspect="1"/>
          </p:cNvPicPr>
          <p:nvPr/>
        </p:nvPicPr>
        <p:blipFill>
          <a:blip r:embed="rId2"/>
          <a:stretch>
            <a:fillRect/>
          </a:stretch>
        </p:blipFill>
        <p:spPr>
          <a:xfrm>
            <a:off x="548640" y="6199632"/>
            <a:ext cx="905256" cy="384048"/>
          </a:xfrm>
          <a:prstGeom prst="rect">
            <a:avLst/>
          </a:prstGeom>
        </p:spPr>
      </p:pic>
      <p:pic>
        <p:nvPicPr>
          <p:cNvPr id="3" name="Image 1" descr="/private/tmp/claude-502/-Users-aravinda-baligab-Downloads-EPCIS-Context-Issue/2683edc8-9c8b-4839-95e0-e04f849e6f42/scratchpad/deck/img/benelog-logo-light.png"/>
          <p:cNvPicPr>
            <a:picLocks noChangeAspect="1"/>
          </p:cNvPicPr>
          <p:nvPr/>
        </p:nvPicPr>
        <p:blipFill>
          <a:blip r:embed="rId3"/>
          <a:stretch>
            <a:fillRect/>
          </a:stretch>
        </p:blipFill>
        <p:spPr>
          <a:xfrm>
            <a:off x="10771632" y="6309360"/>
            <a:ext cx="868680" cy="182880"/>
          </a:xfrm>
          <a:prstGeom prst="rect">
            <a:avLst/>
          </a:prstGeom>
        </p:spPr>
      </p:pic>
      <p:sp>
        <p:nvSpPr>
          <p:cNvPr id="4" name="Text 0"/>
          <p:cNvSpPr/>
          <p:nvPr/>
        </p:nvSpPr>
        <p:spPr>
          <a:xfrm>
            <a:off x="4270248" y="6291072"/>
            <a:ext cx="3657600" cy="228600"/>
          </a:xfrm>
          <a:prstGeom prst="rect">
            <a:avLst/>
          </a:prstGeom>
          <a:noFill/>
          <a:ln/>
        </p:spPr>
        <p:txBody>
          <a:bodyPr wrap="square" lIns="0" tIns="0" rIns="0" bIns="0" rtlCol="0" anchor="ctr"/>
          <a:lstStyle/>
          <a:p>
            <a:pPr marL="0" indent="0" algn="ctr">
              <a:buNone/>
            </a:pPr>
            <a:r>
              <a:rPr lang="en-US" sz="1000" dirty="0">
                <a:solidFill>
                  <a:schemeClr val="accent5"/>
                </a:solidFill>
              </a:rPr>
              <a:t>openepcis.io   |   benelog.com</a:t>
            </a:r>
            <a:endParaRPr lang="en-US" sz="1000" dirty="0"/>
          </a:p>
        </p:txBody>
      </p:sp>
      <p:sp>
        <p:nvSpPr>
          <p:cNvPr id="5" name="Text 1"/>
          <p:cNvSpPr>
            <a:spLocks noGrp="1"/>
          </p:cNvSpPr>
          <p:nvPr>
            <p:ph type="body" idx="103" hasCustomPrompt="1"/>
          </p:nvPr>
        </p:nvSpPr>
        <p:spPr>
          <a:xfrm>
            <a:off x="548640" y="384048"/>
            <a:ext cx="9144000" cy="274320"/>
          </a:xfrm>
          <a:prstGeom prst="rect">
            <a:avLst/>
          </a:prstGeom>
          <a:noFill/>
          <a:ln/>
        </p:spPr>
        <p:txBody>
          <a:bodyPr wrap="square" rtlCol="0"/>
          <a:lstStyle>
            <a:lvl1pPr marL="0" indent="0">
              <a:buNone/>
              <a:defRPr lang="en-US" sz="1100" b="1" kern="0" spc="300" dirty="0">
                <a:solidFill>
                  <a:schemeClr val="accent3"/>
                </a:solidFill>
              </a:defRPr>
            </a:lvl1pPr>
          </a:lstStyle>
          <a:p>
            <a:pPr marL="0" indent="0">
              <a:buNone/>
            </a:pPr>
            <a:r>
              <a:rPr lang="en-US" sz="1100" b="1" kern="0" spc="300" dirty="0">
                <a:solidFill>
                  <a:schemeClr val="accent3"/>
                </a:solidFill>
              </a:rPr>
              <a:t>SECTION</a:t>
            </a:r>
            <a:endParaRPr lang="en-US" sz="1100" dirty="0"/>
          </a:p>
        </p:txBody>
      </p:sp>
      <p:sp>
        <p:nvSpPr>
          <p:cNvPr id="6" name="Text 1"/>
          <p:cNvSpPr>
            <a:spLocks noGrp="1"/>
          </p:cNvSpPr>
          <p:nvPr>
            <p:ph type="title" idx="104" hasCustomPrompt="1"/>
          </p:nvPr>
        </p:nvSpPr>
        <p:spPr>
          <a:xfrm>
            <a:off x="548640" y="685800"/>
            <a:ext cx="11064240" cy="73152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r>
              <a:rPr lang="en-US" sz="3600" b="1" dirty="0">
                <a:solidFill>
                  <a:schemeClr val="tx2"/>
                </a:solidFill>
              </a:rPr>
              <a:t>Title</a:t>
            </a:r>
            <a:endParaRPr lang="en-US" sz="3600" dirty="0"/>
          </a:p>
        </p:txBody>
      </p:sp>
      <p:sp>
        <p:nvSpPr>
          <p:cNvPr id="25"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accent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alphaModFix amt="12000"/>
          </a:blip>
          <a:stretch>
            <a:fillRect/>
          </a:stretch>
        </p:blipFill>
        <p:spPr>
          <a:xfrm>
            <a:off x="7680960" y="1097280"/>
            <a:ext cx="5120640" cy="512064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hyperlink" Target="https://ref.gs1.org/standards/cbv/"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ref.gs1.org/standards/epcis/" TargetMode="External"/><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s://tools.openepcis.io/ui/" TargetMode="External"/><Relationship Id="rId3" Type="http://schemas.openxmlformats.org/officeDocument/2006/relationships/image" Target="../media/image24.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tools.openepcis.io/ui/format-converter" TargetMode="External"/><Relationship Id="rId5" Type="http://schemas.openxmlformats.org/officeDocument/2006/relationships/image" Target="../media/image25.png"/><Relationship Id="rId4" Type="http://schemas.openxmlformats.org/officeDocument/2006/relationships/hyperlink" Target="https://tools.openepcis.io/ui/event-data-designer" TargetMode="External"/><Relationship Id="rId9"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hyperlink" Target="https://tools.openepcis.io/ui/format-converter" TargetMode="External"/><Relationship Id="rId3" Type="http://schemas.openxmlformats.org/officeDocument/2006/relationships/image" Target="../media/image24.pn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tools.openepcis.io/ui/event-data-generator" TargetMode="External"/><Relationship Id="rId11" Type="http://schemas.openxmlformats.org/officeDocument/2006/relationships/hyperlink" Target="https://tools.openepcis.io/ui/" TargetMode="External"/><Relationship Id="rId5" Type="http://schemas.openxmlformats.org/officeDocument/2006/relationships/image" Target="../media/image28.png"/><Relationship Id="rId10" Type="http://schemas.openxmlformats.org/officeDocument/2006/relationships/hyperlink" Target="https://tools.openepcis.io/ui/event-hash-generator" TargetMode="External"/><Relationship Id="rId4" Type="http://schemas.openxmlformats.org/officeDocument/2006/relationships/hyperlink" Target="https://tools.openepcis.io/ui/event-data-designer" TargetMode="External"/><Relationship Id="rId9"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hyperlink" Target="https://openepcis.io/offers/business-edition" TargetMode="External"/><Relationship Id="rId3" Type="http://schemas.openxmlformats.org/officeDocument/2006/relationships/image" Target="../media/image1.png"/><Relationship Id="rId7" Type="http://schemas.openxmlformats.org/officeDocument/2006/relationships/hyperlink" Target="https://benelog.com"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s://openepcis.io" TargetMode="External"/><Relationship Id="rId4" Type="http://schemas.openxmlformats.org/officeDocument/2006/relationships/hyperlink" Target="https://github.com/openepcis" TargetMode="External"/><Relationship Id="rId9" Type="http://schemas.openxmlformats.org/officeDocument/2006/relationships/hyperlink" Target="https://www.linkedin.com/company/benelog"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github.com/openepcis" TargetMode="External"/><Relationship Id="rId3" Type="http://schemas.openxmlformats.org/officeDocument/2006/relationships/image" Target="../media/image30.png"/><Relationship Id="rId7" Type="http://schemas.openxmlformats.org/officeDocument/2006/relationships/image" Target="../media/image32.png"/><Relationship Id="rId12"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hyperlink" Target="https://openepcis.io" TargetMode="External"/><Relationship Id="rId11" Type="http://schemas.openxmlformats.org/officeDocument/2006/relationships/image" Target="../media/image4.png"/><Relationship Id="rId5" Type="http://schemas.openxmlformats.org/officeDocument/2006/relationships/image" Target="../media/image31.png"/><Relationship Id="rId10" Type="http://schemas.openxmlformats.org/officeDocument/2006/relationships/hyperlink" Target="https://benelog.com" TargetMode="External"/><Relationship Id="rId4" Type="http://schemas.openxmlformats.org/officeDocument/2006/relationships/hyperlink" Target="https://tools.openepcis.io/ui/" TargetMode="External"/><Relationship Id="rId9" Type="http://schemas.openxmlformats.org/officeDocument/2006/relationships/image" Target="../media/image33.png"/><Relationship Id="rId13" Type="http://schemas.openxmlformats.org/officeDocument/2006/relationships/image" Target="../media/image34.png"/><Relationship Id="rId14" Type="http://schemas.openxmlformats.org/officeDocument/2006/relationships/hyperlink" Target="https://www.linkedin.com/company/benelog" TargetMode="External"/><Relationship Id="rId15"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accent4"/>
        </a:solidFill>
        <a:effectLst/>
      </p:bgPr>
    </p:bg>
    <p:spTree>
      <p:nvGrpSpPr>
        <p:cNvPr id="1" name=""/>
        <p:cNvGrpSpPr/>
        <p:nvPr/>
      </p:nvGrpSpPr>
      <p:grpSpPr>
        <a:xfrm>
          <a:off x="0" y="0"/>
          <a:ext cx="0" cy="0"/>
          <a:chOff x="0" y="0"/>
          <a:chExt cx="0" cy="0"/>
        </a:xfrm>
      </p:grpSpPr>
      <p:pic>
        <p:nvPicPr>
          <p:cNvPr id="2" name="Image 0" descr="/private/tmp/claude-502/-Users-aravinda-baligab-Downloads-EPCIS-Context-Issue/2683edc8-9c8b-4839-95e0-e04f849e6f42/scratchpad/deck/img/openepcis-logo-dark.png"/>
          <p:cNvPicPr>
            <a:picLocks noChangeAspect="1"/>
          </p:cNvPicPr>
          <p:nvPr/>
        </p:nvPicPr>
        <p:blipFill>
          <a:blip r:embed="rId3"/>
          <a:stretch>
            <a:fillRect/>
          </a:stretch>
        </p:blipFill>
        <p:spPr>
          <a:xfrm>
            <a:off x="731520" y="640080"/>
            <a:ext cx="1508760" cy="640080"/>
          </a:xfrm>
          <a:prstGeom prst="rect">
            <a:avLst/>
          </a:prstGeom>
        </p:spPr>
      </p:pic>
      <p:pic>
        <p:nvPicPr>
          <p:cNvPr id="3" name="Image 1" descr="/private/tmp/claude-502/-Users-aravinda-baligab-Downloads-EPCIS-Context-Issue/2683edc8-9c8b-4839-95e0-e04f849e6f42/scratchpad/deck/img/benelog-logo-dark.png"/>
          <p:cNvPicPr>
            <a:picLocks noChangeAspect="1"/>
          </p:cNvPicPr>
          <p:nvPr/>
        </p:nvPicPr>
        <p:blipFill>
          <a:blip r:embed="rId4"/>
          <a:stretch>
            <a:fillRect/>
          </a:stretch>
        </p:blipFill>
        <p:spPr>
          <a:xfrm>
            <a:off x="2695052" y="896341"/>
            <a:ext cx="1335024" cy="274320"/>
          </a:xfrm>
          <a:prstGeom prst="rect">
            <a:avLst/>
          </a:prstGeom>
        </p:spPr>
      </p:pic>
      <p:sp>
        <p:nvSpPr>
          <p:cNvPr id="4" name="Text 0"/>
          <p:cNvSpPr txBox="1"/>
          <p:nvPr/>
        </p:nvSpPr>
        <p:spPr>
          <a:xfrm>
            <a:off x="731520" y="2240280"/>
            <a:ext cx="7315200" cy="320040"/>
          </a:xfrm>
          <a:prstGeom prst="rect">
            <a:avLst/>
          </a:prstGeom>
          <a:noFill/>
          <a:ln/>
        </p:spPr>
        <p:txBody>
          <a:bodyPr wrap="square" lIns="0" tIns="0" rIns="0" bIns="0" rtlCol="0" anchor="ctr"/>
          <a:lstStyle/>
          <a:p>
            <a:pPr marL="0" indent="0">
              <a:buNone/>
            </a:pPr>
            <a:r>
              <a:rPr lang="en-US" sz="1300" b="1" kern="0" spc="300" dirty="0">
                <a:solidFill>
                  <a:srgbClr val="9DB9E8"/>
                </a:solidFill>
              </a:rPr>
              <a:t>OPENEPCIS SERIES   |   EPISODE 1</a:t>
            </a:r>
            <a:endParaRPr lang="en-US" sz="1300" dirty="0"/>
          </a:p>
        </p:txBody>
      </p:sp>
      <p:sp>
        <p:nvSpPr>
          <p:cNvPr id="5" name="Text 1"/>
          <p:cNvSpPr txBox="1"/>
          <p:nvPr/>
        </p:nvSpPr>
        <p:spPr>
          <a:xfrm>
            <a:off x="731520" y="2606040"/>
            <a:ext cx="8229600" cy="1005840"/>
          </a:xfrm>
          <a:prstGeom prst="rect">
            <a:avLst/>
          </a:prstGeom>
          <a:noFill/>
          <a:ln/>
        </p:spPr>
        <p:txBody>
          <a:bodyPr wrap="square" lIns="0" tIns="0" rIns="0" bIns="0" rtlCol="0" anchor="ctr"/>
          <a:lstStyle/>
          <a:p>
            <a:pPr marL="0" indent="0">
              <a:buNone/>
            </a:pPr>
            <a:r>
              <a:rPr lang="en-US" sz="5200" b="1" dirty="0">
                <a:solidFill>
                  <a:schemeClr val="bg1"/>
                </a:solidFill>
                <a:latin typeface="Cambria" pitchFamily="34" charset="0"/>
                <a:ea typeface="Cambria" pitchFamily="34" charset="-122"/>
                <a:cs typeface="Cambria" pitchFamily="34" charset="-120"/>
              </a:rPr>
              <a:t>GS1 EPCIS &amp; OpenEPCIS</a:t>
            </a:r>
            <a:endParaRPr lang="en-US" sz="5200" dirty="0"/>
          </a:p>
        </p:txBody>
      </p:sp>
      <p:sp>
        <p:nvSpPr>
          <p:cNvPr id="6" name="Text 2"/>
          <p:cNvSpPr txBox="1"/>
          <p:nvPr/>
        </p:nvSpPr>
        <p:spPr>
          <a:xfrm>
            <a:off x="731520" y="3657600"/>
            <a:ext cx="6949440" cy="731520"/>
          </a:xfrm>
          <a:prstGeom prst="rect">
            <a:avLst/>
          </a:prstGeom>
          <a:noFill/>
          <a:ln/>
        </p:spPr>
        <p:txBody>
          <a:bodyPr wrap="square" lIns="0" tIns="0" rIns="0" bIns="0" rtlCol="0" anchor="ctr"/>
          <a:lstStyle/>
          <a:p>
            <a:pPr marL="0" indent="0">
              <a:buNone/>
            </a:pPr>
            <a:r>
              <a:rPr lang="en-US" sz="2000" dirty="0">
                <a:solidFill>
                  <a:schemeClr val="accent6"/>
                </a:solidFill>
              </a:rPr>
              <a:t>What a supply chain event is, why it matters, and how our tools bring it to life</a:t>
            </a:r>
            <a:endParaRPr lang="en-US" sz="2000" dirty="0"/>
          </a:p>
        </p:txBody>
      </p:sp>
      <p:sp>
        <p:nvSpPr>
          <p:cNvPr id="7" name="Date placeholder"/>
          <p:cNvSpPr txBox="1"/>
          <p:nvPr/>
        </p:nvSpPr>
        <p:spPr>
          <a:xfrm>
            <a:off x="731520" y="4892040"/>
            <a:ext cx="3657600" cy="365760"/>
          </a:xfrm>
          <a:prstGeom prst="rect">
            <a:avLst/>
          </a:prstGeom>
          <a:noFill/>
          <a:ln/>
        </p:spPr>
        <p:txBody>
          <a:bodyPr wrap="square" lIns="0" tIns="0" rIns="0" bIns="0" rtlCol="0" anchor="ctr"/>
          <a:lstStyle/>
          <a:p>
            <a:pPr marL="0" indent="0">
              <a:buNone/>
            </a:pPr>
            <a:r>
              <a:rPr lang="en-US" sz="1600" b="1" dirty="0">
                <a:solidFill>
                  <a:srgbClr val="9DB9E8"/>
                </a:solidFill>
              </a:rPr>
              <a:t>Date:</a:t>
            </a:r>
            <a:r>
              <a:rPr lang="en-US" sz="1600" b="1" dirty="0">
                <a:solidFill>
                  <a:schemeClr val="bg1"/>
                </a:solidFill>
              </a:rPr>
              <a:t> 14 Oct 2026</a:t>
            </a:r>
            <a:endParaRPr lang="en-US" sz="1600" dirty="0"/>
          </a:p>
        </p:txBody>
      </p:sp>
      <p:sp>
        <p:nvSpPr>
          <p:cNvPr id="8" name="Text 4"/>
          <p:cNvSpPr txBox="1"/>
          <p:nvPr/>
        </p:nvSpPr>
        <p:spPr>
          <a:xfrm>
            <a:off x="731520" y="6172200"/>
            <a:ext cx="4572000" cy="274320"/>
          </a:xfrm>
          <a:prstGeom prst="rect">
            <a:avLst/>
          </a:prstGeom>
          <a:noFill/>
          <a:ln/>
        </p:spPr>
        <p:txBody>
          <a:bodyPr wrap="square" lIns="0" tIns="0" rIns="0" bIns="0" rtlCol="0" anchor="ctr"/>
          <a:lstStyle/>
          <a:p>
            <a:pPr marL="0" indent="0">
              <a:buNone/>
            </a:pPr>
            <a:r>
              <a:rPr lang="en-US" sz="1100" dirty="0">
                <a:solidFill>
                  <a:schemeClr val="accent5"/>
                </a:solidFill>
              </a:rPr>
              <a:t>openepcis.io   |   benelog.com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TODAY</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Agenda</a:t>
            </a:r>
            <a:endParaRPr lang="en-US" sz="3600" dirty="0"/>
          </a:p>
        </p:txBody>
      </p:sp>
      <p:sp>
        <p:nvSpPr>
          <p:cNvPr id="5" name="Shape 2"/>
          <p:cNvSpPr/>
          <p:nvPr/>
        </p:nvSpPr>
        <p:spPr>
          <a:xfrm>
            <a:off x="1545336" y="2048256"/>
            <a:ext cx="0" cy="3364992"/>
          </a:xfrm>
          <a:prstGeom prst="line">
            <a:avLst/>
          </a:prstGeom>
          <a:noFill/>
          <a:ln w="19050">
            <a:solidFill>
              <a:schemeClr val="accent6"/>
            </a:solidFill>
            <a:prstDash val="solid"/>
          </a:ln>
        </p:spPr>
      </p:sp>
      <p:sp>
        <p:nvSpPr>
          <p:cNvPr id="6" name="Shape 3"/>
          <p:cNvSpPr/>
          <p:nvPr/>
        </p:nvSpPr>
        <p:spPr>
          <a:xfrm>
            <a:off x="1280160" y="1783080"/>
            <a:ext cx="530352" cy="530352"/>
          </a:xfrm>
          <a:prstGeom prst="ellipse">
            <a:avLst/>
          </a:prstGeom>
          <a:solidFill>
            <a:schemeClr val="accent1"/>
          </a:solidFill>
          <a:ln w="38100">
            <a:solidFill>
              <a:schemeClr val="bg1"/>
            </a:solidFill>
            <a:prstDash val="solid"/>
          </a:ln>
        </p:spPr>
      </p:sp>
      <p:sp>
        <p:nvSpPr>
          <p:cNvPr id="7" name="Text 4"/>
          <p:cNvSpPr txBox="1"/>
          <p:nvPr/>
        </p:nvSpPr>
        <p:spPr>
          <a:xfrm>
            <a:off x="1280160" y="1783080"/>
            <a:ext cx="530352" cy="530352"/>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8" name="Text 5"/>
          <p:cNvSpPr txBox="1"/>
          <p:nvPr/>
        </p:nvSpPr>
        <p:spPr>
          <a:xfrm>
            <a:off x="2103120" y="1746504"/>
            <a:ext cx="6400800" cy="347472"/>
          </a:xfrm>
          <a:prstGeom prst="rect">
            <a:avLst/>
          </a:prstGeom>
          <a:noFill/>
          <a:ln/>
        </p:spPr>
        <p:txBody>
          <a:bodyPr wrap="square" lIns="0" tIns="0" rIns="0" bIns="0" rtlCol="0" anchor="ctr"/>
          <a:lstStyle/>
          <a:p>
            <a:pPr marL="0" indent="0">
              <a:buNone/>
            </a:pPr>
            <a:r>
              <a:rPr lang="en-US" sz="2000" b="1" dirty="0">
                <a:solidFill>
                  <a:schemeClr val="tx1"/>
                </a:solidFill>
              </a:rPr>
              <a:t>One product's journey</a:t>
            </a:r>
            <a:endParaRPr lang="en-US" sz="2000" dirty="0"/>
          </a:p>
        </p:txBody>
      </p:sp>
      <p:sp>
        <p:nvSpPr>
          <p:cNvPr id="9" name="Text 6"/>
          <p:cNvSpPr txBox="1"/>
          <p:nvPr/>
        </p:nvSpPr>
        <p:spPr>
          <a:xfrm>
            <a:off x="2103120" y="2093976"/>
            <a:ext cx="6400800" cy="274320"/>
          </a:xfrm>
          <a:prstGeom prst="rect">
            <a:avLst/>
          </a:prstGeom>
          <a:noFill/>
          <a:ln/>
        </p:spPr>
        <p:txBody>
          <a:bodyPr wrap="square" lIns="0" tIns="0" rIns="0" bIns="0" rtlCol="0" anchor="ctr"/>
          <a:lstStyle/>
          <a:p>
            <a:pPr marL="0" indent="0">
              <a:buNone/>
            </a:pPr>
            <a:r>
              <a:rPr lang="en-US" sz="1400" dirty="0">
                <a:solidFill>
                  <a:schemeClr val="accent5"/>
                </a:solidFill>
              </a:rPr>
              <a:t>From the factory to the shop shelf</a:t>
            </a:r>
            <a:endParaRPr lang="en-US" sz="1400" dirty="0"/>
          </a:p>
        </p:txBody>
      </p:sp>
      <p:sp>
        <p:nvSpPr>
          <p:cNvPr id="10" name="Text 7"/>
          <p:cNvSpPr txBox="1"/>
          <p:nvPr/>
        </p:nvSpPr>
        <p:spPr>
          <a:xfrm>
            <a:off x="9326880" y="1783080"/>
            <a:ext cx="1463040" cy="530352"/>
          </a:xfrm>
          <a:prstGeom prst="rect">
            <a:avLst/>
          </a:prstGeom>
          <a:noFill/>
          <a:ln/>
        </p:spPr>
        <p:txBody>
          <a:bodyPr wrap="square" lIns="0" tIns="0" rIns="0" bIns="0" rtlCol="0" anchor="ctr"/>
          <a:lstStyle/>
          <a:p>
            <a:pPr marL="0" indent="0" algn="r">
              <a:buNone/>
            </a:pPr>
            <a:r>
              <a:rPr lang="en-US" sz="1400" dirty="0">
                <a:solidFill>
                  <a:schemeClr val="accent5"/>
                </a:solidFill>
              </a:rPr>
              <a:t>2 min</a:t>
            </a:r>
            <a:endParaRPr lang="en-US" sz="1400" dirty="0"/>
          </a:p>
        </p:txBody>
      </p:sp>
      <p:sp>
        <p:nvSpPr>
          <p:cNvPr id="11" name="Shape 8"/>
          <p:cNvSpPr/>
          <p:nvPr/>
        </p:nvSpPr>
        <p:spPr>
          <a:xfrm>
            <a:off x="1280160" y="2624328"/>
            <a:ext cx="530352" cy="530352"/>
          </a:xfrm>
          <a:prstGeom prst="ellipse">
            <a:avLst/>
          </a:prstGeom>
          <a:solidFill>
            <a:schemeClr val="accent1"/>
          </a:solidFill>
          <a:ln w="38100">
            <a:solidFill>
              <a:schemeClr val="bg1"/>
            </a:solidFill>
            <a:prstDash val="solid"/>
          </a:ln>
        </p:spPr>
      </p:sp>
      <p:sp>
        <p:nvSpPr>
          <p:cNvPr id="12" name="Text 9"/>
          <p:cNvSpPr txBox="1"/>
          <p:nvPr/>
        </p:nvSpPr>
        <p:spPr>
          <a:xfrm>
            <a:off x="1280160" y="2624328"/>
            <a:ext cx="530352" cy="530352"/>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3" name="Text 10"/>
          <p:cNvSpPr txBox="1"/>
          <p:nvPr/>
        </p:nvSpPr>
        <p:spPr>
          <a:xfrm>
            <a:off x="2103120" y="2587752"/>
            <a:ext cx="6400800" cy="347472"/>
          </a:xfrm>
          <a:prstGeom prst="rect">
            <a:avLst/>
          </a:prstGeom>
          <a:noFill/>
          <a:ln/>
        </p:spPr>
        <p:txBody>
          <a:bodyPr wrap="square" lIns="0" tIns="0" rIns="0" bIns="0" rtlCol="0" anchor="ctr"/>
          <a:lstStyle/>
          <a:p>
            <a:pPr marL="0" indent="0">
              <a:buNone/>
            </a:pPr>
            <a:r>
              <a:rPr lang="en-US" sz="2000" b="1" dirty="0">
                <a:solidFill>
                  <a:schemeClr val="tx1"/>
                </a:solidFill>
              </a:rPr>
              <a:t>Five questions, every event</a:t>
            </a:r>
            <a:endParaRPr lang="en-US" sz="2000" dirty="0"/>
          </a:p>
        </p:txBody>
      </p:sp>
      <p:sp>
        <p:nvSpPr>
          <p:cNvPr id="14" name="Text 11"/>
          <p:cNvSpPr txBox="1"/>
          <p:nvPr/>
        </p:nvSpPr>
        <p:spPr>
          <a:xfrm>
            <a:off x="2103120" y="2935224"/>
            <a:ext cx="6400800" cy="274320"/>
          </a:xfrm>
          <a:prstGeom prst="rect">
            <a:avLst/>
          </a:prstGeom>
          <a:noFill/>
          <a:ln/>
        </p:spPr>
        <p:txBody>
          <a:bodyPr wrap="square" lIns="0" tIns="0" rIns="0" bIns="0" rtlCol="0" anchor="ctr"/>
          <a:lstStyle/>
          <a:p>
            <a:pPr marL="0" indent="0">
              <a:buNone/>
            </a:pPr>
            <a:r>
              <a:rPr lang="en-US" sz="1400" dirty="0">
                <a:solidFill>
                  <a:schemeClr val="accent5"/>
                </a:solidFill>
              </a:rPr>
              <a:t>What, when, where, why and how</a:t>
            </a:r>
            <a:endParaRPr lang="en-US" sz="1400" dirty="0"/>
          </a:p>
        </p:txBody>
      </p:sp>
      <p:sp>
        <p:nvSpPr>
          <p:cNvPr id="15" name="Text 12"/>
          <p:cNvSpPr txBox="1"/>
          <p:nvPr/>
        </p:nvSpPr>
        <p:spPr>
          <a:xfrm>
            <a:off x="9326880" y="2624328"/>
            <a:ext cx="1463040" cy="530352"/>
          </a:xfrm>
          <a:prstGeom prst="rect">
            <a:avLst/>
          </a:prstGeom>
          <a:noFill/>
          <a:ln/>
        </p:spPr>
        <p:txBody>
          <a:bodyPr wrap="square" lIns="0" tIns="0" rIns="0" bIns="0" rtlCol="0" anchor="ctr"/>
          <a:lstStyle/>
          <a:p>
            <a:pPr marL="0" indent="0" algn="r">
              <a:buNone/>
            </a:pPr>
            <a:r>
              <a:rPr lang="en-US" sz="1400" dirty="0">
                <a:solidFill>
                  <a:schemeClr val="accent5"/>
                </a:solidFill>
              </a:rPr>
              <a:t>3 min</a:t>
            </a:r>
            <a:endParaRPr lang="en-US" sz="1400" dirty="0"/>
          </a:p>
        </p:txBody>
      </p:sp>
      <p:sp>
        <p:nvSpPr>
          <p:cNvPr id="16" name="Shape 13"/>
          <p:cNvSpPr/>
          <p:nvPr/>
        </p:nvSpPr>
        <p:spPr>
          <a:xfrm>
            <a:off x="1280160" y="3465576"/>
            <a:ext cx="530352" cy="530352"/>
          </a:xfrm>
          <a:prstGeom prst="ellipse">
            <a:avLst/>
          </a:prstGeom>
          <a:solidFill>
            <a:schemeClr val="accent1"/>
          </a:solidFill>
          <a:ln w="38100">
            <a:solidFill>
              <a:schemeClr val="bg1"/>
            </a:solidFill>
            <a:prstDash val="solid"/>
          </a:ln>
        </p:spPr>
      </p:sp>
      <p:sp>
        <p:nvSpPr>
          <p:cNvPr id="17" name="Text 14"/>
          <p:cNvSpPr txBox="1"/>
          <p:nvPr/>
        </p:nvSpPr>
        <p:spPr>
          <a:xfrm>
            <a:off x="1280160" y="3465576"/>
            <a:ext cx="530352" cy="530352"/>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8" name="Text 15"/>
          <p:cNvSpPr txBox="1"/>
          <p:nvPr/>
        </p:nvSpPr>
        <p:spPr>
          <a:xfrm>
            <a:off x="2103120" y="3429000"/>
            <a:ext cx="6400800" cy="347472"/>
          </a:xfrm>
          <a:prstGeom prst="rect">
            <a:avLst/>
          </a:prstGeom>
          <a:noFill/>
          <a:ln/>
        </p:spPr>
        <p:txBody>
          <a:bodyPr wrap="square" lIns="0" tIns="0" rIns="0" bIns="0" rtlCol="0" anchor="ctr"/>
          <a:lstStyle/>
          <a:p>
            <a:pPr marL="0" indent="0">
              <a:buNone/>
            </a:pPr>
            <a:r>
              <a:rPr lang="en-US" sz="2000" b="1" dirty="0">
                <a:solidFill>
                  <a:schemeClr val="tx1"/>
                </a:solidFill>
              </a:rPr>
              <a:t>Where EPCIS fits in GS1</a:t>
            </a:r>
            <a:endParaRPr lang="en-US" sz="2000" dirty="0"/>
          </a:p>
        </p:txBody>
      </p:sp>
      <p:sp>
        <p:nvSpPr>
          <p:cNvPr id="19" name="Text 16"/>
          <p:cNvSpPr txBox="1"/>
          <p:nvPr/>
        </p:nvSpPr>
        <p:spPr>
          <a:xfrm>
            <a:off x="2103120" y="3776472"/>
            <a:ext cx="6400800" cy="274320"/>
          </a:xfrm>
          <a:prstGeom prst="rect">
            <a:avLst/>
          </a:prstGeom>
          <a:noFill/>
          <a:ln/>
        </p:spPr>
        <p:txBody>
          <a:bodyPr wrap="square" lIns="0" tIns="0" rIns="0" bIns="0" rtlCol="0" anchor="ctr"/>
          <a:lstStyle/>
          <a:p>
            <a:pPr marL="0" indent="0">
              <a:buNone/>
            </a:pPr>
            <a:r>
              <a:rPr lang="en-US" sz="1400" dirty="0">
                <a:solidFill>
                  <a:schemeClr val="accent5"/>
                </a:solidFill>
              </a:rPr>
              <a:t>Identify, capture, share</a:t>
            </a:r>
            <a:endParaRPr lang="en-US" sz="1400" dirty="0"/>
          </a:p>
        </p:txBody>
      </p:sp>
      <p:sp>
        <p:nvSpPr>
          <p:cNvPr id="20" name="Text 17"/>
          <p:cNvSpPr txBox="1"/>
          <p:nvPr/>
        </p:nvSpPr>
        <p:spPr>
          <a:xfrm>
            <a:off x="9326880" y="3465576"/>
            <a:ext cx="1463040" cy="530352"/>
          </a:xfrm>
          <a:prstGeom prst="rect">
            <a:avLst/>
          </a:prstGeom>
          <a:noFill/>
          <a:ln/>
        </p:spPr>
        <p:txBody>
          <a:bodyPr wrap="square" lIns="0" tIns="0" rIns="0" bIns="0" rtlCol="0" anchor="ctr"/>
          <a:lstStyle/>
          <a:p>
            <a:pPr marL="0" indent="0" algn="r">
              <a:buNone/>
            </a:pPr>
            <a:r>
              <a:rPr lang="en-US" sz="1400" dirty="0">
                <a:solidFill>
                  <a:schemeClr val="accent5"/>
                </a:solidFill>
              </a:rPr>
              <a:t>3 min</a:t>
            </a:r>
            <a:endParaRPr lang="en-US" sz="1400" dirty="0"/>
          </a:p>
        </p:txBody>
      </p:sp>
      <p:sp>
        <p:nvSpPr>
          <p:cNvPr id="21" name="Shape 18"/>
          <p:cNvSpPr/>
          <p:nvPr/>
        </p:nvSpPr>
        <p:spPr>
          <a:xfrm>
            <a:off x="1280160" y="4306824"/>
            <a:ext cx="530352" cy="530352"/>
          </a:xfrm>
          <a:prstGeom prst="ellipse">
            <a:avLst/>
          </a:prstGeom>
          <a:solidFill>
            <a:schemeClr val="accent3"/>
          </a:solidFill>
          <a:ln w="38100">
            <a:solidFill>
              <a:schemeClr val="bg1"/>
            </a:solidFill>
            <a:prstDash val="solid"/>
          </a:ln>
        </p:spPr>
      </p:sp>
      <p:sp>
        <p:nvSpPr>
          <p:cNvPr id="22" name="Text 19"/>
          <p:cNvSpPr txBox="1"/>
          <p:nvPr/>
        </p:nvSpPr>
        <p:spPr>
          <a:xfrm>
            <a:off x="1280160" y="4306824"/>
            <a:ext cx="530352" cy="530352"/>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3" name="Text 20"/>
          <p:cNvSpPr txBox="1"/>
          <p:nvPr/>
        </p:nvSpPr>
        <p:spPr>
          <a:xfrm>
            <a:off x="2103120" y="4270248"/>
            <a:ext cx="6400800" cy="347472"/>
          </a:xfrm>
          <a:prstGeom prst="rect">
            <a:avLst/>
          </a:prstGeom>
          <a:noFill/>
          <a:ln/>
        </p:spPr>
        <p:txBody>
          <a:bodyPr wrap="square" lIns="0" tIns="0" rIns="0" bIns="0" rtlCol="0" anchor="ctr"/>
          <a:lstStyle/>
          <a:p>
            <a:pPr marL="0" indent="0">
              <a:buNone/>
            </a:pPr>
            <a:r>
              <a:rPr lang="en-US" sz="2000" b="1" dirty="0">
                <a:solidFill>
                  <a:schemeClr val="tx1"/>
                </a:solidFill>
              </a:rPr>
              <a:t>Live demo</a:t>
            </a:r>
            <a:endParaRPr lang="en-US" sz="2000" dirty="0"/>
          </a:p>
        </p:txBody>
      </p:sp>
      <p:sp>
        <p:nvSpPr>
          <p:cNvPr id="24" name="Text 21"/>
          <p:cNvSpPr txBox="1"/>
          <p:nvPr/>
        </p:nvSpPr>
        <p:spPr>
          <a:xfrm>
            <a:off x="2103120" y="4617720"/>
            <a:ext cx="6400800" cy="274320"/>
          </a:xfrm>
          <a:prstGeom prst="rect">
            <a:avLst/>
          </a:prstGeom>
          <a:noFill/>
          <a:ln/>
        </p:spPr>
        <p:txBody>
          <a:bodyPr wrap="square" lIns="0" tIns="0" rIns="0" bIns="0" rtlCol="0" anchor="ctr"/>
          <a:lstStyle/>
          <a:p>
            <a:pPr marL="0" indent="0">
              <a:buNone/>
            </a:pPr>
            <a:r>
              <a:rPr lang="en-US" sz="1400" dirty="0">
                <a:solidFill>
                  <a:schemeClr val="accent5"/>
                </a:solidFill>
              </a:rPr>
              <a:t>A real event in our tools</a:t>
            </a:r>
            <a:endParaRPr lang="en-US" sz="1400" dirty="0"/>
          </a:p>
        </p:txBody>
      </p:sp>
      <p:sp>
        <p:nvSpPr>
          <p:cNvPr id="25" name="Text 22"/>
          <p:cNvSpPr txBox="1"/>
          <p:nvPr/>
        </p:nvSpPr>
        <p:spPr>
          <a:xfrm>
            <a:off x="9326880" y="4306824"/>
            <a:ext cx="1463040" cy="530352"/>
          </a:xfrm>
          <a:prstGeom prst="rect">
            <a:avLst/>
          </a:prstGeom>
          <a:noFill/>
          <a:ln/>
        </p:spPr>
        <p:txBody>
          <a:bodyPr wrap="square" lIns="0" tIns="0" rIns="0" bIns="0" rtlCol="0" anchor="ctr"/>
          <a:lstStyle/>
          <a:p>
            <a:pPr marL="0" indent="0" algn="r">
              <a:buNone/>
            </a:pPr>
            <a:r>
              <a:rPr lang="en-US" sz="1400" dirty="0">
                <a:solidFill>
                  <a:schemeClr val="accent5"/>
                </a:solidFill>
              </a:rPr>
              <a:t>5 min</a:t>
            </a:r>
            <a:endParaRPr lang="en-US" sz="1400" dirty="0"/>
          </a:p>
        </p:txBody>
      </p:sp>
      <p:sp>
        <p:nvSpPr>
          <p:cNvPr id="26" name="Shape 23"/>
          <p:cNvSpPr/>
          <p:nvPr/>
        </p:nvSpPr>
        <p:spPr>
          <a:xfrm>
            <a:off x="1280160" y="5148072"/>
            <a:ext cx="530352" cy="530352"/>
          </a:xfrm>
          <a:prstGeom prst="ellipse">
            <a:avLst/>
          </a:prstGeom>
          <a:solidFill>
            <a:schemeClr val="accent1"/>
          </a:solidFill>
          <a:ln w="38100">
            <a:solidFill>
              <a:schemeClr val="bg1"/>
            </a:solidFill>
            <a:prstDash val="solid"/>
          </a:ln>
        </p:spPr>
      </p:sp>
      <p:sp>
        <p:nvSpPr>
          <p:cNvPr id="27" name="Text 24"/>
          <p:cNvSpPr txBox="1"/>
          <p:nvPr/>
        </p:nvSpPr>
        <p:spPr>
          <a:xfrm>
            <a:off x="1280160" y="5148072"/>
            <a:ext cx="530352" cy="530352"/>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8" name="Text 25"/>
          <p:cNvSpPr txBox="1"/>
          <p:nvPr/>
        </p:nvSpPr>
        <p:spPr>
          <a:xfrm>
            <a:off x="2103120" y="5111496"/>
            <a:ext cx="6400800" cy="347472"/>
          </a:xfrm>
          <a:prstGeom prst="rect">
            <a:avLst/>
          </a:prstGeom>
          <a:noFill/>
          <a:ln/>
        </p:spPr>
        <p:txBody>
          <a:bodyPr wrap="square" lIns="0" tIns="0" rIns="0" bIns="0" rtlCol="0" anchor="ctr"/>
          <a:lstStyle/>
          <a:p>
            <a:pPr marL="0" indent="0">
              <a:buNone/>
            </a:pPr>
            <a:r>
              <a:rPr lang="en-US" sz="2000" b="1" dirty="0">
                <a:solidFill>
                  <a:schemeClr val="tx1"/>
                </a:solidFill>
              </a:rPr>
              <a:t>Who we are, what comes next</a:t>
            </a:r>
            <a:endParaRPr lang="en-US" sz="2000" dirty="0"/>
          </a:p>
        </p:txBody>
      </p:sp>
      <p:sp>
        <p:nvSpPr>
          <p:cNvPr id="29" name="Text 26"/>
          <p:cNvSpPr txBox="1"/>
          <p:nvPr/>
        </p:nvSpPr>
        <p:spPr>
          <a:xfrm>
            <a:off x="2103120" y="5458968"/>
            <a:ext cx="6400800" cy="274320"/>
          </a:xfrm>
          <a:prstGeom prst="rect">
            <a:avLst/>
          </a:prstGeom>
          <a:noFill/>
          <a:ln/>
        </p:spPr>
        <p:txBody>
          <a:bodyPr wrap="square" lIns="0" tIns="0" rIns="0" bIns="0" rtlCol="0" anchor="ctr"/>
          <a:lstStyle/>
          <a:p>
            <a:pPr marL="0" indent="0">
              <a:buNone/>
            </a:pPr>
            <a:r>
              <a:rPr lang="en-US" sz="1400" dirty="0">
                <a:solidFill>
                  <a:schemeClr val="accent5"/>
                </a:solidFill>
              </a:rPr>
              <a:t>OpenEPCIS, benelog and the series</a:t>
            </a:r>
            <a:endParaRPr lang="en-US" sz="1400" dirty="0"/>
          </a:p>
        </p:txBody>
      </p:sp>
      <p:sp>
        <p:nvSpPr>
          <p:cNvPr id="30" name="Text 27"/>
          <p:cNvSpPr txBox="1"/>
          <p:nvPr/>
        </p:nvSpPr>
        <p:spPr>
          <a:xfrm>
            <a:off x="9326880" y="5148072"/>
            <a:ext cx="1463040" cy="530352"/>
          </a:xfrm>
          <a:prstGeom prst="rect">
            <a:avLst/>
          </a:prstGeom>
          <a:noFill/>
          <a:ln/>
        </p:spPr>
        <p:txBody>
          <a:bodyPr wrap="square" lIns="0" tIns="0" rIns="0" bIns="0" rtlCol="0" anchor="ctr"/>
          <a:lstStyle/>
          <a:p>
            <a:pPr marL="0" indent="0" algn="r">
              <a:buNone/>
            </a:pPr>
            <a:r>
              <a:rPr lang="en-US" sz="1400" dirty="0">
                <a:solidFill>
                  <a:schemeClr val="accent5"/>
                </a:solidFill>
              </a:rPr>
              <a:t>2 min</a:t>
            </a:r>
            <a:endParaRPr lang="en-US" sz="1400" dirty="0"/>
          </a:p>
        </p:txBody>
      </p:sp>
      <p:sp>
        <p:nvSpPr>
          <p:cNvPr id="4"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WHY IT MATTERS</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Who Touched This Product, and When?</a:t>
            </a:r>
            <a:endParaRPr lang="en-US" sz="3600" dirty="0"/>
          </a:p>
        </p:txBody>
      </p:sp>
      <p:sp>
        <p:nvSpPr>
          <p:cNvPr id="5" name="Card 1"/>
          <p:cNvSpPr/>
          <p:nvPr/>
        </p:nvSpPr>
        <p:spPr>
          <a:xfrm>
            <a:off x="548640" y="1874520"/>
            <a:ext cx="3429000" cy="3291840"/>
          </a:xfrm>
          <a:prstGeom prst="roundRect">
            <a:avLst>
              <a:gd name="adj" fmla="val 3333"/>
            </a:avLst>
          </a:prstGeom>
          <a:solidFill>
            <a:schemeClr val="bg2"/>
          </a:solidFill>
          <a:ln/>
        </p:spPr>
      </p:sp>
      <p:sp>
        <p:nvSpPr>
          <p:cNvPr id="6" name="Shape 3"/>
          <p:cNvSpPr/>
          <p:nvPr/>
        </p:nvSpPr>
        <p:spPr>
          <a:xfrm>
            <a:off x="960120" y="2331720"/>
            <a:ext cx="822960" cy="822960"/>
          </a:xfrm>
          <a:prstGeom prst="ellipse">
            <a:avLst/>
          </a:prstGeom>
          <a:solidFill>
            <a:srgbClr val="0B4A86"/>
          </a:solidFill>
          <a:ln/>
        </p:spPr>
      </p:sp>
      <p:pic>
        <p:nvPicPr>
          <p:cNvPr id="7" name="Image 0" descr="preencoded.png"/>
          <p:cNvPicPr>
            <a:picLocks noChangeAspect="1"/>
          </p:cNvPicPr>
          <p:nvPr/>
        </p:nvPicPr>
        <p:blipFill>
          <a:blip r:embed="rId3"/>
          <a:stretch>
            <a:fillRect/>
          </a:stretch>
        </p:blipFill>
        <p:spPr>
          <a:xfrm>
            <a:off x="1174090" y="2545690"/>
            <a:ext cx="395021" cy="395021"/>
          </a:xfrm>
          <a:prstGeom prst="rect">
            <a:avLst/>
          </a:prstGeom>
        </p:spPr>
      </p:pic>
      <p:sp>
        <p:nvSpPr>
          <p:cNvPr id="8" name="Text 4"/>
          <p:cNvSpPr txBox="1"/>
          <p:nvPr/>
        </p:nvSpPr>
        <p:spPr>
          <a:xfrm>
            <a:off x="960120" y="3429000"/>
            <a:ext cx="2606040" cy="45720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Many hands</a:t>
            </a:r>
            <a:endParaRPr lang="en-US" sz="2200" dirty="0"/>
          </a:p>
        </p:txBody>
      </p:sp>
      <p:sp>
        <p:nvSpPr>
          <p:cNvPr id="9" name="Text 5"/>
          <p:cNvSpPr txBox="1"/>
          <p:nvPr/>
        </p:nvSpPr>
        <p:spPr>
          <a:xfrm>
            <a:off x="960120" y="3977640"/>
            <a:ext cx="2606040" cy="1097280"/>
          </a:xfrm>
          <a:prstGeom prst="rect">
            <a:avLst/>
          </a:prstGeom>
          <a:noFill/>
          <a:ln/>
        </p:spPr>
        <p:txBody>
          <a:bodyPr wrap="square" lIns="0" tIns="0" rIns="0" bIns="0" rtlCol="0" anchor="t"/>
          <a:lstStyle/>
          <a:p>
            <a:pPr marL="0" indent="0">
              <a:buNone/>
            </a:pPr>
            <a:r>
              <a:rPr lang="en-US" sz="1600" dirty="0">
                <a:solidFill>
                  <a:schemeClr val="tx1"/>
                </a:solidFill>
              </a:rPr>
              <a:t>One product passes through many companies before it reaches the shelf.</a:t>
            </a:r>
            <a:endParaRPr lang="en-US" sz="1600" dirty="0"/>
          </a:p>
        </p:txBody>
      </p:sp>
      <p:sp>
        <p:nvSpPr>
          <p:cNvPr id="10" name="Card 2"/>
          <p:cNvSpPr/>
          <p:nvPr/>
        </p:nvSpPr>
        <p:spPr>
          <a:xfrm>
            <a:off x="4366260" y="1874520"/>
            <a:ext cx="3429000" cy="3291840"/>
          </a:xfrm>
          <a:prstGeom prst="roundRect">
            <a:avLst>
              <a:gd name="adj" fmla="val 3333"/>
            </a:avLst>
          </a:prstGeom>
          <a:solidFill>
            <a:schemeClr val="bg2"/>
          </a:solidFill>
          <a:ln/>
        </p:spPr>
      </p:sp>
      <p:sp>
        <p:nvSpPr>
          <p:cNvPr id="11" name="Shape 7"/>
          <p:cNvSpPr/>
          <p:nvPr/>
        </p:nvSpPr>
        <p:spPr>
          <a:xfrm>
            <a:off x="4777740" y="2331720"/>
            <a:ext cx="822960" cy="822960"/>
          </a:xfrm>
          <a:prstGeom prst="ellipse">
            <a:avLst/>
          </a:prstGeom>
          <a:solidFill>
            <a:srgbClr val="0B4A86"/>
          </a:solidFill>
          <a:ln/>
        </p:spPr>
      </p:sp>
      <p:pic>
        <p:nvPicPr>
          <p:cNvPr id="12" name="Image 1" descr="preencoded.png"/>
          <p:cNvPicPr>
            <a:picLocks noChangeAspect="1"/>
          </p:cNvPicPr>
          <p:nvPr/>
        </p:nvPicPr>
        <p:blipFill>
          <a:blip r:embed="rId4"/>
          <a:stretch>
            <a:fillRect/>
          </a:stretch>
        </p:blipFill>
        <p:spPr>
          <a:xfrm>
            <a:off x="4991710" y="2545690"/>
            <a:ext cx="395021" cy="395021"/>
          </a:xfrm>
          <a:prstGeom prst="rect">
            <a:avLst/>
          </a:prstGeom>
        </p:spPr>
      </p:pic>
      <p:sp>
        <p:nvSpPr>
          <p:cNvPr id="13" name="Text 8"/>
          <p:cNvSpPr txBox="1"/>
          <p:nvPr/>
        </p:nvSpPr>
        <p:spPr>
          <a:xfrm>
            <a:off x="4777740" y="3429000"/>
            <a:ext cx="2606040" cy="45720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Separate records</a:t>
            </a:r>
            <a:endParaRPr lang="en-US" sz="2200" dirty="0"/>
          </a:p>
        </p:txBody>
      </p:sp>
      <p:sp>
        <p:nvSpPr>
          <p:cNvPr id="14" name="Text 9"/>
          <p:cNvSpPr txBox="1"/>
          <p:nvPr/>
        </p:nvSpPr>
        <p:spPr>
          <a:xfrm>
            <a:off x="4777740" y="3977640"/>
            <a:ext cx="2606040" cy="1097280"/>
          </a:xfrm>
          <a:prstGeom prst="rect">
            <a:avLst/>
          </a:prstGeom>
          <a:noFill/>
          <a:ln/>
        </p:spPr>
        <p:txBody>
          <a:bodyPr wrap="square" lIns="0" tIns="0" rIns="0" bIns="0" rtlCol="0" anchor="t"/>
          <a:lstStyle/>
          <a:p>
            <a:pPr marL="0" indent="0">
              <a:buNone/>
            </a:pPr>
            <a:r>
              <a:rPr lang="en-US" sz="1600" dirty="0">
                <a:solidFill>
                  <a:schemeClr val="tx1"/>
                </a:solidFill>
              </a:rPr>
              <a:t>Each company keeps its own data, in its own system and format.</a:t>
            </a:r>
            <a:endParaRPr lang="en-US" sz="1600" dirty="0"/>
          </a:p>
        </p:txBody>
      </p:sp>
      <p:sp>
        <p:nvSpPr>
          <p:cNvPr id="15" name="Card 3"/>
          <p:cNvSpPr/>
          <p:nvPr/>
        </p:nvSpPr>
        <p:spPr>
          <a:xfrm>
            <a:off x="8183880" y="1874520"/>
            <a:ext cx="3429000" cy="3291840"/>
          </a:xfrm>
          <a:prstGeom prst="roundRect">
            <a:avLst>
              <a:gd name="adj" fmla="val 3333"/>
            </a:avLst>
          </a:prstGeom>
          <a:solidFill>
            <a:schemeClr val="accent1"/>
          </a:solidFill>
          <a:ln/>
        </p:spPr>
      </p:sp>
      <p:sp>
        <p:nvSpPr>
          <p:cNvPr id="16" name="Shape 11"/>
          <p:cNvSpPr/>
          <p:nvPr/>
        </p:nvSpPr>
        <p:spPr>
          <a:xfrm>
            <a:off x="8595360" y="2331720"/>
            <a:ext cx="822960" cy="822960"/>
          </a:xfrm>
          <a:prstGeom prst="ellipse">
            <a:avLst/>
          </a:prstGeom>
          <a:solidFill>
            <a:srgbClr val="FFFFFF"/>
          </a:solidFill>
          <a:ln/>
        </p:spPr>
      </p:sp>
      <p:pic>
        <p:nvPicPr>
          <p:cNvPr id="17" name="Image 2" descr="preencoded.png"/>
          <p:cNvPicPr>
            <a:picLocks noChangeAspect="1"/>
          </p:cNvPicPr>
          <p:nvPr/>
        </p:nvPicPr>
        <p:blipFill>
          <a:blip r:embed="rId5"/>
          <a:stretch>
            <a:fillRect/>
          </a:stretch>
        </p:blipFill>
        <p:spPr>
          <a:xfrm>
            <a:off x="8809330" y="2545690"/>
            <a:ext cx="395021" cy="395021"/>
          </a:xfrm>
          <a:prstGeom prst="rect">
            <a:avLst/>
          </a:prstGeom>
        </p:spPr>
      </p:pic>
      <p:sp>
        <p:nvSpPr>
          <p:cNvPr id="18" name="Text 12"/>
          <p:cNvSpPr txBox="1"/>
          <p:nvPr/>
        </p:nvSpPr>
        <p:spPr>
          <a:xfrm>
            <a:off x="8595360" y="3429000"/>
            <a:ext cx="2606040" cy="4572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Shared language</a:t>
            </a:r>
            <a:endParaRPr lang="en-US" sz="2200" dirty="0"/>
          </a:p>
        </p:txBody>
      </p:sp>
      <p:sp>
        <p:nvSpPr>
          <p:cNvPr id="19" name="Text 13"/>
          <p:cNvSpPr txBox="1"/>
          <p:nvPr/>
        </p:nvSpPr>
        <p:spPr>
          <a:xfrm>
            <a:off x="8595360" y="3977640"/>
            <a:ext cx="2606040" cy="1097280"/>
          </a:xfrm>
          <a:prstGeom prst="rect">
            <a:avLst/>
          </a:prstGeom>
          <a:noFill/>
          <a:ln/>
        </p:spPr>
        <p:txBody>
          <a:bodyPr wrap="square" lIns="0" tIns="0" rIns="0" bIns="0" rtlCol="0" anchor="t"/>
          <a:lstStyle/>
          <a:p>
            <a:pPr marL="0" indent="0">
              <a:buNone/>
            </a:pPr>
            <a:r>
              <a:rPr lang="en-US" sz="1600" dirty="0">
                <a:solidFill>
                  <a:schemeClr val="bg1"/>
                </a:solidFill>
              </a:rPr>
              <a:t>EPCIS lets all of them record and share what happened, the same way.</a:t>
            </a:r>
            <a:endParaRPr lang="en-US" sz="1600" dirty="0"/>
          </a:p>
        </p:txBody>
      </p:sp>
      <p:sp>
        <p:nvSpPr>
          <p:cNvPr id="25"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THE BASICS</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One Product's Journey</a:t>
            </a:r>
            <a:endParaRPr lang="en-US" sz="3600" dirty="0"/>
          </a:p>
        </p:txBody>
      </p:sp>
      <p:sp>
        <p:nvSpPr>
          <p:cNvPr id="5" name="Shape 2"/>
          <p:cNvSpPr/>
          <p:nvPr/>
        </p:nvSpPr>
        <p:spPr>
          <a:xfrm>
            <a:off x="1143000" y="2011680"/>
            <a:ext cx="1097280" cy="1097280"/>
          </a:xfrm>
          <a:prstGeom prst="ellipse">
            <a:avLst/>
          </a:prstGeom>
          <a:solidFill>
            <a:schemeClr val="accent1"/>
          </a:solidFill>
          <a:ln/>
        </p:spPr>
      </p:sp>
      <p:pic>
        <p:nvPicPr>
          <p:cNvPr id="6" name="Image 0" descr="preencoded.png"/>
          <p:cNvPicPr>
            <a:picLocks noChangeAspect="1"/>
          </p:cNvPicPr>
          <p:nvPr/>
        </p:nvPicPr>
        <p:blipFill>
          <a:blip r:embed="rId3"/>
          <a:stretch>
            <a:fillRect/>
          </a:stretch>
        </p:blipFill>
        <p:spPr>
          <a:xfrm>
            <a:off x="1428293" y="2296973"/>
            <a:ext cx="526694" cy="526694"/>
          </a:xfrm>
          <a:prstGeom prst="rect">
            <a:avLst/>
          </a:prstGeom>
        </p:spPr>
      </p:pic>
      <p:pic>
        <p:nvPicPr>
          <p:cNvPr id="7" name="Image 1" descr="preencoded.png"/>
          <p:cNvPicPr>
            <a:picLocks noChangeAspect="1"/>
          </p:cNvPicPr>
          <p:nvPr/>
        </p:nvPicPr>
        <p:blipFill>
          <a:blip r:embed="rId4"/>
          <a:stretch>
            <a:fillRect/>
          </a:stretch>
        </p:blipFill>
        <p:spPr>
          <a:xfrm>
            <a:off x="2587752" y="2331720"/>
            <a:ext cx="457200" cy="457200"/>
          </a:xfrm>
          <a:prstGeom prst="rect">
            <a:avLst/>
          </a:prstGeom>
        </p:spPr>
      </p:pic>
      <p:sp>
        <p:nvSpPr>
          <p:cNvPr id="8" name="Text 3"/>
          <p:cNvSpPr txBox="1"/>
          <p:nvPr/>
        </p:nvSpPr>
        <p:spPr>
          <a:xfrm>
            <a:off x="822960" y="3291840"/>
            <a:ext cx="1737360" cy="411480"/>
          </a:xfrm>
          <a:prstGeom prst="rect">
            <a:avLst/>
          </a:prstGeom>
          <a:noFill/>
          <a:ln/>
        </p:spPr>
        <p:txBody>
          <a:bodyPr wrap="square" lIns="0" tIns="0" rIns="0" bIns="0" rtlCol="0" anchor="ctr"/>
          <a:lstStyle/>
          <a:p>
            <a:pPr marL="0" indent="0" algn="ctr">
              <a:buNone/>
            </a:pPr>
            <a:r>
              <a:rPr lang="en-US" sz="2000" b="1" dirty="0">
                <a:solidFill>
                  <a:schemeClr val="tx1"/>
                </a:solidFill>
              </a:rPr>
              <a:t>Produced</a:t>
            </a:r>
            <a:endParaRPr lang="en-US" sz="2000" dirty="0"/>
          </a:p>
        </p:txBody>
      </p:sp>
      <p:sp>
        <p:nvSpPr>
          <p:cNvPr id="9" name="Text 4"/>
          <p:cNvSpPr txBox="1"/>
          <p:nvPr/>
        </p:nvSpPr>
        <p:spPr>
          <a:xfrm>
            <a:off x="822960" y="3703320"/>
            <a:ext cx="1737360" cy="320040"/>
          </a:xfrm>
          <a:prstGeom prst="rect">
            <a:avLst/>
          </a:prstGeom>
          <a:noFill/>
          <a:ln/>
        </p:spPr>
        <p:txBody>
          <a:bodyPr wrap="square" lIns="0" tIns="0" rIns="0" bIns="0" rtlCol="0" anchor="ctr"/>
          <a:lstStyle/>
          <a:p>
            <a:pPr marL="0" indent="0" algn="ctr">
              <a:buNone/>
            </a:pPr>
            <a:r>
              <a:rPr lang="en-US" sz="1300" dirty="0">
                <a:solidFill>
                  <a:schemeClr val="accent5"/>
                </a:solidFill>
                <a:latin typeface="Courier New" pitchFamily="34" charset="0"/>
                <a:ea typeface="Courier New" pitchFamily="34" charset="-122"/>
                <a:cs typeface="Courier New" pitchFamily="34" charset="-120"/>
              </a:rPr>
              <a:t>commissioning</a:t>
            </a:r>
            <a:endParaRPr lang="en-US" sz="1300" dirty="0"/>
          </a:p>
        </p:txBody>
      </p:sp>
      <p:sp>
        <p:nvSpPr>
          <p:cNvPr id="10" name="Shape 5"/>
          <p:cNvSpPr/>
          <p:nvPr/>
        </p:nvSpPr>
        <p:spPr>
          <a:xfrm>
            <a:off x="3383280" y="2011680"/>
            <a:ext cx="1097280" cy="1097280"/>
          </a:xfrm>
          <a:prstGeom prst="ellipse">
            <a:avLst/>
          </a:prstGeom>
          <a:solidFill>
            <a:schemeClr val="accent1"/>
          </a:solidFill>
          <a:ln/>
        </p:spPr>
      </p:sp>
      <p:pic>
        <p:nvPicPr>
          <p:cNvPr id="11" name="Image 2" descr="preencoded.png"/>
          <p:cNvPicPr>
            <a:picLocks noChangeAspect="1"/>
          </p:cNvPicPr>
          <p:nvPr/>
        </p:nvPicPr>
        <p:blipFill>
          <a:blip r:embed="rId5"/>
          <a:stretch>
            <a:fillRect/>
          </a:stretch>
        </p:blipFill>
        <p:spPr>
          <a:xfrm>
            <a:off x="3668573" y="2296973"/>
            <a:ext cx="526694" cy="526694"/>
          </a:xfrm>
          <a:prstGeom prst="rect">
            <a:avLst/>
          </a:prstGeom>
        </p:spPr>
      </p:pic>
      <p:pic>
        <p:nvPicPr>
          <p:cNvPr id="12" name="Image 3" descr="preencoded.png"/>
          <p:cNvPicPr>
            <a:picLocks noChangeAspect="1"/>
          </p:cNvPicPr>
          <p:nvPr/>
        </p:nvPicPr>
        <p:blipFill>
          <a:blip r:embed="rId4"/>
          <a:stretch>
            <a:fillRect/>
          </a:stretch>
        </p:blipFill>
        <p:spPr>
          <a:xfrm>
            <a:off x="4828032" y="2331720"/>
            <a:ext cx="457200" cy="457200"/>
          </a:xfrm>
          <a:prstGeom prst="rect">
            <a:avLst/>
          </a:prstGeom>
        </p:spPr>
      </p:pic>
      <p:sp>
        <p:nvSpPr>
          <p:cNvPr id="13" name="Text 6"/>
          <p:cNvSpPr txBox="1"/>
          <p:nvPr/>
        </p:nvSpPr>
        <p:spPr>
          <a:xfrm>
            <a:off x="3063240" y="3291840"/>
            <a:ext cx="1737360" cy="411480"/>
          </a:xfrm>
          <a:prstGeom prst="rect">
            <a:avLst/>
          </a:prstGeom>
          <a:noFill/>
          <a:ln/>
        </p:spPr>
        <p:txBody>
          <a:bodyPr wrap="square" lIns="0" tIns="0" rIns="0" bIns="0" rtlCol="0" anchor="ctr"/>
          <a:lstStyle/>
          <a:p>
            <a:pPr marL="0" indent="0" algn="ctr">
              <a:buNone/>
            </a:pPr>
            <a:r>
              <a:rPr lang="en-US" sz="2000" b="1" dirty="0">
                <a:solidFill>
                  <a:schemeClr val="tx1"/>
                </a:solidFill>
              </a:rPr>
              <a:t>Packed</a:t>
            </a:r>
            <a:endParaRPr lang="en-US" sz="2000" dirty="0"/>
          </a:p>
        </p:txBody>
      </p:sp>
      <p:sp>
        <p:nvSpPr>
          <p:cNvPr id="14" name="Text 7"/>
          <p:cNvSpPr txBox="1"/>
          <p:nvPr/>
        </p:nvSpPr>
        <p:spPr>
          <a:xfrm>
            <a:off x="3063240" y="3703320"/>
            <a:ext cx="1737360" cy="320040"/>
          </a:xfrm>
          <a:prstGeom prst="rect">
            <a:avLst/>
          </a:prstGeom>
          <a:noFill/>
          <a:ln/>
        </p:spPr>
        <p:txBody>
          <a:bodyPr wrap="square" lIns="0" tIns="0" rIns="0" bIns="0" rtlCol="0" anchor="ctr"/>
          <a:lstStyle/>
          <a:p>
            <a:pPr marL="0" indent="0" algn="ctr">
              <a:buNone/>
            </a:pPr>
            <a:r>
              <a:rPr lang="en-US" sz="1300" dirty="0">
                <a:solidFill>
                  <a:schemeClr val="accent5"/>
                </a:solidFill>
                <a:latin typeface="Courier New" pitchFamily="34" charset="0"/>
                <a:ea typeface="Courier New" pitchFamily="34" charset="-122"/>
                <a:cs typeface="Courier New" pitchFamily="34" charset="-120"/>
              </a:rPr>
              <a:t>packing</a:t>
            </a:r>
            <a:endParaRPr lang="en-US" sz="1300" dirty="0"/>
          </a:p>
        </p:txBody>
      </p:sp>
      <p:sp>
        <p:nvSpPr>
          <p:cNvPr id="15" name="Shape 8"/>
          <p:cNvSpPr/>
          <p:nvPr/>
        </p:nvSpPr>
        <p:spPr>
          <a:xfrm>
            <a:off x="5623560" y="2011680"/>
            <a:ext cx="1097280" cy="1097280"/>
          </a:xfrm>
          <a:prstGeom prst="ellipse">
            <a:avLst/>
          </a:prstGeom>
          <a:solidFill>
            <a:schemeClr val="accent1"/>
          </a:solidFill>
          <a:ln/>
        </p:spPr>
      </p:sp>
      <p:pic>
        <p:nvPicPr>
          <p:cNvPr id="16" name="Image 4" descr="preencoded.png"/>
          <p:cNvPicPr>
            <a:picLocks noChangeAspect="1"/>
          </p:cNvPicPr>
          <p:nvPr/>
        </p:nvPicPr>
        <p:blipFill>
          <a:blip r:embed="rId6"/>
          <a:stretch>
            <a:fillRect/>
          </a:stretch>
        </p:blipFill>
        <p:spPr>
          <a:xfrm>
            <a:off x="5908853" y="2296973"/>
            <a:ext cx="526694" cy="526694"/>
          </a:xfrm>
          <a:prstGeom prst="rect">
            <a:avLst/>
          </a:prstGeom>
        </p:spPr>
      </p:pic>
      <p:pic>
        <p:nvPicPr>
          <p:cNvPr id="17" name="Image 5" descr="preencoded.png"/>
          <p:cNvPicPr>
            <a:picLocks noChangeAspect="1"/>
          </p:cNvPicPr>
          <p:nvPr/>
        </p:nvPicPr>
        <p:blipFill>
          <a:blip r:embed="rId4"/>
          <a:stretch>
            <a:fillRect/>
          </a:stretch>
        </p:blipFill>
        <p:spPr>
          <a:xfrm>
            <a:off x="7068312" y="2331720"/>
            <a:ext cx="457200" cy="457200"/>
          </a:xfrm>
          <a:prstGeom prst="rect">
            <a:avLst/>
          </a:prstGeom>
        </p:spPr>
      </p:pic>
      <p:sp>
        <p:nvSpPr>
          <p:cNvPr id="18" name="Text 9"/>
          <p:cNvSpPr txBox="1"/>
          <p:nvPr/>
        </p:nvSpPr>
        <p:spPr>
          <a:xfrm>
            <a:off x="5303520" y="3291840"/>
            <a:ext cx="1737360" cy="411480"/>
          </a:xfrm>
          <a:prstGeom prst="rect">
            <a:avLst/>
          </a:prstGeom>
          <a:noFill/>
          <a:ln/>
        </p:spPr>
        <p:txBody>
          <a:bodyPr wrap="square" lIns="0" tIns="0" rIns="0" bIns="0" rtlCol="0" anchor="ctr"/>
          <a:lstStyle/>
          <a:p>
            <a:pPr marL="0" indent="0" algn="ctr">
              <a:buNone/>
            </a:pPr>
            <a:r>
              <a:rPr lang="en-US" sz="2000" b="1" dirty="0">
                <a:solidFill>
                  <a:schemeClr val="tx1"/>
                </a:solidFill>
              </a:rPr>
              <a:t>Shipped</a:t>
            </a:r>
            <a:endParaRPr lang="en-US" sz="2000" dirty="0"/>
          </a:p>
        </p:txBody>
      </p:sp>
      <p:sp>
        <p:nvSpPr>
          <p:cNvPr id="19" name="Text 10"/>
          <p:cNvSpPr txBox="1"/>
          <p:nvPr/>
        </p:nvSpPr>
        <p:spPr>
          <a:xfrm>
            <a:off x="5303520" y="3703320"/>
            <a:ext cx="1737360" cy="320040"/>
          </a:xfrm>
          <a:prstGeom prst="rect">
            <a:avLst/>
          </a:prstGeom>
          <a:noFill/>
          <a:ln/>
        </p:spPr>
        <p:txBody>
          <a:bodyPr wrap="square" lIns="0" tIns="0" rIns="0" bIns="0" rtlCol="0" anchor="ctr"/>
          <a:lstStyle/>
          <a:p>
            <a:pPr marL="0" indent="0" algn="ctr">
              <a:buNone/>
            </a:pPr>
            <a:r>
              <a:rPr lang="en-US" sz="1300" dirty="0">
                <a:solidFill>
                  <a:schemeClr val="accent5"/>
                </a:solidFill>
                <a:latin typeface="Courier New" pitchFamily="34" charset="0"/>
                <a:ea typeface="Courier New" pitchFamily="34" charset="-122"/>
                <a:cs typeface="Courier New" pitchFamily="34" charset="-120"/>
              </a:rPr>
              <a:t>shipping</a:t>
            </a:r>
            <a:endParaRPr lang="en-US" sz="1300" dirty="0"/>
          </a:p>
        </p:txBody>
      </p:sp>
      <p:sp>
        <p:nvSpPr>
          <p:cNvPr id="20" name="Shape 11"/>
          <p:cNvSpPr/>
          <p:nvPr/>
        </p:nvSpPr>
        <p:spPr>
          <a:xfrm>
            <a:off x="7863840" y="2011680"/>
            <a:ext cx="1097280" cy="1097280"/>
          </a:xfrm>
          <a:prstGeom prst="ellipse">
            <a:avLst/>
          </a:prstGeom>
          <a:solidFill>
            <a:schemeClr val="accent1"/>
          </a:solidFill>
          <a:ln/>
        </p:spPr>
      </p:sp>
      <p:pic>
        <p:nvPicPr>
          <p:cNvPr id="21" name="Image 6" descr="preencoded.png"/>
          <p:cNvPicPr>
            <a:picLocks noChangeAspect="1"/>
          </p:cNvPicPr>
          <p:nvPr/>
        </p:nvPicPr>
        <p:blipFill>
          <a:blip r:embed="rId7"/>
          <a:stretch>
            <a:fillRect/>
          </a:stretch>
        </p:blipFill>
        <p:spPr>
          <a:xfrm>
            <a:off x="8149133" y="2296973"/>
            <a:ext cx="526694" cy="526694"/>
          </a:xfrm>
          <a:prstGeom prst="rect">
            <a:avLst/>
          </a:prstGeom>
        </p:spPr>
      </p:pic>
      <p:pic>
        <p:nvPicPr>
          <p:cNvPr id="22" name="Image 7" descr="preencoded.png"/>
          <p:cNvPicPr>
            <a:picLocks noChangeAspect="1"/>
          </p:cNvPicPr>
          <p:nvPr/>
        </p:nvPicPr>
        <p:blipFill>
          <a:blip r:embed="rId4"/>
          <a:stretch>
            <a:fillRect/>
          </a:stretch>
        </p:blipFill>
        <p:spPr>
          <a:xfrm>
            <a:off x="9308592" y="2331720"/>
            <a:ext cx="457200" cy="457200"/>
          </a:xfrm>
          <a:prstGeom prst="rect">
            <a:avLst/>
          </a:prstGeom>
        </p:spPr>
      </p:pic>
      <p:sp>
        <p:nvSpPr>
          <p:cNvPr id="23" name="Text 12"/>
          <p:cNvSpPr txBox="1"/>
          <p:nvPr/>
        </p:nvSpPr>
        <p:spPr>
          <a:xfrm>
            <a:off x="7543800" y="3291840"/>
            <a:ext cx="1737360" cy="411480"/>
          </a:xfrm>
          <a:prstGeom prst="rect">
            <a:avLst/>
          </a:prstGeom>
          <a:noFill/>
          <a:ln/>
        </p:spPr>
        <p:txBody>
          <a:bodyPr wrap="square" lIns="0" tIns="0" rIns="0" bIns="0" rtlCol="0" anchor="ctr"/>
          <a:lstStyle/>
          <a:p>
            <a:pPr marL="0" indent="0" algn="ctr">
              <a:buNone/>
            </a:pPr>
            <a:r>
              <a:rPr lang="en-US" sz="2000" b="1" dirty="0">
                <a:solidFill>
                  <a:schemeClr val="tx1"/>
                </a:solidFill>
              </a:rPr>
              <a:t>Received</a:t>
            </a:r>
            <a:endParaRPr lang="en-US" sz="2000" dirty="0"/>
          </a:p>
        </p:txBody>
      </p:sp>
      <p:sp>
        <p:nvSpPr>
          <p:cNvPr id="24" name="Text 13"/>
          <p:cNvSpPr txBox="1"/>
          <p:nvPr/>
        </p:nvSpPr>
        <p:spPr>
          <a:xfrm>
            <a:off x="7543800" y="3703320"/>
            <a:ext cx="1737360" cy="320040"/>
          </a:xfrm>
          <a:prstGeom prst="rect">
            <a:avLst/>
          </a:prstGeom>
          <a:noFill/>
          <a:ln/>
        </p:spPr>
        <p:txBody>
          <a:bodyPr wrap="square" lIns="0" tIns="0" rIns="0" bIns="0" rtlCol="0" anchor="ctr"/>
          <a:lstStyle/>
          <a:p>
            <a:pPr marL="0" indent="0" algn="ctr">
              <a:buNone/>
            </a:pPr>
            <a:r>
              <a:rPr lang="en-US" sz="1300" dirty="0">
                <a:solidFill>
                  <a:schemeClr val="accent5"/>
                </a:solidFill>
                <a:latin typeface="Courier New" pitchFamily="34" charset="0"/>
                <a:ea typeface="Courier New" pitchFamily="34" charset="-122"/>
                <a:cs typeface="Courier New" pitchFamily="34" charset="-120"/>
              </a:rPr>
              <a:t>receiving</a:t>
            </a:r>
            <a:endParaRPr lang="en-US" sz="1300" dirty="0"/>
          </a:p>
        </p:txBody>
      </p:sp>
      <p:sp>
        <p:nvSpPr>
          <p:cNvPr id="25" name="Shape 14"/>
          <p:cNvSpPr/>
          <p:nvPr/>
        </p:nvSpPr>
        <p:spPr>
          <a:xfrm>
            <a:off x="10104120" y="2011680"/>
            <a:ext cx="1097280" cy="1097280"/>
          </a:xfrm>
          <a:prstGeom prst="ellipse">
            <a:avLst/>
          </a:prstGeom>
          <a:solidFill>
            <a:schemeClr val="accent1"/>
          </a:solidFill>
          <a:ln/>
        </p:spPr>
      </p:sp>
      <p:pic>
        <p:nvPicPr>
          <p:cNvPr id="26" name="Image 8" descr="preencoded.png"/>
          <p:cNvPicPr>
            <a:picLocks noChangeAspect="1"/>
          </p:cNvPicPr>
          <p:nvPr/>
        </p:nvPicPr>
        <p:blipFill>
          <a:blip r:embed="rId8"/>
          <a:stretch>
            <a:fillRect/>
          </a:stretch>
        </p:blipFill>
        <p:spPr>
          <a:xfrm>
            <a:off x="10389413" y="2296973"/>
            <a:ext cx="526694" cy="526694"/>
          </a:xfrm>
          <a:prstGeom prst="rect">
            <a:avLst/>
          </a:prstGeom>
        </p:spPr>
      </p:pic>
      <p:sp>
        <p:nvSpPr>
          <p:cNvPr id="27" name="Text 15"/>
          <p:cNvSpPr txBox="1"/>
          <p:nvPr/>
        </p:nvSpPr>
        <p:spPr>
          <a:xfrm>
            <a:off x="9784080" y="3291840"/>
            <a:ext cx="1737360" cy="411480"/>
          </a:xfrm>
          <a:prstGeom prst="rect">
            <a:avLst/>
          </a:prstGeom>
          <a:noFill/>
          <a:ln/>
        </p:spPr>
        <p:txBody>
          <a:bodyPr wrap="square" lIns="0" tIns="0" rIns="0" bIns="0" rtlCol="0" anchor="ctr"/>
          <a:lstStyle/>
          <a:p>
            <a:pPr marL="0" indent="0" algn="ctr">
              <a:buNone/>
            </a:pPr>
            <a:r>
              <a:rPr lang="en-US" sz="2000" b="1" dirty="0">
                <a:solidFill>
                  <a:schemeClr val="tx1"/>
                </a:solidFill>
              </a:rPr>
              <a:t>Sold</a:t>
            </a:r>
            <a:endParaRPr lang="en-US" sz="2000" dirty="0"/>
          </a:p>
        </p:txBody>
      </p:sp>
      <p:sp>
        <p:nvSpPr>
          <p:cNvPr id="28" name="Text 16"/>
          <p:cNvSpPr txBox="1"/>
          <p:nvPr/>
        </p:nvSpPr>
        <p:spPr>
          <a:xfrm>
            <a:off x="9784080" y="3703320"/>
            <a:ext cx="1737360" cy="320040"/>
          </a:xfrm>
          <a:prstGeom prst="rect">
            <a:avLst/>
          </a:prstGeom>
          <a:noFill/>
          <a:ln/>
        </p:spPr>
        <p:txBody>
          <a:bodyPr wrap="square" lIns="0" tIns="0" rIns="0" bIns="0" rtlCol="0" anchor="ctr"/>
          <a:lstStyle/>
          <a:p>
            <a:pPr marL="0" indent="0" algn="ctr">
              <a:buNone/>
            </a:pPr>
            <a:r>
              <a:rPr lang="en-US" sz="1300" dirty="0">
                <a:solidFill>
                  <a:schemeClr val="accent5"/>
                </a:solidFill>
                <a:latin typeface="Courier New" pitchFamily="34" charset="0"/>
                <a:ea typeface="Courier New" pitchFamily="34" charset="-122"/>
                <a:cs typeface="Courier New" pitchFamily="34" charset="-120"/>
              </a:rPr>
              <a:t>retail_selling</a:t>
            </a:r>
            <a:endParaRPr lang="en-US" sz="1300" dirty="0"/>
          </a:p>
        </p:txBody>
      </p:sp>
      <p:sp>
        <p:nvSpPr>
          <p:cNvPr id="29" name="Key message"/>
          <p:cNvSpPr/>
          <p:nvPr/>
        </p:nvSpPr>
        <p:spPr>
          <a:xfrm>
            <a:off x="2194560" y="4709160"/>
            <a:ext cx="7799832" cy="868680"/>
          </a:xfrm>
          <a:prstGeom prst="roundRect">
            <a:avLst>
              <a:gd name="adj" fmla="val 12632"/>
            </a:avLst>
          </a:prstGeom>
          <a:solidFill>
            <a:schemeClr val="bg2"/>
          </a:solidFill>
          <a:ln/>
        </p:spPr>
      </p:sp>
      <p:sp>
        <p:nvSpPr>
          <p:cNvPr id="30" name="Shape 18"/>
          <p:cNvSpPr/>
          <p:nvPr/>
        </p:nvSpPr>
        <p:spPr>
          <a:xfrm>
            <a:off x="2423160" y="4846320"/>
            <a:ext cx="594360" cy="594360"/>
          </a:xfrm>
          <a:prstGeom prst="ellipse">
            <a:avLst/>
          </a:prstGeom>
          <a:solidFill>
            <a:schemeClr val="accent3"/>
          </a:solidFill>
          <a:ln/>
        </p:spPr>
      </p:sp>
      <p:pic>
        <p:nvPicPr>
          <p:cNvPr id="31" name="Image 9" descr="preencoded.png"/>
          <p:cNvPicPr>
            <a:picLocks noChangeAspect="1"/>
          </p:cNvPicPr>
          <p:nvPr/>
        </p:nvPicPr>
        <p:blipFill>
          <a:blip r:embed="rId9"/>
          <a:stretch>
            <a:fillRect/>
          </a:stretch>
        </p:blipFill>
        <p:spPr>
          <a:xfrm>
            <a:off x="2577694" y="5000854"/>
            <a:ext cx="285293" cy="285293"/>
          </a:xfrm>
          <a:prstGeom prst="rect">
            <a:avLst/>
          </a:prstGeom>
        </p:spPr>
      </p:pic>
      <p:sp>
        <p:nvSpPr>
          <p:cNvPr id="32" name="Text 19"/>
          <p:cNvSpPr txBox="1"/>
          <p:nvPr/>
        </p:nvSpPr>
        <p:spPr>
          <a:xfrm>
            <a:off x="3200400" y="4709160"/>
            <a:ext cx="6583680" cy="868680"/>
          </a:xfrm>
          <a:prstGeom prst="rect">
            <a:avLst/>
          </a:prstGeom>
          <a:noFill/>
          <a:ln/>
        </p:spPr>
        <p:txBody>
          <a:bodyPr wrap="square" lIns="0" tIns="0" rIns="0" bIns="0" rtlCol="0" anchor="ctr"/>
          <a:lstStyle/>
          <a:p>
            <a:pPr marL="0" indent="0">
              <a:buNone/>
            </a:pPr>
            <a:r>
              <a:rPr lang="en-US" sz="1800" dirty="0">
                <a:solidFill>
                  <a:schemeClr val="tx1"/>
                </a:solidFill>
              </a:rPr>
              <a:t>Every step is recorded as one EPCIS event. Together they tell the product's story.</a:t>
            </a:r>
            <a:endParaRPr lang="en-US" sz="1800" dirty="0"/>
          </a:p>
        </p:txBody>
      </p:sp>
      <p:sp>
        <p:nvSpPr>
          <p:cNvPr id="4"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THE BASICS</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Five Questions Every Event Answers</a:t>
            </a:r>
            <a:endParaRPr lang="en-US" sz="3600" dirty="0"/>
          </a:p>
        </p:txBody>
      </p:sp>
      <p:sp>
        <p:nvSpPr>
          <p:cNvPr id="5" name="Question What"/>
          <p:cNvSpPr/>
          <p:nvPr/>
        </p:nvSpPr>
        <p:spPr>
          <a:xfrm>
            <a:off x="548640" y="1828800"/>
            <a:ext cx="2057400" cy="3657600"/>
          </a:xfrm>
          <a:prstGeom prst="roundRect">
            <a:avLst>
              <a:gd name="adj" fmla="val 5333"/>
            </a:avLst>
          </a:prstGeom>
          <a:solidFill>
            <a:schemeClr val="bg2"/>
          </a:solidFill>
          <a:ln/>
        </p:spPr>
      </p:sp>
      <p:sp>
        <p:nvSpPr>
          <p:cNvPr id="6" name="Shape 3"/>
          <p:cNvSpPr/>
          <p:nvPr/>
        </p:nvSpPr>
        <p:spPr>
          <a:xfrm>
            <a:off x="1188720" y="2194560"/>
            <a:ext cx="777240" cy="777240"/>
          </a:xfrm>
          <a:prstGeom prst="ellipse">
            <a:avLst/>
          </a:prstGeom>
          <a:solidFill>
            <a:schemeClr val="accent1"/>
          </a:solidFill>
          <a:ln/>
        </p:spPr>
      </p:sp>
      <p:pic>
        <p:nvPicPr>
          <p:cNvPr id="7" name="Image 0" descr="preencoded.png"/>
          <p:cNvPicPr>
            <a:picLocks noChangeAspect="1"/>
          </p:cNvPicPr>
          <p:nvPr/>
        </p:nvPicPr>
        <p:blipFill>
          <a:blip r:embed="rId3"/>
          <a:stretch>
            <a:fillRect/>
          </a:stretch>
        </p:blipFill>
        <p:spPr>
          <a:xfrm>
            <a:off x="1390802" y="2396642"/>
            <a:ext cx="373075" cy="373075"/>
          </a:xfrm>
          <a:prstGeom prst="rect">
            <a:avLst/>
          </a:prstGeom>
        </p:spPr>
      </p:pic>
      <p:sp>
        <p:nvSpPr>
          <p:cNvPr id="8" name="Text 4"/>
          <p:cNvSpPr txBox="1"/>
          <p:nvPr/>
        </p:nvSpPr>
        <p:spPr>
          <a:xfrm>
            <a:off x="548640" y="3154680"/>
            <a:ext cx="2057400" cy="548640"/>
          </a:xfrm>
          <a:prstGeom prst="rect">
            <a:avLst/>
          </a:prstGeom>
          <a:noFill/>
          <a:ln/>
        </p:spPr>
        <p:txBody>
          <a:bodyPr wrap="square" lIns="0" tIns="0" rIns="0" bIns="0" rtlCol="0" anchor="ctr"/>
          <a:lstStyle/>
          <a:p>
            <a:pPr marL="0" indent="0" algn="ctr">
              <a:buNone/>
            </a:pPr>
            <a:r>
              <a:rPr lang="en-US" sz="2800" b="1" dirty="0">
                <a:solidFill>
                  <a:schemeClr val="tx2"/>
                </a:solidFill>
                <a:latin typeface="Cambria" pitchFamily="34" charset="0"/>
                <a:ea typeface="Cambria" pitchFamily="34" charset="-122"/>
                <a:cs typeface="Cambria" pitchFamily="34" charset="-120"/>
              </a:rPr>
              <a:t>What</a:t>
            </a:r>
            <a:endParaRPr lang="en-US" sz="2800" dirty="0"/>
          </a:p>
        </p:txBody>
      </p:sp>
      <p:sp>
        <p:nvSpPr>
          <p:cNvPr id="9" name="Text 5"/>
          <p:cNvSpPr txBox="1"/>
          <p:nvPr/>
        </p:nvSpPr>
        <p:spPr>
          <a:xfrm>
            <a:off x="685800" y="3749040"/>
            <a:ext cx="1783080" cy="640080"/>
          </a:xfrm>
          <a:prstGeom prst="rect">
            <a:avLst/>
          </a:prstGeom>
          <a:noFill/>
          <a:ln/>
        </p:spPr>
        <p:txBody>
          <a:bodyPr wrap="square" lIns="0" tIns="0" rIns="0" bIns="0" rtlCol="0" anchor="t"/>
          <a:lstStyle/>
          <a:p>
            <a:pPr marL="0" indent="0" algn="ctr">
              <a:buNone/>
            </a:pPr>
            <a:r>
              <a:rPr lang="en-US" sz="1600" b="1" dirty="0">
                <a:solidFill>
                  <a:schemeClr val="tx1"/>
                </a:solidFill>
              </a:rPr>
              <a:t>Which product?</a:t>
            </a:r>
            <a:endParaRPr lang="en-US" sz="1600" dirty="0"/>
          </a:p>
        </p:txBody>
      </p:sp>
      <p:sp>
        <p:nvSpPr>
          <p:cNvPr id="10" name="Text 6"/>
          <p:cNvSpPr txBox="1"/>
          <p:nvPr/>
        </p:nvSpPr>
        <p:spPr>
          <a:xfrm>
            <a:off x="685800" y="4526280"/>
            <a:ext cx="1783080" cy="822960"/>
          </a:xfrm>
          <a:prstGeom prst="rect">
            <a:avLst/>
          </a:prstGeom>
          <a:noFill/>
          <a:ln/>
        </p:spPr>
        <p:txBody>
          <a:bodyPr wrap="square" lIns="0" tIns="0" rIns="0" bIns="0" rtlCol="0" anchor="t"/>
          <a:lstStyle/>
          <a:p>
            <a:pPr marL="0" indent="0" algn="ctr">
              <a:buNone/>
            </a:pPr>
            <a:r>
              <a:rPr lang="en-US" sz="1400" dirty="0">
                <a:solidFill>
                  <a:schemeClr val="accent5"/>
                </a:solidFill>
              </a:rPr>
              <a:t>One chocolate bar, by its GS1 ID</a:t>
            </a:r>
            <a:endParaRPr lang="en-US" sz="1400" dirty="0"/>
          </a:p>
        </p:txBody>
      </p:sp>
      <p:sp>
        <p:nvSpPr>
          <p:cNvPr id="11" name="Question When"/>
          <p:cNvSpPr/>
          <p:nvPr/>
        </p:nvSpPr>
        <p:spPr>
          <a:xfrm>
            <a:off x="2800350" y="1828800"/>
            <a:ext cx="2057400" cy="3657600"/>
          </a:xfrm>
          <a:prstGeom prst="roundRect">
            <a:avLst>
              <a:gd name="adj" fmla="val 5333"/>
            </a:avLst>
          </a:prstGeom>
          <a:solidFill>
            <a:schemeClr val="bg2"/>
          </a:solidFill>
          <a:ln/>
        </p:spPr>
      </p:sp>
      <p:sp>
        <p:nvSpPr>
          <p:cNvPr id="12" name="Shape 8"/>
          <p:cNvSpPr/>
          <p:nvPr/>
        </p:nvSpPr>
        <p:spPr>
          <a:xfrm>
            <a:off x="3440430" y="2194560"/>
            <a:ext cx="777240" cy="777240"/>
          </a:xfrm>
          <a:prstGeom prst="ellipse">
            <a:avLst/>
          </a:prstGeom>
          <a:solidFill>
            <a:schemeClr val="accent1"/>
          </a:solidFill>
          <a:ln/>
        </p:spPr>
      </p:sp>
      <p:pic>
        <p:nvPicPr>
          <p:cNvPr id="13" name="Image 1" descr="preencoded.png"/>
          <p:cNvPicPr>
            <a:picLocks noChangeAspect="1"/>
          </p:cNvPicPr>
          <p:nvPr/>
        </p:nvPicPr>
        <p:blipFill>
          <a:blip r:embed="rId4"/>
          <a:stretch>
            <a:fillRect/>
          </a:stretch>
        </p:blipFill>
        <p:spPr>
          <a:xfrm>
            <a:off x="3642512" y="2396642"/>
            <a:ext cx="373075" cy="373075"/>
          </a:xfrm>
          <a:prstGeom prst="rect">
            <a:avLst/>
          </a:prstGeom>
        </p:spPr>
      </p:pic>
      <p:sp>
        <p:nvSpPr>
          <p:cNvPr id="14" name="Text 9"/>
          <p:cNvSpPr txBox="1"/>
          <p:nvPr/>
        </p:nvSpPr>
        <p:spPr>
          <a:xfrm>
            <a:off x="2800350" y="3154680"/>
            <a:ext cx="2057400" cy="548640"/>
          </a:xfrm>
          <a:prstGeom prst="rect">
            <a:avLst/>
          </a:prstGeom>
          <a:noFill/>
          <a:ln/>
        </p:spPr>
        <p:txBody>
          <a:bodyPr wrap="square" lIns="0" tIns="0" rIns="0" bIns="0" rtlCol="0" anchor="ctr"/>
          <a:lstStyle/>
          <a:p>
            <a:pPr marL="0" indent="0" algn="ctr">
              <a:buNone/>
            </a:pPr>
            <a:r>
              <a:rPr lang="en-US" sz="2800" b="1" dirty="0">
                <a:solidFill>
                  <a:schemeClr val="tx2"/>
                </a:solidFill>
                <a:latin typeface="Cambria" pitchFamily="34" charset="0"/>
                <a:ea typeface="Cambria" pitchFamily="34" charset="-122"/>
                <a:cs typeface="Cambria" pitchFamily="34" charset="-120"/>
              </a:rPr>
              <a:t>When</a:t>
            </a:r>
            <a:endParaRPr lang="en-US" sz="2800" dirty="0"/>
          </a:p>
        </p:txBody>
      </p:sp>
      <p:sp>
        <p:nvSpPr>
          <p:cNvPr id="15" name="Text 10"/>
          <p:cNvSpPr txBox="1"/>
          <p:nvPr/>
        </p:nvSpPr>
        <p:spPr>
          <a:xfrm>
            <a:off x="2937510" y="3749040"/>
            <a:ext cx="1783080" cy="640080"/>
          </a:xfrm>
          <a:prstGeom prst="rect">
            <a:avLst/>
          </a:prstGeom>
          <a:noFill/>
          <a:ln/>
        </p:spPr>
        <p:txBody>
          <a:bodyPr wrap="square" lIns="0" tIns="0" rIns="0" bIns="0" rtlCol="0" anchor="t"/>
          <a:lstStyle/>
          <a:p>
            <a:pPr marL="0" indent="0" algn="ctr">
              <a:buNone/>
            </a:pPr>
            <a:r>
              <a:rPr lang="en-US" sz="1600" b="1" dirty="0">
                <a:solidFill>
                  <a:schemeClr val="tx1"/>
                </a:solidFill>
              </a:rPr>
              <a:t>At what time?</a:t>
            </a:r>
            <a:endParaRPr lang="en-US" sz="1600" dirty="0"/>
          </a:p>
        </p:txBody>
      </p:sp>
      <p:sp>
        <p:nvSpPr>
          <p:cNvPr id="16" name="Text 11"/>
          <p:cNvSpPr txBox="1"/>
          <p:nvPr/>
        </p:nvSpPr>
        <p:spPr>
          <a:xfrm>
            <a:off x="2937510" y="4526280"/>
            <a:ext cx="1783080" cy="822960"/>
          </a:xfrm>
          <a:prstGeom prst="rect">
            <a:avLst/>
          </a:prstGeom>
          <a:noFill/>
          <a:ln/>
        </p:spPr>
        <p:txBody>
          <a:bodyPr wrap="square" lIns="0" tIns="0" rIns="0" bIns="0" rtlCol="0" anchor="t"/>
          <a:lstStyle/>
          <a:p>
            <a:pPr marL="0" indent="0" algn="ctr">
              <a:buNone/>
            </a:pPr>
            <a:r>
              <a:rPr lang="en-US" sz="1400" dirty="0">
                <a:solidFill>
                  <a:schemeClr val="accent5"/>
                </a:solidFill>
              </a:rPr>
              <a:t>Date, time and time zone</a:t>
            </a:r>
            <a:endParaRPr lang="en-US" sz="1400" dirty="0"/>
          </a:p>
        </p:txBody>
      </p:sp>
      <p:sp>
        <p:nvSpPr>
          <p:cNvPr id="17" name="Question Where"/>
          <p:cNvSpPr/>
          <p:nvPr/>
        </p:nvSpPr>
        <p:spPr>
          <a:xfrm>
            <a:off x="5052060" y="1828800"/>
            <a:ext cx="2057400" cy="3657600"/>
          </a:xfrm>
          <a:prstGeom prst="roundRect">
            <a:avLst>
              <a:gd name="adj" fmla="val 5333"/>
            </a:avLst>
          </a:prstGeom>
          <a:solidFill>
            <a:schemeClr val="bg2"/>
          </a:solidFill>
          <a:ln/>
        </p:spPr>
      </p:sp>
      <p:sp>
        <p:nvSpPr>
          <p:cNvPr id="18" name="Shape 13"/>
          <p:cNvSpPr/>
          <p:nvPr/>
        </p:nvSpPr>
        <p:spPr>
          <a:xfrm>
            <a:off x="5692140" y="2194560"/>
            <a:ext cx="777240" cy="777240"/>
          </a:xfrm>
          <a:prstGeom prst="ellipse">
            <a:avLst/>
          </a:prstGeom>
          <a:solidFill>
            <a:schemeClr val="accent1"/>
          </a:solidFill>
          <a:ln/>
        </p:spPr>
      </p:sp>
      <p:pic>
        <p:nvPicPr>
          <p:cNvPr id="19" name="Image 2" descr="preencoded.png"/>
          <p:cNvPicPr>
            <a:picLocks noChangeAspect="1"/>
          </p:cNvPicPr>
          <p:nvPr/>
        </p:nvPicPr>
        <p:blipFill>
          <a:blip r:embed="rId5"/>
          <a:stretch>
            <a:fillRect/>
          </a:stretch>
        </p:blipFill>
        <p:spPr>
          <a:xfrm>
            <a:off x="5894222" y="2396642"/>
            <a:ext cx="373075" cy="373075"/>
          </a:xfrm>
          <a:prstGeom prst="rect">
            <a:avLst/>
          </a:prstGeom>
        </p:spPr>
      </p:pic>
      <p:sp>
        <p:nvSpPr>
          <p:cNvPr id="20" name="Text 14"/>
          <p:cNvSpPr txBox="1"/>
          <p:nvPr/>
        </p:nvSpPr>
        <p:spPr>
          <a:xfrm>
            <a:off x="5052060" y="3154680"/>
            <a:ext cx="2057400" cy="548640"/>
          </a:xfrm>
          <a:prstGeom prst="rect">
            <a:avLst/>
          </a:prstGeom>
          <a:noFill/>
          <a:ln/>
        </p:spPr>
        <p:txBody>
          <a:bodyPr wrap="square" lIns="0" tIns="0" rIns="0" bIns="0" rtlCol="0" anchor="ctr"/>
          <a:lstStyle/>
          <a:p>
            <a:pPr marL="0" indent="0" algn="ctr">
              <a:buNone/>
            </a:pPr>
            <a:r>
              <a:rPr lang="en-US" sz="2800" b="1" dirty="0">
                <a:solidFill>
                  <a:schemeClr val="tx2"/>
                </a:solidFill>
                <a:latin typeface="Cambria" pitchFamily="34" charset="0"/>
                <a:ea typeface="Cambria" pitchFamily="34" charset="-122"/>
                <a:cs typeface="Cambria" pitchFamily="34" charset="-120"/>
              </a:rPr>
              <a:t>Where</a:t>
            </a:r>
            <a:endParaRPr lang="en-US" sz="2800" dirty="0"/>
          </a:p>
        </p:txBody>
      </p:sp>
      <p:sp>
        <p:nvSpPr>
          <p:cNvPr id="21" name="Text 15"/>
          <p:cNvSpPr txBox="1"/>
          <p:nvPr/>
        </p:nvSpPr>
        <p:spPr>
          <a:xfrm>
            <a:off x="5189220" y="3749040"/>
            <a:ext cx="1783080" cy="640080"/>
          </a:xfrm>
          <a:prstGeom prst="rect">
            <a:avLst/>
          </a:prstGeom>
          <a:noFill/>
          <a:ln/>
        </p:spPr>
        <p:txBody>
          <a:bodyPr wrap="square" lIns="0" tIns="0" rIns="0" bIns="0" rtlCol="0" anchor="t"/>
          <a:lstStyle/>
          <a:p>
            <a:pPr marL="0" indent="0" algn="ctr">
              <a:buNone/>
            </a:pPr>
            <a:r>
              <a:rPr lang="en-US" sz="1600" b="1" dirty="0">
                <a:solidFill>
                  <a:schemeClr val="tx1"/>
                </a:solidFill>
              </a:rPr>
              <a:t>At which place?</a:t>
            </a:r>
            <a:endParaRPr lang="en-US" sz="1600" dirty="0"/>
          </a:p>
        </p:txBody>
      </p:sp>
      <p:sp>
        <p:nvSpPr>
          <p:cNvPr id="22" name="Text 16"/>
          <p:cNvSpPr txBox="1"/>
          <p:nvPr/>
        </p:nvSpPr>
        <p:spPr>
          <a:xfrm>
            <a:off x="5189220" y="4526280"/>
            <a:ext cx="1783080" cy="822960"/>
          </a:xfrm>
          <a:prstGeom prst="rect">
            <a:avLst/>
          </a:prstGeom>
          <a:noFill/>
          <a:ln/>
        </p:spPr>
        <p:txBody>
          <a:bodyPr wrap="square" lIns="0" tIns="0" rIns="0" bIns="0" rtlCol="0" anchor="t"/>
          <a:lstStyle/>
          <a:p>
            <a:pPr marL="0" indent="0" algn="ctr">
              <a:buNone/>
            </a:pPr>
            <a:r>
              <a:rPr lang="en-US" sz="1400" dirty="0">
                <a:solidFill>
                  <a:schemeClr val="accent5"/>
                </a:solidFill>
              </a:rPr>
              <a:t>The packing station, by its GLN</a:t>
            </a:r>
            <a:endParaRPr lang="en-US" sz="1400" dirty="0"/>
          </a:p>
        </p:txBody>
      </p:sp>
      <p:sp>
        <p:nvSpPr>
          <p:cNvPr id="23" name="Question Why"/>
          <p:cNvSpPr/>
          <p:nvPr/>
        </p:nvSpPr>
        <p:spPr>
          <a:xfrm>
            <a:off x="7303770" y="1828800"/>
            <a:ext cx="2057400" cy="3657600"/>
          </a:xfrm>
          <a:prstGeom prst="roundRect">
            <a:avLst>
              <a:gd name="adj" fmla="val 5333"/>
            </a:avLst>
          </a:prstGeom>
          <a:solidFill>
            <a:schemeClr val="bg2"/>
          </a:solidFill>
          <a:ln/>
        </p:spPr>
      </p:sp>
      <p:sp>
        <p:nvSpPr>
          <p:cNvPr id="24" name="Shape 18"/>
          <p:cNvSpPr/>
          <p:nvPr/>
        </p:nvSpPr>
        <p:spPr>
          <a:xfrm>
            <a:off x="7943850" y="2194560"/>
            <a:ext cx="777240" cy="777240"/>
          </a:xfrm>
          <a:prstGeom prst="ellipse">
            <a:avLst/>
          </a:prstGeom>
          <a:solidFill>
            <a:schemeClr val="accent1"/>
          </a:solidFill>
          <a:ln/>
        </p:spPr>
      </p:sp>
      <p:pic>
        <p:nvPicPr>
          <p:cNvPr id="25" name="Image 3" descr="preencoded.png"/>
          <p:cNvPicPr>
            <a:picLocks noChangeAspect="1"/>
          </p:cNvPicPr>
          <p:nvPr/>
        </p:nvPicPr>
        <p:blipFill>
          <a:blip r:embed="rId6"/>
          <a:stretch>
            <a:fillRect/>
          </a:stretch>
        </p:blipFill>
        <p:spPr>
          <a:xfrm>
            <a:off x="8145932" y="2396642"/>
            <a:ext cx="373075" cy="373075"/>
          </a:xfrm>
          <a:prstGeom prst="rect">
            <a:avLst/>
          </a:prstGeom>
        </p:spPr>
      </p:pic>
      <p:sp>
        <p:nvSpPr>
          <p:cNvPr id="26" name="Text 19"/>
          <p:cNvSpPr txBox="1"/>
          <p:nvPr/>
        </p:nvSpPr>
        <p:spPr>
          <a:xfrm>
            <a:off x="7303770" y="3154680"/>
            <a:ext cx="2057400" cy="548640"/>
          </a:xfrm>
          <a:prstGeom prst="rect">
            <a:avLst/>
          </a:prstGeom>
          <a:noFill/>
          <a:ln/>
        </p:spPr>
        <p:txBody>
          <a:bodyPr wrap="square" lIns="0" tIns="0" rIns="0" bIns="0" rtlCol="0" anchor="ctr"/>
          <a:lstStyle/>
          <a:p>
            <a:pPr marL="0" indent="0" algn="ctr">
              <a:buNone/>
            </a:pPr>
            <a:r>
              <a:rPr lang="en-US" sz="2800" b="1" dirty="0">
                <a:solidFill>
                  <a:schemeClr val="tx2"/>
                </a:solidFill>
                <a:latin typeface="Cambria" pitchFamily="34" charset="0"/>
                <a:ea typeface="Cambria" pitchFamily="34" charset="-122"/>
                <a:cs typeface="Cambria" pitchFamily="34" charset="-120"/>
              </a:rPr>
              <a:t>Why</a:t>
            </a:r>
            <a:endParaRPr lang="en-US" sz="2800" dirty="0"/>
          </a:p>
        </p:txBody>
      </p:sp>
      <p:sp>
        <p:nvSpPr>
          <p:cNvPr id="27" name="Text 20"/>
          <p:cNvSpPr txBox="1"/>
          <p:nvPr/>
        </p:nvSpPr>
        <p:spPr>
          <a:xfrm>
            <a:off x="7440930" y="3749040"/>
            <a:ext cx="1783080" cy="640080"/>
          </a:xfrm>
          <a:prstGeom prst="rect">
            <a:avLst/>
          </a:prstGeom>
          <a:noFill/>
          <a:ln/>
        </p:spPr>
        <p:txBody>
          <a:bodyPr wrap="square" lIns="0" tIns="0" rIns="0" bIns="0" rtlCol="0" anchor="t"/>
          <a:lstStyle/>
          <a:p>
            <a:pPr marL="0" indent="0" algn="ctr">
              <a:buNone/>
            </a:pPr>
            <a:r>
              <a:rPr lang="en-US" sz="1600" b="1" dirty="0">
                <a:solidFill>
                  <a:schemeClr val="tx1"/>
                </a:solidFill>
              </a:rPr>
              <a:t>For what reason?</a:t>
            </a:r>
            <a:endParaRPr lang="en-US" sz="1600" dirty="0"/>
          </a:p>
        </p:txBody>
      </p:sp>
      <p:sp>
        <p:nvSpPr>
          <p:cNvPr id="28" name="Text 21"/>
          <p:cNvSpPr txBox="1"/>
          <p:nvPr/>
        </p:nvSpPr>
        <p:spPr>
          <a:xfrm>
            <a:off x="7440930" y="4526280"/>
            <a:ext cx="1783080" cy="822960"/>
          </a:xfrm>
          <a:prstGeom prst="rect">
            <a:avLst/>
          </a:prstGeom>
          <a:noFill/>
          <a:ln/>
        </p:spPr>
        <p:txBody>
          <a:bodyPr wrap="square" lIns="0" tIns="0" rIns="0" bIns="0" rtlCol="0" anchor="t"/>
          <a:lstStyle/>
          <a:p>
            <a:pPr marL="0" indent="0" algn="ctr">
              <a:buNone/>
            </a:pPr>
            <a:r>
              <a:rPr lang="en-US" sz="1400" dirty="0">
                <a:solidFill>
                  <a:schemeClr val="accent5"/>
                </a:solidFill>
              </a:rPr>
              <a:t>Business step: shipping</a:t>
            </a:r>
            <a:endParaRPr lang="en-US" sz="1400" dirty="0"/>
          </a:p>
        </p:txBody>
      </p:sp>
      <p:sp>
        <p:nvSpPr>
          <p:cNvPr id="29" name="Question How"/>
          <p:cNvSpPr/>
          <p:nvPr/>
        </p:nvSpPr>
        <p:spPr>
          <a:xfrm>
            <a:off x="9555480" y="1828800"/>
            <a:ext cx="2057400" cy="3657600"/>
          </a:xfrm>
          <a:prstGeom prst="roundRect">
            <a:avLst>
              <a:gd name="adj" fmla="val 5333"/>
            </a:avLst>
          </a:prstGeom>
          <a:solidFill>
            <a:schemeClr val="bg2"/>
          </a:solidFill>
          <a:ln/>
        </p:spPr>
      </p:sp>
      <p:sp>
        <p:nvSpPr>
          <p:cNvPr id="30" name="Shape 23"/>
          <p:cNvSpPr/>
          <p:nvPr/>
        </p:nvSpPr>
        <p:spPr>
          <a:xfrm>
            <a:off x="10195560" y="2194560"/>
            <a:ext cx="777240" cy="777240"/>
          </a:xfrm>
          <a:prstGeom prst="ellipse">
            <a:avLst/>
          </a:prstGeom>
          <a:solidFill>
            <a:schemeClr val="accent1"/>
          </a:solidFill>
          <a:ln/>
        </p:spPr>
      </p:sp>
      <p:pic>
        <p:nvPicPr>
          <p:cNvPr id="31" name="Image 4" descr="preencoded.png"/>
          <p:cNvPicPr>
            <a:picLocks noChangeAspect="1"/>
          </p:cNvPicPr>
          <p:nvPr/>
        </p:nvPicPr>
        <p:blipFill>
          <a:blip r:embed="rId7"/>
          <a:stretch>
            <a:fillRect/>
          </a:stretch>
        </p:blipFill>
        <p:spPr>
          <a:xfrm>
            <a:off x="10397642" y="2396642"/>
            <a:ext cx="373075" cy="373075"/>
          </a:xfrm>
          <a:prstGeom prst="rect">
            <a:avLst/>
          </a:prstGeom>
        </p:spPr>
      </p:pic>
      <p:sp>
        <p:nvSpPr>
          <p:cNvPr id="32" name="Text 24"/>
          <p:cNvSpPr txBox="1"/>
          <p:nvPr/>
        </p:nvSpPr>
        <p:spPr>
          <a:xfrm>
            <a:off x="9555480" y="3154680"/>
            <a:ext cx="2057400" cy="548640"/>
          </a:xfrm>
          <a:prstGeom prst="rect">
            <a:avLst/>
          </a:prstGeom>
          <a:noFill/>
          <a:ln/>
        </p:spPr>
        <p:txBody>
          <a:bodyPr wrap="square" lIns="0" tIns="0" rIns="0" bIns="0" rtlCol="0" anchor="ctr"/>
          <a:lstStyle/>
          <a:p>
            <a:pPr marL="0" indent="0" algn="ctr">
              <a:buNone/>
            </a:pPr>
            <a:r>
              <a:rPr lang="en-US" sz="2800" b="1" dirty="0">
                <a:solidFill>
                  <a:schemeClr val="tx2"/>
                </a:solidFill>
                <a:latin typeface="Cambria" pitchFamily="34" charset="0"/>
                <a:ea typeface="Cambria" pitchFamily="34" charset="-122"/>
                <a:cs typeface="Cambria" pitchFamily="34" charset="-120"/>
              </a:rPr>
              <a:t>How</a:t>
            </a:r>
            <a:endParaRPr lang="en-US" sz="2800" dirty="0"/>
          </a:p>
        </p:txBody>
      </p:sp>
      <p:sp>
        <p:nvSpPr>
          <p:cNvPr id="33" name="Text 25"/>
          <p:cNvSpPr txBox="1"/>
          <p:nvPr/>
        </p:nvSpPr>
        <p:spPr>
          <a:xfrm>
            <a:off x="9692640" y="3749040"/>
            <a:ext cx="1783080" cy="640080"/>
          </a:xfrm>
          <a:prstGeom prst="rect">
            <a:avLst/>
          </a:prstGeom>
          <a:noFill/>
          <a:ln/>
        </p:spPr>
        <p:txBody>
          <a:bodyPr wrap="square" lIns="0" tIns="0" rIns="0" bIns="0" rtlCol="0" anchor="t"/>
          <a:lstStyle/>
          <a:p>
            <a:pPr marL="0" indent="0" algn="ctr">
              <a:buNone/>
            </a:pPr>
            <a:r>
              <a:rPr lang="en-US" sz="1600" b="1" dirty="0">
                <a:solidFill>
                  <a:schemeClr val="tx1"/>
                </a:solidFill>
              </a:rPr>
              <a:t>Under which conditions?</a:t>
            </a:r>
            <a:endParaRPr lang="en-US" sz="1600" dirty="0"/>
          </a:p>
        </p:txBody>
      </p:sp>
      <p:sp>
        <p:nvSpPr>
          <p:cNvPr id="34" name="Text 26"/>
          <p:cNvSpPr txBox="1"/>
          <p:nvPr/>
        </p:nvSpPr>
        <p:spPr>
          <a:xfrm>
            <a:off x="9692640" y="4526280"/>
            <a:ext cx="1783080" cy="822960"/>
          </a:xfrm>
          <a:prstGeom prst="rect">
            <a:avLst/>
          </a:prstGeom>
          <a:noFill/>
          <a:ln/>
        </p:spPr>
        <p:txBody>
          <a:bodyPr wrap="square" lIns="0" tIns="0" rIns="0" bIns="0" rtlCol="0" anchor="t"/>
          <a:lstStyle/>
          <a:p>
            <a:pPr marL="0" indent="0" algn="ctr">
              <a:buNone/>
            </a:pPr>
            <a:r>
              <a:rPr lang="en-US" sz="1400" dirty="0">
                <a:solidFill>
                  <a:schemeClr val="accent5"/>
                </a:solidFill>
              </a:rPr>
              <a:t>Sensor data, new in 2.0</a:t>
            </a:r>
            <a:endParaRPr lang="en-US" sz="1400" dirty="0"/>
          </a:p>
        </p:txBody>
      </p:sp>
      <p:sp>
        <p:nvSpPr>
          <p:cNvPr id="4"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THE STANDARDS</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Where EPCIS Fits in GS1</a:t>
            </a:r>
            <a:endParaRPr lang="en-US" sz="3600" dirty="0"/>
          </a:p>
        </p:txBody>
      </p:sp>
      <p:sp>
        <p:nvSpPr>
          <p:cNvPr id="5" name="Identify"/>
          <p:cNvSpPr/>
          <p:nvPr/>
        </p:nvSpPr>
        <p:spPr>
          <a:xfrm>
            <a:off x="548640" y="1783080"/>
            <a:ext cx="3429000" cy="3520440"/>
          </a:xfrm>
          <a:prstGeom prst="roundRect">
            <a:avLst>
              <a:gd name="adj" fmla="val 3200"/>
            </a:avLst>
          </a:prstGeom>
          <a:solidFill>
            <a:schemeClr val="bg2"/>
          </a:solidFill>
          <a:ln/>
        </p:spPr>
      </p:sp>
      <p:sp>
        <p:nvSpPr>
          <p:cNvPr id="6" name="Shape 3"/>
          <p:cNvSpPr/>
          <p:nvPr/>
        </p:nvSpPr>
        <p:spPr>
          <a:xfrm>
            <a:off x="960120" y="2194560"/>
            <a:ext cx="731520" cy="731520"/>
          </a:xfrm>
          <a:prstGeom prst="ellipse">
            <a:avLst/>
          </a:prstGeom>
          <a:solidFill>
            <a:srgbClr val="0B4A86"/>
          </a:solidFill>
          <a:ln/>
        </p:spPr>
      </p:sp>
      <p:pic>
        <p:nvPicPr>
          <p:cNvPr id="7" name="Image 0" descr="preencoded.png"/>
          <p:cNvPicPr>
            <a:picLocks noChangeAspect="1"/>
          </p:cNvPicPr>
          <p:nvPr/>
        </p:nvPicPr>
        <p:blipFill>
          <a:blip r:embed="rId3"/>
          <a:stretch>
            <a:fillRect/>
          </a:stretch>
        </p:blipFill>
        <p:spPr>
          <a:xfrm>
            <a:off x="1150315" y="2384755"/>
            <a:ext cx="351130" cy="351130"/>
          </a:xfrm>
          <a:prstGeom prst="rect">
            <a:avLst/>
          </a:prstGeom>
        </p:spPr>
      </p:pic>
      <p:sp>
        <p:nvSpPr>
          <p:cNvPr id="8" name="Text 4"/>
          <p:cNvSpPr txBox="1"/>
          <p:nvPr/>
        </p:nvSpPr>
        <p:spPr>
          <a:xfrm>
            <a:off x="1874520" y="2194560"/>
            <a:ext cx="1828800" cy="731520"/>
          </a:xfrm>
          <a:prstGeom prst="rect">
            <a:avLst/>
          </a:prstGeom>
          <a:noFill/>
          <a:ln/>
        </p:spPr>
        <p:txBody>
          <a:bodyPr wrap="square" lIns="0" tIns="0" rIns="0" bIns="0" rtlCol="0" anchor="ctr"/>
          <a:lstStyle/>
          <a:p>
            <a:pPr marL="0" indent="0">
              <a:buNone/>
            </a:pPr>
            <a:r>
              <a:rPr lang="en-US" sz="2400" b="1" dirty="0">
                <a:solidFill>
                  <a:schemeClr val="tx2"/>
                </a:solidFill>
                <a:latin typeface="Cambria" pitchFamily="34" charset="0"/>
                <a:ea typeface="Cambria" pitchFamily="34" charset="-122"/>
                <a:cs typeface="Cambria" pitchFamily="34" charset="-120"/>
              </a:rPr>
              <a:t>Identify</a:t>
            </a:r>
            <a:endParaRPr lang="en-US" sz="2400" dirty="0"/>
          </a:p>
        </p:txBody>
      </p:sp>
      <p:sp>
        <p:nvSpPr>
          <p:cNvPr id="9" name="Text 5"/>
          <p:cNvSpPr txBox="1"/>
          <p:nvPr/>
        </p:nvSpPr>
        <p:spPr>
          <a:xfrm>
            <a:off x="960120" y="3246120"/>
            <a:ext cx="2697480" cy="17373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GTIN: products</a:t>
            </a:r>
            <a:endParaRPr lang="en-US" sz="1700" dirty="0"/>
          </a:p>
          <a:p>
            <a:pPr marL="342900" indent="-342900">
              <a:spcAft>
                <a:spcPts val="800"/>
              </a:spcAft>
              <a:buSzPct val="100000"/>
              <a:buChar char="•"/>
            </a:pPr>
            <a:r>
              <a:rPr lang="en-US" sz="1700" dirty="0">
                <a:solidFill>
                  <a:schemeClr val="tx1"/>
                </a:solidFill>
              </a:rPr>
              <a:t>GLN: locations</a:t>
            </a:r>
            <a:endParaRPr lang="en-US" sz="1700" dirty="0"/>
          </a:p>
          <a:p>
            <a:pPr marL="342900" indent="-342900">
              <a:spcAft>
                <a:spcPts val="800"/>
              </a:spcAft>
              <a:buSzPct val="100000"/>
              <a:buChar char="•"/>
            </a:pPr>
            <a:r>
              <a:rPr lang="en-US" sz="1700" dirty="0">
                <a:solidFill>
                  <a:schemeClr val="tx1"/>
                </a:solidFill>
              </a:rPr>
              <a:t>SSCC: pallets</a:t>
            </a:r>
            <a:endParaRPr lang="en-US" sz="1700" dirty="0"/>
          </a:p>
        </p:txBody>
      </p:sp>
      <p:sp>
        <p:nvSpPr>
          <p:cNvPr id="10" name="Capture"/>
          <p:cNvSpPr/>
          <p:nvPr/>
        </p:nvSpPr>
        <p:spPr>
          <a:xfrm>
            <a:off x="4366260" y="1783080"/>
            <a:ext cx="3429000" cy="3520440"/>
          </a:xfrm>
          <a:prstGeom prst="roundRect">
            <a:avLst>
              <a:gd name="adj" fmla="val 3200"/>
            </a:avLst>
          </a:prstGeom>
          <a:solidFill>
            <a:schemeClr val="bg2"/>
          </a:solidFill>
          <a:ln/>
        </p:spPr>
      </p:sp>
      <p:sp>
        <p:nvSpPr>
          <p:cNvPr id="11" name="Shape 7"/>
          <p:cNvSpPr/>
          <p:nvPr/>
        </p:nvSpPr>
        <p:spPr>
          <a:xfrm>
            <a:off x="4777740" y="2194560"/>
            <a:ext cx="731520" cy="731520"/>
          </a:xfrm>
          <a:prstGeom prst="ellipse">
            <a:avLst/>
          </a:prstGeom>
          <a:solidFill>
            <a:srgbClr val="0B4A86"/>
          </a:solidFill>
          <a:ln/>
        </p:spPr>
      </p:sp>
      <p:pic>
        <p:nvPicPr>
          <p:cNvPr id="12" name="Image 1" descr="preencoded.png"/>
          <p:cNvPicPr>
            <a:picLocks noChangeAspect="1"/>
          </p:cNvPicPr>
          <p:nvPr/>
        </p:nvPicPr>
        <p:blipFill>
          <a:blip r:embed="rId4"/>
          <a:stretch>
            <a:fillRect/>
          </a:stretch>
        </p:blipFill>
        <p:spPr>
          <a:xfrm>
            <a:off x="4967935" y="2384755"/>
            <a:ext cx="351130" cy="351130"/>
          </a:xfrm>
          <a:prstGeom prst="rect">
            <a:avLst/>
          </a:prstGeom>
        </p:spPr>
      </p:pic>
      <p:sp>
        <p:nvSpPr>
          <p:cNvPr id="13" name="Text 8"/>
          <p:cNvSpPr txBox="1"/>
          <p:nvPr/>
        </p:nvSpPr>
        <p:spPr>
          <a:xfrm>
            <a:off x="5692140" y="2194560"/>
            <a:ext cx="1828800" cy="731520"/>
          </a:xfrm>
          <a:prstGeom prst="rect">
            <a:avLst/>
          </a:prstGeom>
          <a:noFill/>
          <a:ln/>
        </p:spPr>
        <p:txBody>
          <a:bodyPr wrap="square" lIns="0" tIns="0" rIns="0" bIns="0" rtlCol="0" anchor="ctr"/>
          <a:lstStyle/>
          <a:p>
            <a:pPr marL="0" indent="0">
              <a:buNone/>
            </a:pPr>
            <a:r>
              <a:rPr lang="en-US" sz="2400" b="1" dirty="0">
                <a:solidFill>
                  <a:schemeClr val="tx2"/>
                </a:solidFill>
                <a:latin typeface="Cambria" pitchFamily="34" charset="0"/>
                <a:ea typeface="Cambria" pitchFamily="34" charset="-122"/>
                <a:cs typeface="Cambria" pitchFamily="34" charset="-120"/>
              </a:rPr>
              <a:t>Capture</a:t>
            </a:r>
            <a:endParaRPr lang="en-US" sz="2400" dirty="0"/>
          </a:p>
        </p:txBody>
      </p:sp>
      <p:sp>
        <p:nvSpPr>
          <p:cNvPr id="14" name="Text 9"/>
          <p:cNvSpPr txBox="1"/>
          <p:nvPr/>
        </p:nvSpPr>
        <p:spPr>
          <a:xfrm>
            <a:off x="4777740" y="3246120"/>
            <a:ext cx="2697480" cy="17373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Barcodes</a:t>
            </a:r>
            <a:endParaRPr lang="en-US" sz="1700" dirty="0"/>
          </a:p>
          <a:p>
            <a:pPr marL="342900" indent="-342900">
              <a:spcAft>
                <a:spcPts val="800"/>
              </a:spcAft>
              <a:buSzPct val="100000"/>
              <a:buChar char="•"/>
            </a:pPr>
            <a:r>
              <a:rPr lang="en-US" sz="1700" dirty="0">
                <a:solidFill>
                  <a:schemeClr val="tx1"/>
                </a:solidFill>
              </a:rPr>
              <a:t>2D codes</a:t>
            </a:r>
            <a:endParaRPr lang="en-US" sz="1700" dirty="0"/>
          </a:p>
          <a:p>
            <a:pPr marL="342900" indent="-342900">
              <a:spcAft>
                <a:spcPts val="800"/>
              </a:spcAft>
              <a:buSzPct val="100000"/>
              <a:buChar char="•"/>
            </a:pPr>
            <a:r>
              <a:rPr lang="en-US" sz="1700" dirty="0">
                <a:solidFill>
                  <a:schemeClr val="tx1"/>
                </a:solidFill>
              </a:rPr>
              <a:t>RFID tags</a:t>
            </a:r>
            <a:endParaRPr lang="en-US" sz="1700" dirty="0"/>
          </a:p>
        </p:txBody>
      </p:sp>
      <p:sp>
        <p:nvSpPr>
          <p:cNvPr id="15" name="Share"/>
          <p:cNvSpPr/>
          <p:nvPr/>
        </p:nvSpPr>
        <p:spPr>
          <a:xfrm>
            <a:off x="8183880" y="1783080"/>
            <a:ext cx="3429000" cy="3520440"/>
          </a:xfrm>
          <a:prstGeom prst="roundRect">
            <a:avLst>
              <a:gd name="adj" fmla="val 3200"/>
            </a:avLst>
          </a:prstGeom>
          <a:solidFill>
            <a:schemeClr val="accent1"/>
          </a:solidFill>
          <a:ln/>
        </p:spPr>
      </p:sp>
      <p:sp>
        <p:nvSpPr>
          <p:cNvPr id="16" name="Shape 11"/>
          <p:cNvSpPr/>
          <p:nvPr/>
        </p:nvSpPr>
        <p:spPr>
          <a:xfrm>
            <a:off x="8595360" y="2194560"/>
            <a:ext cx="731520" cy="731520"/>
          </a:xfrm>
          <a:prstGeom prst="ellipse">
            <a:avLst/>
          </a:prstGeom>
          <a:solidFill>
            <a:srgbClr val="FFFFFF"/>
          </a:solidFill>
          <a:ln/>
        </p:spPr>
      </p:sp>
      <p:pic>
        <p:nvPicPr>
          <p:cNvPr id="17" name="Image 2" descr="preencoded.png"/>
          <p:cNvPicPr>
            <a:picLocks noChangeAspect="1"/>
          </p:cNvPicPr>
          <p:nvPr/>
        </p:nvPicPr>
        <p:blipFill>
          <a:blip r:embed="rId5"/>
          <a:stretch>
            <a:fillRect/>
          </a:stretch>
        </p:blipFill>
        <p:spPr>
          <a:xfrm>
            <a:off x="8785555" y="2384755"/>
            <a:ext cx="351130" cy="351130"/>
          </a:xfrm>
          <a:prstGeom prst="rect">
            <a:avLst/>
          </a:prstGeom>
        </p:spPr>
      </p:pic>
      <p:sp>
        <p:nvSpPr>
          <p:cNvPr id="18" name="Text 12"/>
          <p:cNvSpPr txBox="1"/>
          <p:nvPr/>
        </p:nvSpPr>
        <p:spPr>
          <a:xfrm>
            <a:off x="9509760" y="2194560"/>
            <a:ext cx="1828800" cy="731520"/>
          </a:xfrm>
          <a:prstGeom prst="rect">
            <a:avLst/>
          </a:prstGeom>
          <a:noFill/>
          <a:ln/>
        </p:spPr>
        <p:txBody>
          <a:bodyPr wrap="square" lIns="0" tIns="0" rIns="0" bIns="0" rtlCol="0" anchor="ctr"/>
          <a:lstStyle/>
          <a:p>
            <a:pPr marL="0" indent="0">
              <a:buNone/>
            </a:pPr>
            <a:r>
              <a:rPr lang="en-US" sz="2400" b="1" dirty="0">
                <a:solidFill>
                  <a:schemeClr val="bg1"/>
                </a:solidFill>
                <a:latin typeface="Cambria" pitchFamily="34" charset="0"/>
                <a:ea typeface="Cambria" pitchFamily="34" charset="-122"/>
                <a:cs typeface="Cambria" pitchFamily="34" charset="-120"/>
              </a:rPr>
              <a:t>Share</a:t>
            </a:r>
            <a:endParaRPr lang="en-US" sz="2400" dirty="0"/>
          </a:p>
        </p:txBody>
      </p:sp>
      <p:sp>
        <p:nvSpPr>
          <p:cNvPr id="19" name="Text 13"/>
          <p:cNvSpPr txBox="1"/>
          <p:nvPr/>
        </p:nvSpPr>
        <p:spPr>
          <a:xfrm>
            <a:off x="8595360" y="3246120"/>
            <a:ext cx="2697480" cy="17373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bg1"/>
                </a:solidFill>
              </a:rPr>
              <a:t>EPCIS: how events are shared</a:t>
            </a:r>
            <a:endParaRPr lang="en-US" sz="1700" dirty="0"/>
          </a:p>
          <a:p>
            <a:pPr marL="342900" indent="-342900">
              <a:spcAft>
                <a:spcPts val="800"/>
              </a:spcAft>
              <a:buSzPct val="100000"/>
              <a:buChar char="•"/>
            </a:pPr>
            <a:r>
              <a:rPr lang="en-US" sz="1700" dirty="0">
                <a:solidFill>
                  <a:schemeClr val="bg1"/>
                </a:solidFill>
              </a:rPr>
              <a:t>CBV: the shared words</a:t>
            </a:r>
            <a:endParaRPr lang="en-US" sz="1700" dirty="0"/>
          </a:p>
        </p:txBody>
      </p:sp>
      <p:sp>
        <p:nvSpPr>
          <p:cNvPr id="20" name="Text 14"/>
          <p:cNvSpPr txBox="1"/>
          <p:nvPr/>
        </p:nvSpPr>
        <p:spPr>
          <a:xfrm>
            <a:off x="548640" y="5532120"/>
            <a:ext cx="11064240" cy="365760"/>
          </a:xfrm>
          <a:prstGeom prst="rect">
            <a:avLst/>
          </a:prstGeom>
          <a:noFill/>
          <a:ln/>
        </p:spPr>
        <p:txBody>
          <a:bodyPr wrap="square" lIns="0" tIns="0" rIns="0" bIns="0" rtlCol="0" anchor="ctr"/>
          <a:lstStyle/>
          <a:p>
            <a:pPr marL="0" indent="0">
              <a:buNone/>
            </a:pPr>
            <a:r>
              <a:rPr lang="en-US" sz="1400" dirty="0">
                <a:solidFill>
                  <a:schemeClr val="accent5"/>
                </a:solidFill>
              </a:rPr>
              <a:t>Official standards:  </a:t>
            </a:r>
            <a:r>
              <a:rPr lang="en-US" sz="1400" u="sng" dirty="0">
                <a:solidFill>
                  <a:schemeClr val="accent2"/>
                </a:solidFill>
                <a:hlinkClick r:id="rId6" tooltip="https://ref.gs1.org/standards/epcis/">
                  <a:extLst>
                    <a:ext uri="{A12FA001-AC4F-418D-AE19-62706E023703}">
                      <ahyp:hlinkClr xmlns:ahyp="http://schemas.microsoft.com/office/drawing/2018/hyperlinkcolor" val="tx"/>
                    </a:ext>
                  </a:extLst>
                </a:hlinkClick>
              </a:rPr>
              <a:t>GS1 EPCIS</a:t>
            </a:r>
            <a:r>
              <a:rPr lang="en-US" sz="1400" dirty="0">
                <a:solidFill>
                  <a:schemeClr val="accent6"/>
                </a:solidFill>
              </a:rPr>
              <a:t>   |   </a:t>
            </a:r>
            <a:r>
              <a:rPr lang="en-US" sz="1400" u="sng" dirty="0">
                <a:solidFill>
                  <a:schemeClr val="accent2"/>
                </a:solidFill>
                <a:hlinkClick r:id="rId7" tooltip="https://ref.gs1.org/standards/cbv/">
                  <a:extLst>
                    <a:ext uri="{A12FA001-AC4F-418D-AE19-62706E023703}">
                      <ahyp:hlinkClr xmlns:ahyp="http://schemas.microsoft.com/office/drawing/2018/hyperlinkcolor" val="tx"/>
                    </a:ext>
                  </a:extLst>
                </a:hlinkClick>
              </a:rPr>
              <a:t>GS1 CBV</a:t>
            </a:r>
            <a:endParaRPr lang="en-US" sz="1400" dirty="0"/>
          </a:p>
        </p:txBody>
      </p:sp>
      <p:sp>
        <p:nvSpPr>
          <p:cNvPr id="25"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THE BASICS</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What an Event Looks Like</a:t>
            </a:r>
            <a:endParaRPr lang="en-US" sz="3600" dirty="0"/>
          </a:p>
        </p:txBody>
      </p:sp>
      <p:sp>
        <p:nvSpPr>
          <p:cNvPr id="5" name="Code panel"/>
          <p:cNvSpPr/>
          <p:nvPr/>
        </p:nvSpPr>
        <p:spPr>
          <a:xfrm>
            <a:off x="548640" y="1691640"/>
            <a:ext cx="7863840" cy="3931920"/>
          </a:xfrm>
          <a:prstGeom prst="roundRect">
            <a:avLst>
              <a:gd name="adj" fmla="val 2791"/>
            </a:avLst>
          </a:prstGeom>
          <a:solidFill>
            <a:schemeClr val="accent4"/>
          </a:solidFill>
          <a:ln/>
        </p:spPr>
      </p:sp>
      <p:sp>
        <p:nvSpPr>
          <p:cNvPr id="6" name="Text 3"/>
          <p:cNvSpPr txBox="1"/>
          <p:nvPr/>
        </p:nvSpPr>
        <p:spPr>
          <a:xfrm>
            <a:off x="868680" y="1874520"/>
            <a:ext cx="7406640" cy="274320"/>
          </a:xfrm>
          <a:prstGeom prst="rect">
            <a:avLst/>
          </a:prstGeom>
          <a:noFill/>
          <a:ln/>
        </p:spPr>
        <p:txBody>
          <a:bodyPr wrap="square" lIns="0" tIns="0" rIns="0" bIns="0" rtlCol="0" anchor="ctr"/>
          <a:lstStyle/>
          <a:p>
            <a:pPr marL="0" indent="0">
              <a:buNone/>
            </a:pPr>
            <a:r>
              <a:rPr lang="en-US" sz="1300" dirty="0">
                <a:solidFill>
                  <a:schemeClr val="accent6"/>
                </a:solidFill>
                <a:latin typeface="Courier New" pitchFamily="34" charset="0"/>
                <a:ea typeface="Courier New" pitchFamily="34" charset="-122"/>
                <a:cs typeface="Courier New" pitchFamily="34" charset="-120"/>
              </a:rPr>
              <a:t>{</a:t>
            </a:r>
            <a:endParaRPr lang="en-US" sz="1300" dirty="0"/>
          </a:p>
        </p:txBody>
      </p:sp>
      <p:sp>
        <p:nvSpPr>
          <p:cNvPr id="7" name="Text 4"/>
          <p:cNvSpPr txBox="1"/>
          <p:nvPr/>
        </p:nvSpPr>
        <p:spPr>
          <a:xfrm>
            <a:off x="868680" y="2148840"/>
            <a:ext cx="7406640" cy="274320"/>
          </a:xfrm>
          <a:prstGeom prst="rect">
            <a:avLst/>
          </a:prstGeom>
          <a:noFill/>
          <a:ln/>
        </p:spPr>
        <p:txBody>
          <a:bodyPr wrap="square" lIns="0" tIns="0" rIns="0" bIns="0" rtlCol="0" anchor="ctr"/>
          <a:lstStyle/>
          <a:p>
            <a:pPr marL="0" indent="0">
              <a:buNone/>
            </a:pPr>
            <a:r>
              <a:rPr lang="en-US" sz="1300" dirty="0">
                <a:solidFill>
                  <a:schemeClr val="accent6"/>
                </a:solidFill>
                <a:latin typeface="Courier New" pitchFamily="34" charset="0"/>
                <a:ea typeface="Courier New" pitchFamily="34" charset="-122"/>
                <a:cs typeface="Courier New" pitchFamily="34" charset="-120"/>
              </a:rPr>
              <a:t>  "type": "ObjectEvent",</a:t>
            </a:r>
            <a:endParaRPr lang="en-US" sz="1300" dirty="0"/>
          </a:p>
        </p:txBody>
      </p:sp>
      <p:sp>
        <p:nvSpPr>
          <p:cNvPr id="8" name="Text 5"/>
          <p:cNvSpPr txBox="1"/>
          <p:nvPr/>
        </p:nvSpPr>
        <p:spPr>
          <a:xfrm>
            <a:off x="868680" y="2423160"/>
            <a:ext cx="7406640" cy="274320"/>
          </a:xfrm>
          <a:prstGeom prst="rect">
            <a:avLst/>
          </a:prstGeom>
          <a:noFill/>
          <a:ln/>
        </p:spPr>
        <p:txBody>
          <a:bodyPr wrap="square" lIns="0" tIns="0" rIns="0" bIns="0" rtlCol="0" anchor="ctr"/>
          <a:lstStyle/>
          <a:p>
            <a:pPr marL="0" indent="0">
              <a:buNone/>
            </a:pPr>
            <a:r>
              <a:rPr lang="en-US" sz="1300" b="1" dirty="0">
                <a:solidFill>
                  <a:schemeClr val="bg1"/>
                </a:solidFill>
                <a:latin typeface="Courier New" pitchFamily="34" charset="0"/>
                <a:ea typeface="Courier New" pitchFamily="34" charset="-122"/>
                <a:cs typeface="Courier New" pitchFamily="34" charset="-120"/>
              </a:rPr>
              <a:t>  "eventTime": "2026-10-14T09:30:00+02:00",</a:t>
            </a:r>
            <a:endParaRPr lang="en-US" sz="1300" dirty="0"/>
          </a:p>
        </p:txBody>
      </p:sp>
      <p:sp>
        <p:nvSpPr>
          <p:cNvPr id="9" name="Shape 6"/>
          <p:cNvSpPr/>
          <p:nvPr/>
        </p:nvSpPr>
        <p:spPr>
          <a:xfrm>
            <a:off x="8732520" y="2441448"/>
            <a:ext cx="1371600" cy="237744"/>
          </a:xfrm>
          <a:prstGeom prst="roundRect">
            <a:avLst>
              <a:gd name="adj" fmla="val 30769"/>
            </a:avLst>
          </a:prstGeom>
          <a:solidFill>
            <a:schemeClr val="accent1"/>
          </a:solidFill>
          <a:ln/>
        </p:spPr>
      </p:sp>
      <p:sp>
        <p:nvSpPr>
          <p:cNvPr id="10" name="Text 7"/>
          <p:cNvSpPr txBox="1"/>
          <p:nvPr/>
        </p:nvSpPr>
        <p:spPr>
          <a:xfrm>
            <a:off x="8732520" y="2441448"/>
            <a:ext cx="1371600" cy="237744"/>
          </a:xfrm>
          <a:prstGeom prst="rect">
            <a:avLst/>
          </a:prstGeom>
          <a:noFill/>
          <a:ln/>
        </p:spPr>
        <p:txBody>
          <a:bodyPr wrap="square" lIns="0" tIns="0" rIns="0" bIns="0" rtlCol="0" anchor="ctr"/>
          <a:lstStyle/>
          <a:p>
            <a:pPr marL="0" indent="0" algn="ctr">
              <a:buNone/>
            </a:pPr>
            <a:r>
              <a:rPr lang="en-US" sz="1400" b="1" dirty="0">
                <a:solidFill>
                  <a:schemeClr val="bg1"/>
                </a:solidFill>
              </a:rPr>
              <a:t>When</a:t>
            </a:r>
            <a:endParaRPr lang="en-US" sz="1400" dirty="0"/>
          </a:p>
        </p:txBody>
      </p:sp>
      <p:sp>
        <p:nvSpPr>
          <p:cNvPr id="11" name="Text 8"/>
          <p:cNvSpPr txBox="1"/>
          <p:nvPr/>
        </p:nvSpPr>
        <p:spPr>
          <a:xfrm>
            <a:off x="868680" y="2697480"/>
            <a:ext cx="7406640" cy="274320"/>
          </a:xfrm>
          <a:prstGeom prst="rect">
            <a:avLst/>
          </a:prstGeom>
          <a:noFill/>
          <a:ln/>
        </p:spPr>
        <p:txBody>
          <a:bodyPr wrap="square" lIns="0" tIns="0" rIns="0" bIns="0" rtlCol="0" anchor="ctr"/>
          <a:lstStyle/>
          <a:p>
            <a:pPr marL="0" indent="0">
              <a:buNone/>
            </a:pPr>
            <a:r>
              <a:rPr lang="en-US" sz="1300" dirty="0">
                <a:solidFill>
                  <a:schemeClr val="accent6"/>
                </a:solidFill>
                <a:latin typeface="Courier New" pitchFamily="34" charset="0"/>
                <a:ea typeface="Courier New" pitchFamily="34" charset="-122"/>
                <a:cs typeface="Courier New" pitchFamily="34" charset="-120"/>
              </a:rPr>
              <a:t>  "epcList": [</a:t>
            </a:r>
            <a:endParaRPr lang="en-US" sz="1300" dirty="0"/>
          </a:p>
        </p:txBody>
      </p:sp>
      <p:sp>
        <p:nvSpPr>
          <p:cNvPr id="12" name="Text 9"/>
          <p:cNvSpPr txBox="1"/>
          <p:nvPr/>
        </p:nvSpPr>
        <p:spPr>
          <a:xfrm>
            <a:off x="868680" y="2971800"/>
            <a:ext cx="7406640" cy="274320"/>
          </a:xfrm>
          <a:prstGeom prst="rect">
            <a:avLst/>
          </a:prstGeom>
          <a:noFill/>
          <a:ln/>
        </p:spPr>
        <p:txBody>
          <a:bodyPr wrap="square" lIns="0" tIns="0" rIns="0" bIns="0" rtlCol="0" anchor="ctr"/>
          <a:lstStyle/>
          <a:p>
            <a:pPr marL="0" indent="0">
              <a:buNone/>
            </a:pPr>
            <a:r>
              <a:rPr lang="en-US" sz="1300" b="1" dirty="0">
                <a:solidFill>
                  <a:schemeClr val="bg1"/>
                </a:solidFill>
                <a:latin typeface="Courier New" pitchFamily="34" charset="0"/>
                <a:ea typeface="Courier New" pitchFamily="34" charset="-122"/>
                <a:cs typeface="Courier New" pitchFamily="34" charset="-120"/>
              </a:rPr>
              <a:t>    "https://id.gs1.org/01/09520123456788/21/1001"</a:t>
            </a:r>
            <a:endParaRPr lang="en-US" sz="1300" dirty="0"/>
          </a:p>
        </p:txBody>
      </p:sp>
      <p:sp>
        <p:nvSpPr>
          <p:cNvPr id="13" name="Shape 10"/>
          <p:cNvSpPr/>
          <p:nvPr/>
        </p:nvSpPr>
        <p:spPr>
          <a:xfrm>
            <a:off x="8732520" y="2990088"/>
            <a:ext cx="1371600" cy="237744"/>
          </a:xfrm>
          <a:prstGeom prst="roundRect">
            <a:avLst>
              <a:gd name="adj" fmla="val 30769"/>
            </a:avLst>
          </a:prstGeom>
          <a:solidFill>
            <a:schemeClr val="accent1"/>
          </a:solidFill>
          <a:ln/>
        </p:spPr>
      </p:sp>
      <p:sp>
        <p:nvSpPr>
          <p:cNvPr id="14" name="Text 11"/>
          <p:cNvSpPr txBox="1"/>
          <p:nvPr/>
        </p:nvSpPr>
        <p:spPr>
          <a:xfrm>
            <a:off x="8732520" y="2990088"/>
            <a:ext cx="1371600" cy="237744"/>
          </a:xfrm>
          <a:prstGeom prst="rect">
            <a:avLst/>
          </a:prstGeom>
          <a:noFill/>
          <a:ln/>
        </p:spPr>
        <p:txBody>
          <a:bodyPr wrap="square" lIns="0" tIns="0" rIns="0" bIns="0" rtlCol="0" anchor="ctr"/>
          <a:lstStyle/>
          <a:p>
            <a:pPr marL="0" indent="0" algn="ctr">
              <a:buNone/>
            </a:pPr>
            <a:r>
              <a:rPr lang="en-US" sz="1400" b="1" dirty="0">
                <a:solidFill>
                  <a:schemeClr val="bg1"/>
                </a:solidFill>
              </a:rPr>
              <a:t>What</a:t>
            </a:r>
            <a:endParaRPr lang="en-US" sz="1400" dirty="0"/>
          </a:p>
        </p:txBody>
      </p:sp>
      <p:sp>
        <p:nvSpPr>
          <p:cNvPr id="15" name="Text 12"/>
          <p:cNvSpPr txBox="1"/>
          <p:nvPr/>
        </p:nvSpPr>
        <p:spPr>
          <a:xfrm>
            <a:off x="868680" y="3246120"/>
            <a:ext cx="7406640" cy="274320"/>
          </a:xfrm>
          <a:prstGeom prst="rect">
            <a:avLst/>
          </a:prstGeom>
          <a:noFill/>
          <a:ln/>
        </p:spPr>
        <p:txBody>
          <a:bodyPr wrap="square" lIns="0" tIns="0" rIns="0" bIns="0" rtlCol="0" anchor="ctr"/>
          <a:lstStyle/>
          <a:p>
            <a:pPr marL="0" indent="0">
              <a:buNone/>
            </a:pPr>
            <a:r>
              <a:rPr lang="en-US" sz="1300" dirty="0">
                <a:solidFill>
                  <a:schemeClr val="accent6"/>
                </a:solidFill>
                <a:latin typeface="Courier New" pitchFamily="34" charset="0"/>
                <a:ea typeface="Courier New" pitchFamily="34" charset="-122"/>
                <a:cs typeface="Courier New" pitchFamily="34" charset="-120"/>
              </a:rPr>
              <a:t>  ],</a:t>
            </a:r>
            <a:endParaRPr lang="en-US" sz="1300" dirty="0"/>
          </a:p>
        </p:txBody>
      </p:sp>
      <p:sp>
        <p:nvSpPr>
          <p:cNvPr id="16" name="Text 13"/>
          <p:cNvSpPr txBox="1"/>
          <p:nvPr/>
        </p:nvSpPr>
        <p:spPr>
          <a:xfrm>
            <a:off x="868680" y="3520440"/>
            <a:ext cx="7406640" cy="274320"/>
          </a:xfrm>
          <a:prstGeom prst="rect">
            <a:avLst/>
          </a:prstGeom>
          <a:noFill/>
          <a:ln/>
        </p:spPr>
        <p:txBody>
          <a:bodyPr wrap="square" lIns="0" tIns="0" rIns="0" bIns="0" rtlCol="0" anchor="ctr"/>
          <a:lstStyle/>
          <a:p>
            <a:pPr marL="0" indent="0">
              <a:buNone/>
            </a:pPr>
            <a:r>
              <a:rPr lang="en-US" sz="1300" dirty="0">
                <a:solidFill>
                  <a:schemeClr val="accent6"/>
                </a:solidFill>
                <a:latin typeface="Courier New" pitchFamily="34" charset="0"/>
                <a:ea typeface="Courier New" pitchFamily="34" charset="-122"/>
                <a:cs typeface="Courier New" pitchFamily="34" charset="-120"/>
              </a:rPr>
              <a:t>  "action": "OBSERVE",</a:t>
            </a:r>
            <a:endParaRPr lang="en-US" sz="1300" dirty="0"/>
          </a:p>
        </p:txBody>
      </p:sp>
      <p:sp>
        <p:nvSpPr>
          <p:cNvPr id="17" name="Text 14"/>
          <p:cNvSpPr txBox="1"/>
          <p:nvPr/>
        </p:nvSpPr>
        <p:spPr>
          <a:xfrm>
            <a:off x="868680" y="3794760"/>
            <a:ext cx="7406640" cy="274320"/>
          </a:xfrm>
          <a:prstGeom prst="rect">
            <a:avLst/>
          </a:prstGeom>
          <a:noFill/>
          <a:ln/>
        </p:spPr>
        <p:txBody>
          <a:bodyPr wrap="square" lIns="0" tIns="0" rIns="0" bIns="0" rtlCol="0" anchor="ctr"/>
          <a:lstStyle/>
          <a:p>
            <a:pPr marL="0" indent="0">
              <a:buNone/>
            </a:pPr>
            <a:r>
              <a:rPr lang="en-US" sz="1300" b="1" dirty="0">
                <a:solidFill>
                  <a:schemeClr val="bg1"/>
                </a:solidFill>
                <a:latin typeface="Courier New" pitchFamily="34" charset="0"/>
                <a:ea typeface="Courier New" pitchFamily="34" charset="-122"/>
                <a:cs typeface="Courier New" pitchFamily="34" charset="-120"/>
              </a:rPr>
              <a:t>  "bizStep": "shipping",</a:t>
            </a:r>
            <a:endParaRPr lang="en-US" sz="1300" dirty="0"/>
          </a:p>
        </p:txBody>
      </p:sp>
      <p:sp>
        <p:nvSpPr>
          <p:cNvPr id="18" name="Shape 15"/>
          <p:cNvSpPr/>
          <p:nvPr/>
        </p:nvSpPr>
        <p:spPr>
          <a:xfrm>
            <a:off x="8732520" y="3813048"/>
            <a:ext cx="1371600" cy="512064"/>
          </a:xfrm>
          <a:prstGeom prst="roundRect">
            <a:avLst>
              <a:gd name="adj" fmla="val 14286"/>
            </a:avLst>
          </a:prstGeom>
          <a:solidFill>
            <a:schemeClr val="accent1"/>
          </a:solidFill>
          <a:ln/>
        </p:spPr>
      </p:sp>
      <p:sp>
        <p:nvSpPr>
          <p:cNvPr id="19" name="Text 16"/>
          <p:cNvSpPr txBox="1"/>
          <p:nvPr/>
        </p:nvSpPr>
        <p:spPr>
          <a:xfrm>
            <a:off x="8732520" y="3813048"/>
            <a:ext cx="1371600" cy="512064"/>
          </a:xfrm>
          <a:prstGeom prst="rect">
            <a:avLst/>
          </a:prstGeom>
          <a:noFill/>
          <a:ln/>
        </p:spPr>
        <p:txBody>
          <a:bodyPr wrap="square" lIns="0" tIns="0" rIns="0" bIns="0" rtlCol="0" anchor="ctr"/>
          <a:lstStyle/>
          <a:p>
            <a:pPr marL="0" indent="0" algn="ctr">
              <a:buNone/>
            </a:pPr>
            <a:r>
              <a:rPr lang="en-US" sz="1400" b="1" dirty="0">
                <a:solidFill>
                  <a:schemeClr val="bg1"/>
                </a:solidFill>
              </a:rPr>
              <a:t>Why</a:t>
            </a:r>
            <a:endParaRPr lang="en-US" sz="1400" dirty="0"/>
          </a:p>
        </p:txBody>
      </p:sp>
      <p:sp>
        <p:nvSpPr>
          <p:cNvPr id="20" name="Text 17"/>
          <p:cNvSpPr txBox="1"/>
          <p:nvPr/>
        </p:nvSpPr>
        <p:spPr>
          <a:xfrm>
            <a:off x="868680" y="4069080"/>
            <a:ext cx="7406640" cy="274320"/>
          </a:xfrm>
          <a:prstGeom prst="rect">
            <a:avLst/>
          </a:prstGeom>
          <a:noFill/>
          <a:ln/>
        </p:spPr>
        <p:txBody>
          <a:bodyPr wrap="square" lIns="0" tIns="0" rIns="0" bIns="0" rtlCol="0" anchor="ctr"/>
          <a:lstStyle/>
          <a:p>
            <a:pPr marL="0" indent="0">
              <a:buNone/>
            </a:pPr>
            <a:r>
              <a:rPr lang="en-US" sz="1300" b="1" dirty="0">
                <a:solidFill>
                  <a:schemeClr val="bg1"/>
                </a:solidFill>
                <a:latin typeface="Courier New" pitchFamily="34" charset="0"/>
                <a:ea typeface="Courier New" pitchFamily="34" charset="-122"/>
                <a:cs typeface="Courier New" pitchFamily="34" charset="-120"/>
              </a:rPr>
              <a:t>  "disposition": "in_transit",</a:t>
            </a:r>
            <a:endParaRPr lang="en-US" sz="1300" dirty="0"/>
          </a:p>
        </p:txBody>
      </p:sp>
      <p:sp>
        <p:nvSpPr>
          <p:cNvPr id="21" name="Text 18"/>
          <p:cNvSpPr txBox="1"/>
          <p:nvPr/>
        </p:nvSpPr>
        <p:spPr>
          <a:xfrm>
            <a:off x="868680" y="4343400"/>
            <a:ext cx="7406640" cy="274320"/>
          </a:xfrm>
          <a:prstGeom prst="rect">
            <a:avLst/>
          </a:prstGeom>
          <a:noFill/>
          <a:ln/>
        </p:spPr>
        <p:txBody>
          <a:bodyPr wrap="square" lIns="0" tIns="0" rIns="0" bIns="0" rtlCol="0" anchor="ctr"/>
          <a:lstStyle/>
          <a:p>
            <a:pPr marL="0" indent="0">
              <a:buNone/>
            </a:pPr>
            <a:r>
              <a:rPr lang="en-US" sz="1300" dirty="0">
                <a:solidFill>
                  <a:schemeClr val="accent6"/>
                </a:solidFill>
                <a:latin typeface="Courier New" pitchFamily="34" charset="0"/>
                <a:ea typeface="Courier New" pitchFamily="34" charset="-122"/>
                <a:cs typeface="Courier New" pitchFamily="34" charset="-120"/>
              </a:rPr>
              <a:t>  "readPoint": {</a:t>
            </a:r>
            <a:endParaRPr lang="en-US" sz="1300" dirty="0"/>
          </a:p>
        </p:txBody>
      </p:sp>
      <p:sp>
        <p:nvSpPr>
          <p:cNvPr id="22" name="Text 19"/>
          <p:cNvSpPr txBox="1"/>
          <p:nvPr/>
        </p:nvSpPr>
        <p:spPr>
          <a:xfrm>
            <a:off x="868680" y="4617720"/>
            <a:ext cx="7406640" cy="274320"/>
          </a:xfrm>
          <a:prstGeom prst="rect">
            <a:avLst/>
          </a:prstGeom>
          <a:noFill/>
          <a:ln/>
        </p:spPr>
        <p:txBody>
          <a:bodyPr wrap="square" lIns="0" tIns="0" rIns="0" bIns="0" rtlCol="0" anchor="ctr"/>
          <a:lstStyle/>
          <a:p>
            <a:pPr marL="0" indent="0">
              <a:buNone/>
            </a:pPr>
            <a:r>
              <a:rPr lang="en-US" sz="1300" b="1" dirty="0">
                <a:solidFill>
                  <a:schemeClr val="bg1"/>
                </a:solidFill>
                <a:latin typeface="Courier New" pitchFamily="34" charset="0"/>
                <a:ea typeface="Courier New" pitchFamily="34" charset="-122"/>
                <a:cs typeface="Courier New" pitchFamily="34" charset="-120"/>
              </a:rPr>
              <a:t>    "id": "https://id.gs1.org/414/9520123456788"</a:t>
            </a:r>
            <a:endParaRPr lang="en-US" sz="1300" dirty="0"/>
          </a:p>
        </p:txBody>
      </p:sp>
      <p:sp>
        <p:nvSpPr>
          <p:cNvPr id="23" name="Shape 20"/>
          <p:cNvSpPr/>
          <p:nvPr/>
        </p:nvSpPr>
        <p:spPr>
          <a:xfrm>
            <a:off x="8732520" y="4636008"/>
            <a:ext cx="1371600" cy="237744"/>
          </a:xfrm>
          <a:prstGeom prst="roundRect">
            <a:avLst>
              <a:gd name="adj" fmla="val 30769"/>
            </a:avLst>
          </a:prstGeom>
          <a:solidFill>
            <a:schemeClr val="accent1"/>
          </a:solidFill>
          <a:ln/>
        </p:spPr>
      </p:sp>
      <p:sp>
        <p:nvSpPr>
          <p:cNvPr id="24" name="Text 21"/>
          <p:cNvSpPr txBox="1"/>
          <p:nvPr/>
        </p:nvSpPr>
        <p:spPr>
          <a:xfrm>
            <a:off x="8732520" y="4636008"/>
            <a:ext cx="1371600" cy="237744"/>
          </a:xfrm>
          <a:prstGeom prst="rect">
            <a:avLst/>
          </a:prstGeom>
          <a:noFill/>
          <a:ln/>
        </p:spPr>
        <p:txBody>
          <a:bodyPr wrap="square" lIns="0" tIns="0" rIns="0" bIns="0" rtlCol="0" anchor="ctr"/>
          <a:lstStyle/>
          <a:p>
            <a:pPr marL="0" indent="0" algn="ctr">
              <a:buNone/>
            </a:pPr>
            <a:r>
              <a:rPr lang="en-US" sz="1400" b="1" dirty="0">
                <a:solidFill>
                  <a:schemeClr val="bg1"/>
                </a:solidFill>
              </a:rPr>
              <a:t>Where</a:t>
            </a:r>
            <a:endParaRPr lang="en-US" sz="1400" dirty="0"/>
          </a:p>
        </p:txBody>
      </p:sp>
      <p:sp>
        <p:nvSpPr>
          <p:cNvPr id="25" name="Text 22"/>
          <p:cNvSpPr txBox="1"/>
          <p:nvPr/>
        </p:nvSpPr>
        <p:spPr>
          <a:xfrm>
            <a:off x="868680" y="4892040"/>
            <a:ext cx="7406640" cy="274320"/>
          </a:xfrm>
          <a:prstGeom prst="rect">
            <a:avLst/>
          </a:prstGeom>
          <a:noFill/>
          <a:ln/>
        </p:spPr>
        <p:txBody>
          <a:bodyPr wrap="square" lIns="0" tIns="0" rIns="0" bIns="0" rtlCol="0" anchor="ctr"/>
          <a:lstStyle/>
          <a:p>
            <a:pPr marL="0" indent="0">
              <a:buNone/>
            </a:pPr>
            <a:r>
              <a:rPr lang="en-US" sz="1300" dirty="0">
                <a:solidFill>
                  <a:schemeClr val="accent6"/>
                </a:solidFill>
                <a:latin typeface="Courier New" pitchFamily="34" charset="0"/>
                <a:ea typeface="Courier New" pitchFamily="34" charset="-122"/>
                <a:cs typeface="Courier New" pitchFamily="34" charset="-120"/>
              </a:rPr>
              <a:t>  }</a:t>
            </a:r>
            <a:endParaRPr lang="en-US" sz="1300" dirty="0"/>
          </a:p>
        </p:txBody>
      </p:sp>
      <p:sp>
        <p:nvSpPr>
          <p:cNvPr id="26" name="Text 23"/>
          <p:cNvSpPr txBox="1"/>
          <p:nvPr/>
        </p:nvSpPr>
        <p:spPr>
          <a:xfrm>
            <a:off x="868680" y="5166360"/>
            <a:ext cx="7406640" cy="274320"/>
          </a:xfrm>
          <a:prstGeom prst="rect">
            <a:avLst/>
          </a:prstGeom>
          <a:noFill/>
          <a:ln/>
        </p:spPr>
        <p:txBody>
          <a:bodyPr wrap="square" lIns="0" tIns="0" rIns="0" bIns="0" rtlCol="0" anchor="ctr"/>
          <a:lstStyle/>
          <a:p>
            <a:pPr marL="0" indent="0">
              <a:buNone/>
            </a:pPr>
            <a:r>
              <a:rPr lang="en-US" sz="1300" dirty="0">
                <a:solidFill>
                  <a:schemeClr val="accent6"/>
                </a:solidFill>
                <a:latin typeface="Courier New" pitchFamily="34" charset="0"/>
                <a:ea typeface="Courier New" pitchFamily="34" charset="-122"/>
                <a:cs typeface="Courier New" pitchFamily="34" charset="-120"/>
              </a:rPr>
              <a:t>}</a:t>
            </a:r>
            <a:endParaRPr lang="en-US" sz="1300" dirty="0"/>
          </a:p>
        </p:txBody>
      </p:sp>
      <p:sp>
        <p:nvSpPr>
          <p:cNvPr id="27" name="Shape 24"/>
          <p:cNvSpPr/>
          <p:nvPr/>
        </p:nvSpPr>
        <p:spPr>
          <a:xfrm>
            <a:off x="8732520" y="5120640"/>
            <a:ext cx="1371600" cy="292608"/>
          </a:xfrm>
          <a:prstGeom prst="roundRect">
            <a:avLst>
              <a:gd name="adj" fmla="val 25000"/>
            </a:avLst>
          </a:prstGeom>
          <a:solidFill>
            <a:schemeClr val="bg1"/>
          </a:solidFill>
          <a:ln w="12700">
            <a:solidFill>
              <a:schemeClr val="accent6"/>
            </a:solidFill>
            <a:prstDash val="solid"/>
          </a:ln>
        </p:spPr>
      </p:sp>
      <p:sp>
        <p:nvSpPr>
          <p:cNvPr id="28" name="Text 25"/>
          <p:cNvSpPr txBox="1"/>
          <p:nvPr/>
        </p:nvSpPr>
        <p:spPr>
          <a:xfrm>
            <a:off x="8732520" y="5120640"/>
            <a:ext cx="1371600" cy="292608"/>
          </a:xfrm>
          <a:prstGeom prst="rect">
            <a:avLst/>
          </a:prstGeom>
          <a:noFill/>
          <a:ln/>
        </p:spPr>
        <p:txBody>
          <a:bodyPr wrap="square" lIns="0" tIns="0" rIns="0" bIns="0" rtlCol="0" anchor="ctr"/>
          <a:lstStyle/>
          <a:p>
            <a:pPr marL="0" indent="0" algn="ctr">
              <a:buNone/>
            </a:pPr>
            <a:r>
              <a:rPr lang="en-US" sz="1400" b="1" dirty="0">
                <a:solidFill>
                  <a:schemeClr val="accent5"/>
                </a:solidFill>
              </a:rPr>
              <a:t>How</a:t>
            </a:r>
            <a:endParaRPr lang="en-US" sz="1400" dirty="0"/>
          </a:p>
        </p:txBody>
      </p:sp>
      <p:sp>
        <p:nvSpPr>
          <p:cNvPr id="29" name="Text 26"/>
          <p:cNvSpPr txBox="1"/>
          <p:nvPr/>
        </p:nvSpPr>
        <p:spPr>
          <a:xfrm>
            <a:off x="8732520" y="5458968"/>
            <a:ext cx="2926080" cy="274320"/>
          </a:xfrm>
          <a:prstGeom prst="rect">
            <a:avLst/>
          </a:prstGeom>
          <a:noFill/>
          <a:ln/>
        </p:spPr>
        <p:txBody>
          <a:bodyPr wrap="square" lIns="0" tIns="0" rIns="0" bIns="0" rtlCol="0" anchor="ctr"/>
          <a:lstStyle/>
          <a:p>
            <a:pPr marL="0" indent="0">
              <a:buNone/>
            </a:pPr>
            <a:r>
              <a:rPr lang="en-US" sz="1200" dirty="0">
                <a:solidFill>
                  <a:schemeClr val="accent5"/>
                </a:solidFill>
              </a:rPr>
              <a:t>Optional sensor data, not shown here</a:t>
            </a:r>
            <a:endParaRPr lang="en-US" sz="1200" dirty="0"/>
          </a:p>
        </p:txBody>
      </p:sp>
      <p:sp>
        <p:nvSpPr>
          <p:cNvPr id="30" name="Text 27"/>
          <p:cNvSpPr txBox="1"/>
          <p:nvPr/>
        </p:nvSpPr>
        <p:spPr>
          <a:xfrm>
            <a:off x="548640" y="5806440"/>
            <a:ext cx="9601200" cy="274320"/>
          </a:xfrm>
          <a:prstGeom prst="rect">
            <a:avLst/>
          </a:prstGeom>
          <a:noFill/>
          <a:ln/>
        </p:spPr>
        <p:txBody>
          <a:bodyPr wrap="square" lIns="0" tIns="0" rIns="0" bIns="0" rtlCol="0" anchor="ctr"/>
          <a:lstStyle/>
          <a:p>
            <a:pPr marL="0" indent="0">
              <a:buNone/>
            </a:pPr>
            <a:r>
              <a:rPr lang="en-US" sz="1100" i="1" dirty="0">
                <a:solidFill>
                  <a:schemeClr val="accent5"/>
                </a:solidFill>
              </a:rPr>
              <a:t>Simplified excerpt of an EPCIS 2.0 JSON event. Identifiers use the GS1 demo prefix 952.</a:t>
            </a:r>
            <a:endParaRPr lang="en-US" sz="1100" dirty="0"/>
          </a:p>
        </p:txBody>
      </p:sp>
      <p:sp>
        <p:nvSpPr>
          <p:cNvPr id="4"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LIVE DEMO</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One Event, End to End</a:t>
            </a:r>
            <a:endParaRPr lang="en-US" sz="3600" dirty="0"/>
          </a:p>
        </p:txBody>
      </p:sp>
      <p:sp>
        <p:nvSpPr>
          <p:cNvPr id="5" name="Demo step 1"/>
          <p:cNvSpPr/>
          <p:nvPr/>
        </p:nvSpPr>
        <p:spPr>
          <a:xfrm>
            <a:off x="548640" y="1783080"/>
            <a:ext cx="6035040" cy="1051560"/>
          </a:xfrm>
          <a:prstGeom prst="roundRect">
            <a:avLst>
              <a:gd name="adj" fmla="val 10435"/>
            </a:avLst>
          </a:prstGeom>
          <a:solidFill>
            <a:schemeClr val="bg2"/>
          </a:solidFill>
          <a:ln/>
        </p:spPr>
      </p:sp>
      <p:sp>
        <p:nvSpPr>
          <p:cNvPr id="6" name="Shape 3"/>
          <p:cNvSpPr/>
          <p:nvPr/>
        </p:nvSpPr>
        <p:spPr>
          <a:xfrm>
            <a:off x="777240" y="1965960"/>
            <a:ext cx="685800" cy="685800"/>
          </a:xfrm>
          <a:prstGeom prst="ellipse">
            <a:avLst/>
          </a:prstGeom>
          <a:solidFill>
            <a:schemeClr val="accent3"/>
          </a:solidFill>
          <a:ln/>
        </p:spPr>
      </p:sp>
      <p:pic>
        <p:nvPicPr>
          <p:cNvPr id="7" name="Image 0" descr="preencoded.png"/>
          <p:cNvPicPr>
            <a:picLocks noChangeAspect="1"/>
          </p:cNvPicPr>
          <p:nvPr/>
        </p:nvPicPr>
        <p:blipFill>
          <a:blip r:embed="rId3"/>
          <a:stretch>
            <a:fillRect/>
          </a:stretch>
        </p:blipFill>
        <p:spPr>
          <a:xfrm>
            <a:off x="955548" y="2144268"/>
            <a:ext cx="329184" cy="329184"/>
          </a:xfrm>
          <a:prstGeom prst="rect">
            <a:avLst/>
          </a:prstGeom>
        </p:spPr>
      </p:pic>
      <p:sp>
        <p:nvSpPr>
          <p:cNvPr id="8" name="Text 4"/>
          <p:cNvSpPr txBox="1"/>
          <p:nvPr/>
        </p:nvSpPr>
        <p:spPr>
          <a:xfrm>
            <a:off x="1691640" y="1938528"/>
            <a:ext cx="4754880" cy="411480"/>
          </a:xfrm>
          <a:prstGeom prst="rect">
            <a:avLst/>
          </a:prstGeom>
          <a:noFill/>
          <a:ln/>
        </p:spPr>
        <p:txBody>
          <a:bodyPr wrap="square" lIns="0" tIns="0" rIns="0" bIns="0" rtlCol="0" anchor="ctr"/>
          <a:lstStyle/>
          <a:p>
            <a:pPr marL="0" indent="0">
              <a:buNone/>
            </a:pPr>
            <a:r>
              <a:rPr lang="en-US" sz="2000" b="1" dirty="0">
                <a:solidFill>
                  <a:schemeClr val="tx1"/>
                </a:solidFill>
              </a:rPr>
              <a:t>1.  Build an event visually</a:t>
            </a:r>
            <a:endParaRPr lang="en-US" sz="2000" dirty="0"/>
          </a:p>
        </p:txBody>
      </p:sp>
      <p:sp>
        <p:nvSpPr>
          <p:cNvPr id="9" name="Text 5"/>
          <p:cNvSpPr txBox="1"/>
          <p:nvPr/>
        </p:nvSpPr>
        <p:spPr>
          <a:xfrm>
            <a:off x="1691640" y="2350008"/>
            <a:ext cx="4754880" cy="320040"/>
          </a:xfrm>
          <a:prstGeom prst="rect">
            <a:avLst/>
          </a:prstGeom>
          <a:noFill/>
          <a:ln/>
        </p:spPr>
        <p:txBody>
          <a:bodyPr wrap="square" lIns="0" tIns="0" rIns="0" bIns="0" rtlCol="0" anchor="ctr"/>
          <a:lstStyle/>
          <a:p>
            <a:pPr marL="0" indent="0">
              <a:buNone/>
            </a:pPr>
            <a:r>
              <a:rPr lang="en-US" sz="1500" u="sng" dirty="0">
                <a:solidFill>
                  <a:schemeClr val="accent2"/>
                </a:solidFill>
                <a:hlinkClick r:id="rId4" tooltip="https://tools.openepcis.io/ui/event-data-designer">
                  <a:extLst>
                    <a:ext uri="{A12FA001-AC4F-418D-AE19-62706E023703}">
                      <ahyp:hlinkClr xmlns:ahyp="http://schemas.microsoft.com/office/drawing/2018/hyperlinkcolor" val="tx"/>
                    </a:ext>
                  </a:extLst>
                </a:hlinkClick>
              </a:rPr>
              <a:t>Event Data Designer</a:t>
            </a:r>
            <a:endParaRPr lang="en-US" sz="1500" dirty="0"/>
          </a:p>
        </p:txBody>
      </p:sp>
      <p:sp>
        <p:nvSpPr>
          <p:cNvPr id="10" name="Demo step 2"/>
          <p:cNvSpPr/>
          <p:nvPr/>
        </p:nvSpPr>
        <p:spPr>
          <a:xfrm>
            <a:off x="548640" y="3017520"/>
            <a:ext cx="6035040" cy="1051560"/>
          </a:xfrm>
          <a:prstGeom prst="roundRect">
            <a:avLst>
              <a:gd name="adj" fmla="val 10435"/>
            </a:avLst>
          </a:prstGeom>
          <a:solidFill>
            <a:schemeClr val="bg2"/>
          </a:solidFill>
          <a:ln/>
        </p:spPr>
      </p:sp>
      <p:sp>
        <p:nvSpPr>
          <p:cNvPr id="11" name="Shape 7"/>
          <p:cNvSpPr/>
          <p:nvPr/>
        </p:nvSpPr>
        <p:spPr>
          <a:xfrm>
            <a:off x="777240" y="3200400"/>
            <a:ext cx="685800" cy="685800"/>
          </a:xfrm>
          <a:prstGeom prst="ellipse">
            <a:avLst/>
          </a:prstGeom>
          <a:solidFill>
            <a:schemeClr val="accent3"/>
          </a:solidFill>
          <a:ln/>
        </p:spPr>
      </p:sp>
      <p:pic>
        <p:nvPicPr>
          <p:cNvPr id="12" name="Image 1" descr="preencoded.png"/>
          <p:cNvPicPr>
            <a:picLocks noChangeAspect="1"/>
          </p:cNvPicPr>
          <p:nvPr/>
        </p:nvPicPr>
        <p:blipFill>
          <a:blip r:embed="rId5"/>
          <a:stretch>
            <a:fillRect/>
          </a:stretch>
        </p:blipFill>
        <p:spPr>
          <a:xfrm>
            <a:off x="955548" y="3378708"/>
            <a:ext cx="329184" cy="329184"/>
          </a:xfrm>
          <a:prstGeom prst="rect">
            <a:avLst/>
          </a:prstGeom>
        </p:spPr>
      </p:pic>
      <p:sp>
        <p:nvSpPr>
          <p:cNvPr id="13" name="Text 8"/>
          <p:cNvSpPr txBox="1"/>
          <p:nvPr/>
        </p:nvSpPr>
        <p:spPr>
          <a:xfrm>
            <a:off x="1691640" y="3172968"/>
            <a:ext cx="4754880" cy="411480"/>
          </a:xfrm>
          <a:prstGeom prst="rect">
            <a:avLst/>
          </a:prstGeom>
          <a:noFill/>
          <a:ln/>
        </p:spPr>
        <p:txBody>
          <a:bodyPr wrap="square" lIns="0" tIns="0" rIns="0" bIns="0" rtlCol="0" anchor="ctr"/>
          <a:lstStyle/>
          <a:p>
            <a:pPr marL="0" indent="0">
              <a:buNone/>
            </a:pPr>
            <a:r>
              <a:rPr lang="en-US" sz="2000" b="1" dirty="0">
                <a:solidFill>
                  <a:schemeClr val="tx1"/>
                </a:solidFill>
              </a:rPr>
              <a:t>2.  See it as XML and JSON</a:t>
            </a:r>
            <a:endParaRPr lang="en-US" sz="2000" dirty="0"/>
          </a:p>
        </p:txBody>
      </p:sp>
      <p:sp>
        <p:nvSpPr>
          <p:cNvPr id="14" name="Text 9"/>
          <p:cNvSpPr txBox="1"/>
          <p:nvPr/>
        </p:nvSpPr>
        <p:spPr>
          <a:xfrm>
            <a:off x="1691640" y="3584448"/>
            <a:ext cx="4754880" cy="320040"/>
          </a:xfrm>
          <a:prstGeom prst="rect">
            <a:avLst/>
          </a:prstGeom>
          <a:noFill/>
          <a:ln/>
        </p:spPr>
        <p:txBody>
          <a:bodyPr wrap="square" lIns="0" tIns="0" rIns="0" bIns="0" rtlCol="0" anchor="ctr"/>
          <a:lstStyle/>
          <a:p>
            <a:pPr marL="0" indent="0">
              <a:buNone/>
            </a:pPr>
            <a:r>
              <a:rPr lang="en-US" sz="1500" u="sng" dirty="0">
                <a:solidFill>
                  <a:schemeClr val="accent2"/>
                </a:solidFill>
                <a:hlinkClick r:id="rId6" tooltip="https://tools.openepcis.io/ui/format-converter">
                  <a:extLst>
                    <a:ext uri="{A12FA001-AC4F-418D-AE19-62706E023703}">
                      <ahyp:hlinkClr xmlns:ahyp="http://schemas.microsoft.com/office/drawing/2018/hyperlinkcolor" val="tx"/>
                    </a:ext>
                  </a:extLst>
                </a:hlinkClick>
              </a:rPr>
              <a:t>Format Converter</a:t>
            </a:r>
            <a:endParaRPr lang="en-US" sz="1500" dirty="0"/>
          </a:p>
        </p:txBody>
      </p:sp>
      <p:sp>
        <p:nvSpPr>
          <p:cNvPr id="15" name="Demo step 3"/>
          <p:cNvSpPr/>
          <p:nvPr/>
        </p:nvSpPr>
        <p:spPr>
          <a:xfrm>
            <a:off x="548640" y="4251960"/>
            <a:ext cx="6035040" cy="1051560"/>
          </a:xfrm>
          <a:prstGeom prst="roundRect">
            <a:avLst>
              <a:gd name="adj" fmla="val 10435"/>
            </a:avLst>
          </a:prstGeom>
          <a:solidFill>
            <a:schemeClr val="bg2"/>
          </a:solidFill>
          <a:ln/>
        </p:spPr>
      </p:sp>
      <p:sp>
        <p:nvSpPr>
          <p:cNvPr id="16" name="Shape 11"/>
          <p:cNvSpPr/>
          <p:nvPr/>
        </p:nvSpPr>
        <p:spPr>
          <a:xfrm>
            <a:off x="777240" y="4434840"/>
            <a:ext cx="685800" cy="685800"/>
          </a:xfrm>
          <a:prstGeom prst="ellipse">
            <a:avLst/>
          </a:prstGeom>
          <a:solidFill>
            <a:schemeClr val="accent3"/>
          </a:solidFill>
          <a:ln/>
        </p:spPr>
      </p:sp>
      <p:pic>
        <p:nvPicPr>
          <p:cNvPr id="17" name="Image 2" descr="preencoded.png"/>
          <p:cNvPicPr>
            <a:picLocks noChangeAspect="1"/>
          </p:cNvPicPr>
          <p:nvPr/>
        </p:nvPicPr>
        <p:blipFill>
          <a:blip r:embed="rId7"/>
          <a:stretch>
            <a:fillRect/>
          </a:stretch>
        </p:blipFill>
        <p:spPr>
          <a:xfrm>
            <a:off x="955548" y="4613148"/>
            <a:ext cx="329184" cy="329184"/>
          </a:xfrm>
          <a:prstGeom prst="rect">
            <a:avLst/>
          </a:prstGeom>
        </p:spPr>
      </p:pic>
      <p:sp>
        <p:nvSpPr>
          <p:cNvPr id="18" name="Text 12"/>
          <p:cNvSpPr txBox="1"/>
          <p:nvPr/>
        </p:nvSpPr>
        <p:spPr>
          <a:xfrm>
            <a:off x="1691640" y="4407408"/>
            <a:ext cx="4754880" cy="411480"/>
          </a:xfrm>
          <a:prstGeom prst="rect">
            <a:avLst/>
          </a:prstGeom>
          <a:noFill/>
          <a:ln/>
        </p:spPr>
        <p:txBody>
          <a:bodyPr wrap="square" lIns="0" tIns="0" rIns="0" bIns="0" rtlCol="0" anchor="ctr"/>
          <a:lstStyle/>
          <a:p>
            <a:pPr marL="0" indent="0">
              <a:buNone/>
            </a:pPr>
            <a:r>
              <a:rPr lang="en-US" sz="2000" b="1" dirty="0">
                <a:solidFill>
                  <a:schemeClr val="tx1"/>
                </a:solidFill>
              </a:rPr>
              <a:t>3.  Find the five questions</a:t>
            </a:r>
            <a:endParaRPr lang="en-US" sz="2000" dirty="0"/>
          </a:p>
        </p:txBody>
      </p:sp>
      <p:sp>
        <p:nvSpPr>
          <p:cNvPr id="19" name="Text 13"/>
          <p:cNvSpPr txBox="1"/>
          <p:nvPr/>
        </p:nvSpPr>
        <p:spPr>
          <a:xfrm>
            <a:off x="1691640" y="4818888"/>
            <a:ext cx="4754880" cy="320040"/>
          </a:xfrm>
          <a:prstGeom prst="rect">
            <a:avLst/>
          </a:prstGeom>
          <a:noFill/>
          <a:ln/>
        </p:spPr>
        <p:txBody>
          <a:bodyPr wrap="square" lIns="0" tIns="0" rIns="0" bIns="0" rtlCol="0" anchor="ctr"/>
          <a:lstStyle/>
          <a:p>
            <a:pPr marL="0" indent="0">
              <a:buNone/>
            </a:pPr>
            <a:r>
              <a:rPr lang="en-US" sz="1500" dirty="0">
                <a:solidFill>
                  <a:schemeClr val="accent5"/>
                </a:solidFill>
              </a:rPr>
              <a:t>In the result, field by field</a:t>
            </a:r>
            <a:endParaRPr lang="en-US" sz="1500" dirty="0"/>
          </a:p>
        </p:txBody>
      </p:sp>
      <p:sp>
        <p:nvSpPr>
          <p:cNvPr id="20" name="Shape 14"/>
          <p:cNvSpPr/>
          <p:nvPr/>
        </p:nvSpPr>
        <p:spPr>
          <a:xfrm>
            <a:off x="7086600" y="1783080"/>
            <a:ext cx="4553712" cy="3520440"/>
          </a:xfrm>
          <a:prstGeom prst="roundRect">
            <a:avLst>
              <a:gd name="adj" fmla="val 3117"/>
            </a:avLst>
          </a:prstGeom>
          <a:solidFill>
            <a:schemeClr val="bg1"/>
          </a:solidFill>
          <a:ln w="12700">
            <a:solidFill>
              <a:schemeClr val="accent6"/>
            </a:solidFill>
            <a:prstDash val="solid"/>
          </a:ln>
          <a:effectLst>
            <a:outerShdw blurRad="101600" dist="38100" dir="5400000" algn="bl" rotWithShape="0">
              <a:srgbClr val="1B2430">
                <a:alpha val="12000"/>
              </a:srgbClr>
            </a:outerShdw>
          </a:effectLst>
        </p:spPr>
      </p:sp>
      <p:sp>
        <p:nvSpPr>
          <p:cNvPr id="21" name="Shape 15"/>
          <p:cNvSpPr/>
          <p:nvPr/>
        </p:nvSpPr>
        <p:spPr>
          <a:xfrm>
            <a:off x="7315200" y="1984248"/>
            <a:ext cx="137160" cy="137160"/>
          </a:xfrm>
          <a:prstGeom prst="ellipse">
            <a:avLst/>
          </a:prstGeom>
          <a:solidFill>
            <a:srgbClr val="F2B8C0"/>
          </a:solidFill>
          <a:ln/>
        </p:spPr>
      </p:sp>
      <p:sp>
        <p:nvSpPr>
          <p:cNvPr id="22" name="Shape 16"/>
          <p:cNvSpPr/>
          <p:nvPr/>
        </p:nvSpPr>
        <p:spPr>
          <a:xfrm>
            <a:off x="7543800" y="1984248"/>
            <a:ext cx="137160" cy="137160"/>
          </a:xfrm>
          <a:prstGeom prst="ellipse">
            <a:avLst/>
          </a:prstGeom>
          <a:solidFill>
            <a:srgbClr val="C9D6E3"/>
          </a:solidFill>
          <a:ln/>
        </p:spPr>
      </p:sp>
      <p:sp>
        <p:nvSpPr>
          <p:cNvPr id="23" name="Shape 17"/>
          <p:cNvSpPr/>
          <p:nvPr/>
        </p:nvSpPr>
        <p:spPr>
          <a:xfrm>
            <a:off x="7772400" y="1984248"/>
            <a:ext cx="137160" cy="137160"/>
          </a:xfrm>
          <a:prstGeom prst="ellipse">
            <a:avLst/>
          </a:prstGeom>
          <a:solidFill>
            <a:srgbClr val="C9D6E3"/>
          </a:solidFill>
          <a:ln/>
        </p:spPr>
      </p:sp>
      <p:sp>
        <p:nvSpPr>
          <p:cNvPr id="24" name="Shape 18"/>
          <p:cNvSpPr/>
          <p:nvPr/>
        </p:nvSpPr>
        <p:spPr>
          <a:xfrm>
            <a:off x="8092440" y="1911096"/>
            <a:ext cx="3319272" cy="292608"/>
          </a:xfrm>
          <a:prstGeom prst="roundRect">
            <a:avLst>
              <a:gd name="adj" fmla="val 25000"/>
            </a:avLst>
          </a:prstGeom>
          <a:solidFill>
            <a:schemeClr val="bg2"/>
          </a:solidFill>
          <a:ln/>
        </p:spPr>
      </p:sp>
      <p:sp>
        <p:nvSpPr>
          <p:cNvPr id="25" name="Text 19"/>
          <p:cNvSpPr txBox="1"/>
          <p:nvPr/>
        </p:nvSpPr>
        <p:spPr>
          <a:xfrm>
            <a:off x="8229600" y="1911096"/>
            <a:ext cx="3090672" cy="292608"/>
          </a:xfrm>
          <a:prstGeom prst="rect">
            <a:avLst/>
          </a:prstGeom>
          <a:noFill/>
          <a:ln/>
        </p:spPr>
        <p:txBody>
          <a:bodyPr wrap="square" lIns="0" tIns="0" rIns="0" bIns="0" rtlCol="0" anchor="ctr"/>
          <a:lstStyle/>
          <a:p>
            <a:pPr marL="0" indent="0">
              <a:buNone/>
            </a:pPr>
            <a:r>
              <a:rPr lang="en-US" sz="1200" u="sng" dirty="0">
                <a:solidFill>
                  <a:schemeClr val="accent2"/>
                </a:solidFill>
                <a:hlinkClick r:id="rId8" tooltip="https://tools.openepcis.io/ui/">
                  <a:extLst>
                    <a:ext uri="{A12FA001-AC4F-418D-AE19-62706E023703}">
                      <ahyp:hlinkClr xmlns:ahyp="http://schemas.microsoft.com/office/drawing/2018/hyperlinkcolor" val="tx"/>
                    </a:ext>
                  </a:extLst>
                </a:hlinkClick>
              </a:rPr>
              <a:t>tools.openepcis.io/ui</a:t>
            </a:r>
            <a:endParaRPr lang="en-US" sz="1200" dirty="0"/>
          </a:p>
        </p:txBody>
      </p:sp>
      <p:sp>
        <p:nvSpPr>
          <p:cNvPr id="26" name="Shape 20"/>
          <p:cNvSpPr/>
          <p:nvPr/>
        </p:nvSpPr>
        <p:spPr>
          <a:xfrm>
            <a:off x="8769096" y="2743200"/>
            <a:ext cx="1188720" cy="1188720"/>
          </a:xfrm>
          <a:prstGeom prst="ellipse">
            <a:avLst/>
          </a:prstGeom>
          <a:solidFill>
            <a:schemeClr val="accent1"/>
          </a:solidFill>
          <a:ln/>
        </p:spPr>
      </p:sp>
      <p:pic>
        <p:nvPicPr>
          <p:cNvPr id="27" name="Image 3" descr="preencoded.png"/>
          <p:cNvPicPr>
            <a:picLocks noChangeAspect="1"/>
          </p:cNvPicPr>
          <p:nvPr/>
        </p:nvPicPr>
        <p:blipFill>
          <a:blip r:embed="rId9"/>
          <a:stretch>
            <a:fillRect/>
          </a:stretch>
        </p:blipFill>
        <p:spPr>
          <a:xfrm>
            <a:off x="9078163" y="3052267"/>
            <a:ext cx="570586" cy="570586"/>
          </a:xfrm>
          <a:prstGeom prst="rect">
            <a:avLst/>
          </a:prstGeom>
        </p:spPr>
      </p:pic>
      <p:sp>
        <p:nvSpPr>
          <p:cNvPr id="28" name="Text 21"/>
          <p:cNvSpPr txBox="1"/>
          <p:nvPr/>
        </p:nvSpPr>
        <p:spPr>
          <a:xfrm>
            <a:off x="7086600" y="4114800"/>
            <a:ext cx="4553712" cy="411480"/>
          </a:xfrm>
          <a:prstGeom prst="rect">
            <a:avLst/>
          </a:prstGeom>
          <a:noFill/>
          <a:ln/>
        </p:spPr>
        <p:txBody>
          <a:bodyPr wrap="square" lIns="0" tIns="0" rIns="0" bIns="0" rtlCol="0" anchor="ctr"/>
          <a:lstStyle/>
          <a:p>
            <a:pPr marL="0" indent="0" algn="ctr">
              <a:buNone/>
            </a:pPr>
            <a:r>
              <a:rPr lang="en-US" sz="2000" b="1" dirty="0">
                <a:solidFill>
                  <a:schemeClr val="tx2"/>
                </a:solidFill>
                <a:latin typeface="Cambria" pitchFamily="34" charset="0"/>
                <a:ea typeface="Cambria" pitchFamily="34" charset="-122"/>
                <a:cs typeface="Cambria" pitchFamily="34" charset="-120"/>
              </a:rPr>
              <a:t>Open the tools live</a:t>
            </a:r>
            <a:endParaRPr lang="en-US" sz="2000" dirty="0"/>
          </a:p>
        </p:txBody>
      </p:sp>
      <p:sp>
        <p:nvSpPr>
          <p:cNvPr id="29" name="Text 22"/>
          <p:cNvSpPr txBox="1"/>
          <p:nvPr/>
        </p:nvSpPr>
        <p:spPr>
          <a:xfrm>
            <a:off x="7086600" y="4526280"/>
            <a:ext cx="4553712" cy="320040"/>
          </a:xfrm>
          <a:prstGeom prst="rect">
            <a:avLst/>
          </a:prstGeom>
          <a:noFill/>
          <a:ln/>
        </p:spPr>
        <p:txBody>
          <a:bodyPr wrap="square" lIns="0" tIns="0" rIns="0" bIns="0" rtlCol="0" anchor="ctr"/>
          <a:lstStyle/>
          <a:p>
            <a:pPr marL="0" indent="0" algn="ctr">
              <a:buNone/>
            </a:pPr>
            <a:r>
              <a:rPr lang="en-US" sz="1400" dirty="0">
                <a:solidFill>
                  <a:schemeClr val="accent5"/>
                </a:solidFill>
              </a:rPr>
              <a:t>Click a link on the left to jump straight in</a:t>
            </a:r>
            <a:endParaRPr lang="en-US" sz="1400" dirty="0"/>
          </a:p>
        </p:txBody>
      </p:sp>
      <p:sp>
        <p:nvSpPr>
          <p:cNvPr id="4"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OUR TOOLS</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OpenEPCIS Tools at a Glance</a:t>
            </a:r>
            <a:endParaRPr lang="en-US" sz="3600" dirty="0"/>
          </a:p>
        </p:txBody>
      </p:sp>
      <p:sp>
        <p:nvSpPr>
          <p:cNvPr id="5" name="Event Data Designer"/>
          <p:cNvSpPr/>
          <p:nvPr/>
        </p:nvSpPr>
        <p:spPr>
          <a:xfrm>
            <a:off x="548640" y="1783080"/>
            <a:ext cx="5394960" cy="1554480"/>
          </a:xfrm>
          <a:prstGeom prst="roundRect">
            <a:avLst>
              <a:gd name="adj" fmla="val 7059"/>
            </a:avLst>
          </a:prstGeom>
          <a:solidFill>
            <a:schemeClr val="bg2"/>
          </a:solidFill>
          <a:ln/>
        </p:spPr>
      </p:sp>
      <p:sp>
        <p:nvSpPr>
          <p:cNvPr id="6" name="Shape 3"/>
          <p:cNvSpPr/>
          <p:nvPr/>
        </p:nvSpPr>
        <p:spPr>
          <a:xfrm>
            <a:off x="868680" y="2148840"/>
            <a:ext cx="822960" cy="822960"/>
          </a:xfrm>
          <a:prstGeom prst="ellipse">
            <a:avLst/>
          </a:prstGeom>
          <a:solidFill>
            <a:schemeClr val="accent1"/>
          </a:solidFill>
          <a:ln/>
        </p:spPr>
      </p:sp>
      <p:pic>
        <p:nvPicPr>
          <p:cNvPr id="7" name="Image 0" descr="preencoded.png"/>
          <p:cNvPicPr>
            <a:picLocks noChangeAspect="1"/>
          </p:cNvPicPr>
          <p:nvPr/>
        </p:nvPicPr>
        <p:blipFill>
          <a:blip r:embed="rId3"/>
          <a:stretch>
            <a:fillRect/>
          </a:stretch>
        </p:blipFill>
        <p:spPr>
          <a:xfrm>
            <a:off x="1082650" y="2362810"/>
            <a:ext cx="395021" cy="395021"/>
          </a:xfrm>
          <a:prstGeom prst="rect">
            <a:avLst/>
          </a:prstGeom>
        </p:spPr>
      </p:pic>
      <p:sp>
        <p:nvSpPr>
          <p:cNvPr id="8" name="Text 4"/>
          <p:cNvSpPr txBox="1"/>
          <p:nvPr/>
        </p:nvSpPr>
        <p:spPr>
          <a:xfrm>
            <a:off x="1965960" y="2057400"/>
            <a:ext cx="3749040" cy="411480"/>
          </a:xfrm>
          <a:prstGeom prst="rect">
            <a:avLst/>
          </a:prstGeom>
          <a:noFill/>
          <a:ln/>
        </p:spPr>
        <p:txBody>
          <a:bodyPr wrap="square" lIns="0" tIns="0" rIns="0" bIns="0" rtlCol="0" anchor="ctr"/>
          <a:lstStyle/>
          <a:p>
            <a:pPr marL="0" indent="0">
              <a:buNone/>
            </a:pPr>
            <a:r>
              <a:rPr lang="en-US" sz="2000" b="1" dirty="0">
                <a:solidFill>
                  <a:schemeClr val="tx1"/>
                </a:solidFill>
              </a:rPr>
              <a:t>Event Data Designer</a:t>
            </a:r>
            <a:endParaRPr lang="en-US" sz="2000" dirty="0"/>
          </a:p>
        </p:txBody>
      </p:sp>
      <p:sp>
        <p:nvSpPr>
          <p:cNvPr id="9" name="Text 5"/>
          <p:cNvSpPr txBox="1"/>
          <p:nvPr/>
        </p:nvSpPr>
        <p:spPr>
          <a:xfrm>
            <a:off x="1965960" y="2468880"/>
            <a:ext cx="3749040" cy="320040"/>
          </a:xfrm>
          <a:prstGeom prst="rect">
            <a:avLst/>
          </a:prstGeom>
          <a:noFill/>
          <a:ln/>
        </p:spPr>
        <p:txBody>
          <a:bodyPr wrap="square" lIns="0" tIns="0" rIns="0" bIns="0" rtlCol="0" anchor="ctr"/>
          <a:lstStyle/>
          <a:p>
            <a:pPr marL="0" indent="0">
              <a:buNone/>
            </a:pPr>
            <a:r>
              <a:rPr lang="en-US" sz="1500" dirty="0">
                <a:solidFill>
                  <a:schemeClr val="tx1"/>
                </a:solidFill>
              </a:rPr>
              <a:t>Design EPCIS events visually</a:t>
            </a:r>
            <a:endParaRPr lang="en-US" sz="1500" dirty="0"/>
          </a:p>
        </p:txBody>
      </p:sp>
      <p:sp>
        <p:nvSpPr>
          <p:cNvPr id="10" name="Text 6"/>
          <p:cNvSpPr txBox="1"/>
          <p:nvPr/>
        </p:nvSpPr>
        <p:spPr>
          <a:xfrm>
            <a:off x="1965960" y="2834640"/>
            <a:ext cx="1828800" cy="274320"/>
          </a:xfrm>
          <a:prstGeom prst="rect">
            <a:avLst/>
          </a:prstGeom>
          <a:noFill/>
          <a:ln/>
        </p:spPr>
        <p:txBody>
          <a:bodyPr wrap="square" lIns="0" tIns="0" rIns="0" bIns="0" rtlCol="0" anchor="ctr"/>
          <a:lstStyle/>
          <a:p>
            <a:pPr marL="0" indent="0">
              <a:buNone/>
            </a:pPr>
            <a:r>
              <a:rPr lang="en-US" sz="1300" u="sng" dirty="0">
                <a:solidFill>
                  <a:schemeClr val="accent2"/>
                </a:solidFill>
                <a:hlinkClick r:id="rId4" tooltip="https://tools.openepcis.io/ui/event-data-designer">
                  <a:extLst>
                    <a:ext uri="{A12FA001-AC4F-418D-AE19-62706E023703}">
                      <ahyp:hlinkClr xmlns:ahyp="http://schemas.microsoft.com/office/drawing/2018/hyperlinkcolor" val="tx"/>
                    </a:ext>
                  </a:extLst>
                </a:hlinkClick>
              </a:rPr>
              <a:t>Open tool</a:t>
            </a:r>
            <a:endParaRPr lang="en-US" sz="1300" dirty="0"/>
          </a:p>
        </p:txBody>
      </p:sp>
      <p:sp>
        <p:nvSpPr>
          <p:cNvPr id="11" name="Event Data Generator"/>
          <p:cNvSpPr/>
          <p:nvPr/>
        </p:nvSpPr>
        <p:spPr>
          <a:xfrm>
            <a:off x="6217920" y="1783080"/>
            <a:ext cx="5394960" cy="1554480"/>
          </a:xfrm>
          <a:prstGeom prst="roundRect">
            <a:avLst>
              <a:gd name="adj" fmla="val 7059"/>
            </a:avLst>
          </a:prstGeom>
          <a:solidFill>
            <a:schemeClr val="bg2"/>
          </a:solidFill>
          <a:ln/>
        </p:spPr>
      </p:sp>
      <p:sp>
        <p:nvSpPr>
          <p:cNvPr id="12" name="Shape 8"/>
          <p:cNvSpPr/>
          <p:nvPr/>
        </p:nvSpPr>
        <p:spPr>
          <a:xfrm>
            <a:off x="6537960" y="2148840"/>
            <a:ext cx="822960" cy="822960"/>
          </a:xfrm>
          <a:prstGeom prst="ellipse">
            <a:avLst/>
          </a:prstGeom>
          <a:solidFill>
            <a:schemeClr val="accent1"/>
          </a:solidFill>
          <a:ln/>
        </p:spPr>
      </p:sp>
      <p:pic>
        <p:nvPicPr>
          <p:cNvPr id="13" name="Image 1" descr="preencoded.png"/>
          <p:cNvPicPr>
            <a:picLocks noChangeAspect="1"/>
          </p:cNvPicPr>
          <p:nvPr/>
        </p:nvPicPr>
        <p:blipFill>
          <a:blip r:embed="rId5"/>
          <a:stretch>
            <a:fillRect/>
          </a:stretch>
        </p:blipFill>
        <p:spPr>
          <a:xfrm>
            <a:off x="6751930" y="2362810"/>
            <a:ext cx="395021" cy="395021"/>
          </a:xfrm>
          <a:prstGeom prst="rect">
            <a:avLst/>
          </a:prstGeom>
        </p:spPr>
      </p:pic>
      <p:sp>
        <p:nvSpPr>
          <p:cNvPr id="14" name="Text 9"/>
          <p:cNvSpPr txBox="1"/>
          <p:nvPr/>
        </p:nvSpPr>
        <p:spPr>
          <a:xfrm>
            <a:off x="7635240" y="2057400"/>
            <a:ext cx="3749040" cy="411480"/>
          </a:xfrm>
          <a:prstGeom prst="rect">
            <a:avLst/>
          </a:prstGeom>
          <a:noFill/>
          <a:ln/>
        </p:spPr>
        <p:txBody>
          <a:bodyPr wrap="square" lIns="0" tIns="0" rIns="0" bIns="0" rtlCol="0" anchor="ctr"/>
          <a:lstStyle/>
          <a:p>
            <a:pPr marL="0" indent="0">
              <a:buNone/>
            </a:pPr>
            <a:r>
              <a:rPr lang="en-US" sz="2000" b="1" dirty="0">
                <a:solidFill>
                  <a:schemeClr val="tx1"/>
                </a:solidFill>
              </a:rPr>
              <a:t>Event Data Generator</a:t>
            </a:r>
            <a:endParaRPr lang="en-US" sz="2000" dirty="0"/>
          </a:p>
        </p:txBody>
      </p:sp>
      <p:sp>
        <p:nvSpPr>
          <p:cNvPr id="15" name="Text 10"/>
          <p:cNvSpPr txBox="1"/>
          <p:nvPr/>
        </p:nvSpPr>
        <p:spPr>
          <a:xfrm>
            <a:off x="7635240" y="2468880"/>
            <a:ext cx="3749040" cy="320040"/>
          </a:xfrm>
          <a:prstGeom prst="rect">
            <a:avLst/>
          </a:prstGeom>
          <a:noFill/>
          <a:ln/>
        </p:spPr>
        <p:txBody>
          <a:bodyPr wrap="square" lIns="0" tIns="0" rIns="0" bIns="0" rtlCol="0" anchor="ctr"/>
          <a:lstStyle/>
          <a:p>
            <a:pPr marL="0" indent="0">
              <a:buNone/>
            </a:pPr>
            <a:r>
              <a:rPr lang="en-US" sz="1500" dirty="0">
                <a:solidFill>
                  <a:schemeClr val="tx1"/>
                </a:solidFill>
              </a:rPr>
              <a:t>Realistic test data, at scale</a:t>
            </a:r>
            <a:endParaRPr lang="en-US" sz="1500" dirty="0"/>
          </a:p>
        </p:txBody>
      </p:sp>
      <p:sp>
        <p:nvSpPr>
          <p:cNvPr id="16" name="Text 11"/>
          <p:cNvSpPr txBox="1"/>
          <p:nvPr/>
        </p:nvSpPr>
        <p:spPr>
          <a:xfrm>
            <a:off x="7635240" y="2834640"/>
            <a:ext cx="1828800" cy="274320"/>
          </a:xfrm>
          <a:prstGeom prst="rect">
            <a:avLst/>
          </a:prstGeom>
          <a:noFill/>
          <a:ln/>
        </p:spPr>
        <p:txBody>
          <a:bodyPr wrap="square" lIns="0" tIns="0" rIns="0" bIns="0" rtlCol="0" anchor="ctr"/>
          <a:lstStyle/>
          <a:p>
            <a:pPr marL="0" indent="0">
              <a:buNone/>
            </a:pPr>
            <a:r>
              <a:rPr lang="en-US" sz="1300" u="sng" dirty="0">
                <a:solidFill>
                  <a:schemeClr val="accent2"/>
                </a:solidFill>
                <a:hlinkClick r:id="rId6" tooltip="https://tools.openepcis.io/ui/event-data-generator">
                  <a:extLst>
                    <a:ext uri="{A12FA001-AC4F-418D-AE19-62706E023703}">
                      <ahyp:hlinkClr xmlns:ahyp="http://schemas.microsoft.com/office/drawing/2018/hyperlinkcolor" val="tx"/>
                    </a:ext>
                  </a:extLst>
                </a:hlinkClick>
              </a:rPr>
              <a:t>Open tool</a:t>
            </a:r>
            <a:endParaRPr lang="en-US" sz="1300" dirty="0"/>
          </a:p>
        </p:txBody>
      </p:sp>
      <p:sp>
        <p:nvSpPr>
          <p:cNvPr id="17" name="Format Converter"/>
          <p:cNvSpPr/>
          <p:nvPr/>
        </p:nvSpPr>
        <p:spPr>
          <a:xfrm>
            <a:off x="548640" y="3611880"/>
            <a:ext cx="5394960" cy="1554480"/>
          </a:xfrm>
          <a:prstGeom prst="roundRect">
            <a:avLst>
              <a:gd name="adj" fmla="val 7059"/>
            </a:avLst>
          </a:prstGeom>
          <a:solidFill>
            <a:schemeClr val="bg2"/>
          </a:solidFill>
          <a:ln/>
        </p:spPr>
      </p:sp>
      <p:sp>
        <p:nvSpPr>
          <p:cNvPr id="18" name="Shape 13"/>
          <p:cNvSpPr/>
          <p:nvPr/>
        </p:nvSpPr>
        <p:spPr>
          <a:xfrm>
            <a:off x="868680" y="3977640"/>
            <a:ext cx="822960" cy="822960"/>
          </a:xfrm>
          <a:prstGeom prst="ellipse">
            <a:avLst/>
          </a:prstGeom>
          <a:solidFill>
            <a:schemeClr val="accent1"/>
          </a:solidFill>
          <a:ln/>
        </p:spPr>
      </p:sp>
      <p:pic>
        <p:nvPicPr>
          <p:cNvPr id="19" name="Image 2" descr="preencoded.png"/>
          <p:cNvPicPr>
            <a:picLocks noChangeAspect="1"/>
          </p:cNvPicPr>
          <p:nvPr/>
        </p:nvPicPr>
        <p:blipFill>
          <a:blip r:embed="rId7"/>
          <a:stretch>
            <a:fillRect/>
          </a:stretch>
        </p:blipFill>
        <p:spPr>
          <a:xfrm>
            <a:off x="1082650" y="4191610"/>
            <a:ext cx="395021" cy="395021"/>
          </a:xfrm>
          <a:prstGeom prst="rect">
            <a:avLst/>
          </a:prstGeom>
        </p:spPr>
      </p:pic>
      <p:sp>
        <p:nvSpPr>
          <p:cNvPr id="20" name="Text 14"/>
          <p:cNvSpPr txBox="1"/>
          <p:nvPr/>
        </p:nvSpPr>
        <p:spPr>
          <a:xfrm>
            <a:off x="1965960" y="3886200"/>
            <a:ext cx="3749040" cy="411480"/>
          </a:xfrm>
          <a:prstGeom prst="rect">
            <a:avLst/>
          </a:prstGeom>
          <a:noFill/>
          <a:ln/>
        </p:spPr>
        <p:txBody>
          <a:bodyPr wrap="square" lIns="0" tIns="0" rIns="0" bIns="0" rtlCol="0" anchor="ctr"/>
          <a:lstStyle/>
          <a:p>
            <a:pPr marL="0" indent="0">
              <a:buNone/>
            </a:pPr>
            <a:r>
              <a:rPr lang="en-US" sz="2000" b="1" dirty="0">
                <a:solidFill>
                  <a:schemeClr val="tx1"/>
                </a:solidFill>
              </a:rPr>
              <a:t>Format Converter</a:t>
            </a:r>
            <a:endParaRPr lang="en-US" sz="2000" dirty="0"/>
          </a:p>
        </p:txBody>
      </p:sp>
      <p:sp>
        <p:nvSpPr>
          <p:cNvPr id="21" name="Text 15"/>
          <p:cNvSpPr txBox="1"/>
          <p:nvPr/>
        </p:nvSpPr>
        <p:spPr>
          <a:xfrm>
            <a:off x="1965960" y="4297680"/>
            <a:ext cx="3749040" cy="320040"/>
          </a:xfrm>
          <a:prstGeom prst="rect">
            <a:avLst/>
          </a:prstGeom>
          <a:noFill/>
          <a:ln/>
        </p:spPr>
        <p:txBody>
          <a:bodyPr wrap="square" lIns="0" tIns="0" rIns="0" bIns="0" rtlCol="0" anchor="ctr"/>
          <a:lstStyle/>
          <a:p>
            <a:pPr marL="0" indent="0">
              <a:buNone/>
            </a:pPr>
            <a:r>
              <a:rPr lang="en-US" sz="1500" dirty="0">
                <a:solidFill>
                  <a:schemeClr val="tx1"/>
                </a:solidFill>
              </a:rPr>
              <a:t>XML and JSON, EPCIS 1.2 and 2.0</a:t>
            </a:r>
            <a:endParaRPr lang="en-US" sz="1500" dirty="0"/>
          </a:p>
        </p:txBody>
      </p:sp>
      <p:sp>
        <p:nvSpPr>
          <p:cNvPr id="22" name="Text 16"/>
          <p:cNvSpPr txBox="1"/>
          <p:nvPr/>
        </p:nvSpPr>
        <p:spPr>
          <a:xfrm>
            <a:off x="1965960" y="4663440"/>
            <a:ext cx="1828800" cy="274320"/>
          </a:xfrm>
          <a:prstGeom prst="rect">
            <a:avLst/>
          </a:prstGeom>
          <a:noFill/>
          <a:ln/>
        </p:spPr>
        <p:txBody>
          <a:bodyPr wrap="square" lIns="0" tIns="0" rIns="0" bIns="0" rtlCol="0" anchor="ctr"/>
          <a:lstStyle/>
          <a:p>
            <a:pPr marL="0" indent="0">
              <a:buNone/>
            </a:pPr>
            <a:r>
              <a:rPr lang="en-US" sz="1300" u="sng" dirty="0">
                <a:solidFill>
                  <a:schemeClr val="accent2"/>
                </a:solidFill>
                <a:hlinkClick r:id="rId8" tooltip="https://tools.openepcis.io/ui/format-converter">
                  <a:extLst>
                    <a:ext uri="{A12FA001-AC4F-418D-AE19-62706E023703}">
                      <ahyp:hlinkClr xmlns:ahyp="http://schemas.microsoft.com/office/drawing/2018/hyperlinkcolor" val="tx"/>
                    </a:ext>
                  </a:extLst>
                </a:hlinkClick>
              </a:rPr>
              <a:t>Open tool</a:t>
            </a:r>
            <a:endParaRPr lang="en-US" sz="1300" dirty="0"/>
          </a:p>
        </p:txBody>
      </p:sp>
      <p:sp>
        <p:nvSpPr>
          <p:cNvPr id="23" name="Event Hash Generator"/>
          <p:cNvSpPr/>
          <p:nvPr/>
        </p:nvSpPr>
        <p:spPr>
          <a:xfrm>
            <a:off x="6217920" y="3611880"/>
            <a:ext cx="5394960" cy="1554480"/>
          </a:xfrm>
          <a:prstGeom prst="roundRect">
            <a:avLst>
              <a:gd name="adj" fmla="val 7059"/>
            </a:avLst>
          </a:prstGeom>
          <a:solidFill>
            <a:schemeClr val="bg2"/>
          </a:solidFill>
          <a:ln/>
        </p:spPr>
      </p:sp>
      <p:sp>
        <p:nvSpPr>
          <p:cNvPr id="24" name="Shape 18"/>
          <p:cNvSpPr/>
          <p:nvPr/>
        </p:nvSpPr>
        <p:spPr>
          <a:xfrm>
            <a:off x="6537960" y="3977640"/>
            <a:ext cx="822960" cy="822960"/>
          </a:xfrm>
          <a:prstGeom prst="ellipse">
            <a:avLst/>
          </a:prstGeom>
          <a:solidFill>
            <a:schemeClr val="accent1"/>
          </a:solidFill>
          <a:ln/>
        </p:spPr>
      </p:sp>
      <p:pic>
        <p:nvPicPr>
          <p:cNvPr id="25" name="Image 3" descr="preencoded.png"/>
          <p:cNvPicPr>
            <a:picLocks noChangeAspect="1"/>
          </p:cNvPicPr>
          <p:nvPr/>
        </p:nvPicPr>
        <p:blipFill>
          <a:blip r:embed="rId9"/>
          <a:stretch>
            <a:fillRect/>
          </a:stretch>
        </p:blipFill>
        <p:spPr>
          <a:xfrm>
            <a:off x="6751930" y="4191610"/>
            <a:ext cx="395021" cy="395021"/>
          </a:xfrm>
          <a:prstGeom prst="rect">
            <a:avLst/>
          </a:prstGeom>
        </p:spPr>
      </p:pic>
      <p:sp>
        <p:nvSpPr>
          <p:cNvPr id="26" name="Text 19"/>
          <p:cNvSpPr txBox="1"/>
          <p:nvPr/>
        </p:nvSpPr>
        <p:spPr>
          <a:xfrm>
            <a:off x="7635240" y="3886200"/>
            <a:ext cx="3749040" cy="411480"/>
          </a:xfrm>
          <a:prstGeom prst="rect">
            <a:avLst/>
          </a:prstGeom>
          <a:noFill/>
          <a:ln/>
        </p:spPr>
        <p:txBody>
          <a:bodyPr wrap="square" lIns="0" tIns="0" rIns="0" bIns="0" rtlCol="0" anchor="ctr"/>
          <a:lstStyle/>
          <a:p>
            <a:pPr marL="0" indent="0">
              <a:buNone/>
            </a:pPr>
            <a:r>
              <a:rPr lang="en-US" sz="2000" b="1" dirty="0">
                <a:solidFill>
                  <a:schemeClr val="tx1"/>
                </a:solidFill>
              </a:rPr>
              <a:t>Event Hash Generator</a:t>
            </a:r>
            <a:endParaRPr lang="en-US" sz="2000" dirty="0"/>
          </a:p>
        </p:txBody>
      </p:sp>
      <p:sp>
        <p:nvSpPr>
          <p:cNvPr id="27" name="Text 20"/>
          <p:cNvSpPr txBox="1"/>
          <p:nvPr/>
        </p:nvSpPr>
        <p:spPr>
          <a:xfrm>
            <a:off x="7635240" y="4297680"/>
            <a:ext cx="3749040" cy="320040"/>
          </a:xfrm>
          <a:prstGeom prst="rect">
            <a:avLst/>
          </a:prstGeom>
          <a:noFill/>
          <a:ln/>
        </p:spPr>
        <p:txBody>
          <a:bodyPr wrap="square" lIns="0" tIns="0" rIns="0" bIns="0" rtlCol="0" anchor="ctr"/>
          <a:lstStyle/>
          <a:p>
            <a:pPr marL="0" indent="0">
              <a:buNone/>
            </a:pPr>
            <a:r>
              <a:rPr lang="en-US" sz="1500" dirty="0">
                <a:solidFill>
                  <a:schemeClr val="tx1"/>
                </a:solidFill>
              </a:rPr>
              <a:t>A fingerprint to spot duplicates</a:t>
            </a:r>
            <a:endParaRPr lang="en-US" sz="1500" dirty="0"/>
          </a:p>
        </p:txBody>
      </p:sp>
      <p:sp>
        <p:nvSpPr>
          <p:cNvPr id="28" name="Text 21"/>
          <p:cNvSpPr txBox="1"/>
          <p:nvPr/>
        </p:nvSpPr>
        <p:spPr>
          <a:xfrm>
            <a:off x="7635240" y="4663440"/>
            <a:ext cx="1828800" cy="274320"/>
          </a:xfrm>
          <a:prstGeom prst="rect">
            <a:avLst/>
          </a:prstGeom>
          <a:noFill/>
          <a:ln/>
        </p:spPr>
        <p:txBody>
          <a:bodyPr wrap="square" lIns="0" tIns="0" rIns="0" bIns="0" rtlCol="0" anchor="ctr"/>
          <a:lstStyle/>
          <a:p>
            <a:pPr marL="0" indent="0">
              <a:buNone/>
            </a:pPr>
            <a:r>
              <a:rPr lang="en-US" sz="1300" u="sng" dirty="0">
                <a:solidFill>
                  <a:schemeClr val="accent2"/>
                </a:solidFill>
                <a:hlinkClick r:id="rId10" tooltip="https://tools.openepcis.io/ui/event-hash-generator">
                  <a:extLst>
                    <a:ext uri="{A12FA001-AC4F-418D-AE19-62706E023703}">
                      <ahyp:hlinkClr xmlns:ahyp="http://schemas.microsoft.com/office/drawing/2018/hyperlinkcolor" val="tx"/>
                    </a:ext>
                  </a:extLst>
                </a:hlinkClick>
              </a:rPr>
              <a:t>Open tool</a:t>
            </a:r>
            <a:endParaRPr lang="en-US" sz="1300" dirty="0"/>
          </a:p>
        </p:txBody>
      </p:sp>
      <p:sp>
        <p:nvSpPr>
          <p:cNvPr id="29" name="Text 22"/>
          <p:cNvSpPr txBox="1"/>
          <p:nvPr/>
        </p:nvSpPr>
        <p:spPr>
          <a:xfrm>
            <a:off x="548640" y="5532120"/>
            <a:ext cx="11064240" cy="365760"/>
          </a:xfrm>
          <a:prstGeom prst="rect">
            <a:avLst/>
          </a:prstGeom>
          <a:noFill/>
          <a:ln/>
        </p:spPr>
        <p:txBody>
          <a:bodyPr wrap="square" lIns="0" tIns="0" rIns="0" bIns="0" rtlCol="0" anchor="ctr"/>
          <a:lstStyle/>
          <a:p>
            <a:pPr marL="0" indent="0">
              <a:buNone/>
            </a:pPr>
            <a:r>
              <a:rPr lang="en-US" sz="1500" dirty="0">
                <a:solidFill>
                  <a:schemeClr val="accent5"/>
                </a:solidFill>
              </a:rPr>
              <a:t>Try them all at  </a:t>
            </a:r>
            <a:r>
              <a:rPr lang="en-US" sz="1500" b="1" u="sng" dirty="0">
                <a:solidFill>
                  <a:schemeClr val="accent2"/>
                </a:solidFill>
                <a:hlinkClick r:id="rId11" tooltip="https://tools.openepcis.io/ui/">
                  <a:extLst>
                    <a:ext uri="{A12FA001-AC4F-418D-AE19-62706E023703}">
                      <ahyp:hlinkClr xmlns:ahyp="http://schemas.microsoft.com/office/drawing/2018/hyperlinkcolor" val="tx"/>
                    </a:ext>
                  </a:extLst>
                </a:hlinkClick>
              </a:rPr>
              <a:t>tools.openepcis.io</a:t>
            </a:r>
            <a:endParaRPr lang="en-US" sz="1500" dirty="0"/>
          </a:p>
        </p:txBody>
      </p:sp>
      <p:sp>
        <p:nvSpPr>
          <p:cNvPr id="4"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WHO WE ARE</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OpenEPCIS and benelog</a:t>
            </a:r>
            <a:endParaRPr lang="en-US" sz="3600" dirty="0"/>
          </a:p>
        </p:txBody>
      </p:sp>
      <p:sp>
        <p:nvSpPr>
          <p:cNvPr id="5" name="OpenEPCIS"/>
          <p:cNvSpPr/>
          <p:nvPr/>
        </p:nvSpPr>
        <p:spPr>
          <a:xfrm>
            <a:off x="548640" y="1783080"/>
            <a:ext cx="5394960" cy="3749040"/>
          </a:xfrm>
          <a:prstGeom prst="roundRect">
            <a:avLst>
              <a:gd name="adj" fmla="val 2927"/>
            </a:avLst>
          </a:prstGeom>
          <a:solidFill>
            <a:schemeClr val="bg2"/>
          </a:solidFill>
          <a:ln/>
        </p:spPr>
      </p:sp>
      <p:pic>
        <p:nvPicPr>
          <p:cNvPr id="6" name="Image 0" descr="/private/tmp/claude-502/-Users-aravinda-baligab-Downloads-EPCIS-Context-Issue/2683edc8-9c8b-4839-95e0-e04f849e6f42/scratchpad/deck/img/openepcis-logo-light.png"/>
          <p:cNvPicPr>
            <a:picLocks noChangeAspect="1"/>
          </p:cNvPicPr>
          <p:nvPr/>
        </p:nvPicPr>
        <p:blipFill>
          <a:blip r:embed="rId3"/>
          <a:stretch>
            <a:fillRect/>
          </a:stretch>
        </p:blipFill>
        <p:spPr>
          <a:xfrm>
            <a:off x="1005840" y="2148840"/>
            <a:ext cx="1719072" cy="731520"/>
          </a:xfrm>
          <a:prstGeom prst="rect">
            <a:avLst/>
          </a:prstGeom>
        </p:spPr>
      </p:pic>
      <p:sp>
        <p:nvSpPr>
          <p:cNvPr id="7" name="Text 3"/>
          <p:cNvSpPr txBox="1"/>
          <p:nvPr/>
        </p:nvSpPr>
        <p:spPr>
          <a:xfrm>
            <a:off x="1005840" y="3154680"/>
            <a:ext cx="4480560" cy="15544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Open-source EPCIS 2.0 software and tools</a:t>
            </a:r>
            <a:endParaRPr lang="en-US" sz="1700" dirty="0"/>
          </a:p>
          <a:p>
            <a:pPr marL="342900" indent="-342900">
              <a:spcAft>
                <a:spcPts val="800"/>
              </a:spcAft>
              <a:buSzPct val="100000"/>
              <a:buChar char="•"/>
            </a:pPr>
            <a:r>
              <a:rPr lang="en-US" sz="1700" dirty="0">
                <a:solidFill>
                  <a:schemeClr val="tx1"/>
                </a:solidFill>
              </a:rPr>
              <a:t>Apache 2.0 licence</a:t>
            </a:r>
            <a:endParaRPr lang="en-US" sz="1700" dirty="0"/>
          </a:p>
        </p:txBody>
      </p:sp>
      <p:sp>
        <p:nvSpPr>
          <p:cNvPr id="8" name="Text 4"/>
          <p:cNvSpPr txBox="1"/>
          <p:nvPr/>
        </p:nvSpPr>
        <p:spPr>
          <a:xfrm>
            <a:off x="1005840" y="4892040"/>
            <a:ext cx="4480560" cy="320040"/>
          </a:xfrm>
          <a:prstGeom prst="rect">
            <a:avLst/>
          </a:prstGeom>
          <a:noFill/>
          <a:ln/>
        </p:spPr>
        <p:txBody>
          <a:bodyPr wrap="square" lIns="0" tIns="0" rIns="0" bIns="0" rtlCol="0" anchor="ctr"/>
          <a:lstStyle/>
          <a:p>
            <a:pPr marL="0" indent="0">
              <a:buNone/>
            </a:pPr>
            <a:r>
              <a:rPr lang="en-US" sz="1500" u="sng" dirty="0">
                <a:solidFill>
                  <a:schemeClr val="accent2"/>
                </a:solidFill>
                <a:hlinkClick r:id="rId4" tooltip="https://github.com/openepcis">
                  <a:extLst>
                    <a:ext uri="{A12FA001-AC4F-418D-AE19-62706E023703}">
                      <ahyp:hlinkClr xmlns:ahyp="http://schemas.microsoft.com/office/drawing/2018/hyperlinkcolor" val="tx"/>
                    </a:ext>
                  </a:extLst>
                </a:hlinkClick>
              </a:rPr>
              <a:t>GitHub</a:t>
            </a:r>
            <a:r>
              <a:rPr lang="en-US" sz="1500" dirty="0">
                <a:solidFill>
                  <a:schemeClr val="accent6"/>
                </a:solidFill>
              </a:rPr>
              <a:t>   |   </a:t>
            </a:r>
            <a:r>
              <a:rPr lang="en-US" sz="1500" u="sng" dirty="0">
                <a:solidFill>
                  <a:schemeClr val="accent2"/>
                </a:solidFill>
                <a:hlinkClick r:id="rId5" tooltip="https://openepcis.io">
                  <a:extLst>
                    <a:ext uri="{A12FA001-AC4F-418D-AE19-62706E023703}">
                      <ahyp:hlinkClr xmlns:ahyp="http://schemas.microsoft.com/office/drawing/2018/hyperlinkcolor" val="tx"/>
                    </a:ext>
                  </a:extLst>
                </a:hlinkClick>
              </a:rPr>
              <a:t>openepcis.io</a:t>
            </a:r>
            <a:endParaRPr lang="en-US" sz="1500" dirty="0"/>
          </a:p>
        </p:txBody>
      </p:sp>
      <p:sp>
        <p:nvSpPr>
          <p:cNvPr id="9" name="benelog"/>
          <p:cNvSpPr/>
          <p:nvPr/>
        </p:nvSpPr>
        <p:spPr>
          <a:xfrm>
            <a:off x="6217920" y="1783080"/>
            <a:ext cx="5394960" cy="3749040"/>
          </a:xfrm>
          <a:prstGeom prst="roundRect">
            <a:avLst>
              <a:gd name="adj" fmla="val 2927"/>
            </a:avLst>
          </a:prstGeom>
          <a:solidFill>
            <a:schemeClr val="bg2"/>
          </a:solidFill>
          <a:ln/>
        </p:spPr>
      </p:sp>
      <p:pic>
        <p:nvPicPr>
          <p:cNvPr id="10" name="Image 1" descr="/private/tmp/claude-502/-Users-aravinda-baligab-Downloads-EPCIS-Context-Issue/2683edc8-9c8b-4839-95e0-e04f849e6f42/scratchpad/deck/img/benelog-logo-light.png"/>
          <p:cNvPicPr>
            <a:picLocks noChangeAspect="1"/>
          </p:cNvPicPr>
          <p:nvPr/>
        </p:nvPicPr>
        <p:blipFill>
          <a:blip r:embed="rId6"/>
          <a:stretch>
            <a:fillRect/>
          </a:stretch>
        </p:blipFill>
        <p:spPr>
          <a:xfrm>
            <a:off x="6675120" y="2331720"/>
            <a:ext cx="1700784" cy="365760"/>
          </a:xfrm>
          <a:prstGeom prst="rect">
            <a:avLst/>
          </a:prstGeom>
        </p:spPr>
      </p:pic>
      <p:sp>
        <p:nvSpPr>
          <p:cNvPr id="11" name="Text 6"/>
          <p:cNvSpPr txBox="1"/>
          <p:nvPr/>
        </p:nvSpPr>
        <p:spPr>
          <a:xfrm>
            <a:off x="6675120" y="3154680"/>
            <a:ext cx="4480560" cy="15544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The team behind OpenEPCIS</a:t>
            </a:r>
            <a:endParaRPr lang="en-US" sz="1700" dirty="0"/>
          </a:p>
          <a:p>
            <a:pPr marL="342900" indent="-342900">
              <a:spcAft>
                <a:spcPts val="800"/>
              </a:spcAft>
              <a:buSzPct val="100000"/>
              <a:buChar char="•"/>
            </a:pPr>
            <a:r>
              <a:rPr lang="en-US" sz="1700" dirty="0">
                <a:solidFill>
                  <a:schemeClr val="tx1"/>
                </a:solidFill>
              </a:rPr>
              <a:t>Active in the GS1 EPCIS and CBV standards work</a:t>
            </a:r>
            <a:endParaRPr lang="en-US" sz="1700" dirty="0"/>
          </a:p>
          <a:p>
            <a:pPr marL="342900" indent="-342900">
              <a:spcAft>
                <a:spcPts val="800"/>
              </a:spcAft>
              <a:buSzPct val="100000"/>
              <a:buChar char="•"/>
            </a:pPr>
            <a:r>
              <a:rPr lang="en-US" sz="1700" dirty="0">
                <a:solidFill>
                  <a:schemeClr val="tx1"/>
                </a:solidFill>
              </a:rPr>
              <a:t>EPCIS projects, integration and support</a:t>
            </a:r>
            <a:endParaRPr lang="en-US" sz="1700" dirty="0"/>
          </a:p>
        </p:txBody>
      </p:sp>
      <p:sp>
        <p:nvSpPr>
          <p:cNvPr id="12" name="Text 7"/>
          <p:cNvSpPr txBox="1"/>
          <p:nvPr/>
        </p:nvSpPr>
        <p:spPr>
          <a:xfrm>
            <a:off x="6675120" y="4892040"/>
            <a:ext cx="4480560" cy="320040"/>
          </a:xfrm>
          <a:prstGeom prst="rect">
            <a:avLst/>
          </a:prstGeom>
          <a:noFill/>
          <a:ln/>
        </p:spPr>
        <p:txBody>
          <a:bodyPr wrap="square" lIns="0" tIns="0" rIns="0" bIns="0" rtlCol="0" anchor="ctr"/>
          <a:lstStyle/>
          <a:p>
            <a:pPr marL="0" indent="0">
              <a:buNone/>
            </a:pPr>
            <a:r>
              <a:rPr lang="en-US" sz="1500" u="sng" dirty="0">
                <a:solidFill>
                  <a:schemeClr val="accent2"/>
                </a:solidFill>
                <a:hlinkClick r:id="rId7" tooltip="https://benelog.com">
                  <a:extLst>
                    <a:ext uri="{A12FA001-AC4F-418D-AE19-62706E023703}">
                      <ahyp:hlinkClr xmlns:ahyp="http://schemas.microsoft.com/office/drawing/2018/hyperlinkcolor" val="tx"/>
                    </a:ext>
                  </a:extLst>
                </a:hlinkClick>
              </a:rPr>
              <a:t>benelog.com</a:t>
            </a:r>
            <a:r>
              <a:rPr lang="en-US" sz="1500" dirty="0">
                <a:solidFill>
                  <a:schemeClr val="accent6"/>
                </a:solidFill>
              </a:rPr>
              <a:t>   |   </a:t>
            </a:r>
            <a:r>
              <a:rPr lang="en-US" sz="1500" u="sng" dirty="0">
                <a:solidFill>
                  <a:schemeClr val="accent2"/>
                </a:solidFill>
                <a:hlinkClick r:id="rId8" tooltip="https://openepcis.io/offers/business-edition">
                  <a:extLst>
                    <a:ext uri="{A12FA001-AC4F-418D-AE19-62706E023703}">
                      <ahyp:hlinkClr xmlns:ahyp="http://schemas.microsoft.com/office/drawing/2018/hyperlinkcolor" val="tx"/>
                    </a:ext>
                  </a:extLst>
                </a:hlinkClick>
              </a:rPr>
              <a:t>Business Edition</a:t>
            </a:r>
            <a:r>
              <a:rPr lang="en-US" sz="1500" dirty="0">
                <a:solidFill>
                  <a:schemeClr val="accent6"/>
                </a:solidFill>
              </a:rPr>
              <a:t>   |   </a:t>
            </a:r>
            <a:r>
              <a:rPr lang="en-US" sz="1500" u="sng" dirty="0">
                <a:solidFill>
                  <a:schemeClr val="accent2"/>
                </a:solidFill>
                <a:hlinkClick r:id="rId9" tooltip="https://www.linkedin.com/company/benelog">
                  <a:extLst>
                    <a:ext uri="{A12FA001-AC4F-418D-AE19-62706E023703}">
                      <ahyp:hlinkClr xmlns:ahyp="http://schemas.microsoft.com/office/drawing/2018/hyperlinkcolor" val="tx"/>
                    </a:ext>
                  </a:extLst>
                </a:hlinkClick>
              </a:rPr>
              <a:t>LinkedIn</a:t>
            </a:r>
            <a:endParaRPr lang="en-US" sz="1500" dirty="0"/>
          </a:p>
        </p:txBody>
      </p:sp>
      <p:sp>
        <p:nvSpPr>
          <p:cNvPr id="25"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WHAT'S NEXT</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Coming Up in the Series</a:t>
            </a:r>
            <a:endParaRPr lang="en-US" sz="3600" dirty="0"/>
          </a:p>
        </p:txBody>
      </p:sp>
      <p:sp>
        <p:nvSpPr>
          <p:cNvPr id="5" name="Week 2"/>
          <p:cNvSpPr/>
          <p:nvPr/>
        </p:nvSpPr>
        <p:spPr>
          <a:xfrm>
            <a:off x="548640" y="1783080"/>
            <a:ext cx="3566160" cy="1051560"/>
          </a:xfrm>
          <a:prstGeom prst="roundRect">
            <a:avLst>
              <a:gd name="adj" fmla="val 10435"/>
            </a:avLst>
          </a:prstGeom>
          <a:solidFill>
            <a:schemeClr val="accent1"/>
          </a:solidFill>
          <a:ln/>
        </p:spPr>
      </p:sp>
      <p:sp>
        <p:nvSpPr>
          <p:cNvPr id="6" name="Text 3"/>
          <p:cNvSpPr txBox="1"/>
          <p:nvPr/>
        </p:nvSpPr>
        <p:spPr>
          <a:xfrm>
            <a:off x="822960" y="1947672"/>
            <a:ext cx="3017520" cy="274320"/>
          </a:xfrm>
          <a:prstGeom prst="rect">
            <a:avLst/>
          </a:prstGeom>
          <a:noFill/>
          <a:ln/>
        </p:spPr>
        <p:txBody>
          <a:bodyPr wrap="square" lIns="0" tIns="0" rIns="0" bIns="0" rtlCol="0" anchor="ctr"/>
          <a:lstStyle/>
          <a:p>
            <a:pPr marL="0" indent="0">
              <a:buNone/>
            </a:pPr>
            <a:r>
              <a:rPr lang="en-US" sz="1100" b="1" kern="0" spc="200" dirty="0">
                <a:solidFill>
                  <a:srgbClr val="9DB9E8"/>
                </a:solidFill>
              </a:rPr>
              <a:t>NEXT WEEK</a:t>
            </a:r>
            <a:endParaRPr lang="en-US" sz="1100" dirty="0"/>
          </a:p>
        </p:txBody>
      </p:sp>
      <p:sp>
        <p:nvSpPr>
          <p:cNvPr id="7" name="Text 4"/>
          <p:cNvSpPr txBox="1"/>
          <p:nvPr/>
        </p:nvSpPr>
        <p:spPr>
          <a:xfrm>
            <a:off x="822960" y="2221992"/>
            <a:ext cx="3017520" cy="457200"/>
          </a:xfrm>
          <a:prstGeom prst="rect">
            <a:avLst/>
          </a:prstGeom>
          <a:noFill/>
          <a:ln/>
        </p:spPr>
        <p:txBody>
          <a:bodyPr wrap="square" lIns="0" tIns="0" rIns="0" bIns="0" rtlCol="0" anchor="t"/>
          <a:lstStyle/>
          <a:p>
            <a:pPr marL="0" indent="0">
              <a:buNone/>
            </a:pPr>
            <a:r>
              <a:rPr lang="en-US" sz="1600" b="1" dirty="0">
                <a:solidFill>
                  <a:schemeClr val="bg1"/>
                </a:solidFill>
              </a:rPr>
              <a:t>Identifiers and GS1 Digital Link</a:t>
            </a:r>
            <a:endParaRPr lang="en-US" sz="1600" dirty="0"/>
          </a:p>
        </p:txBody>
      </p:sp>
      <p:sp>
        <p:nvSpPr>
          <p:cNvPr id="8" name="Week 3"/>
          <p:cNvSpPr/>
          <p:nvPr/>
        </p:nvSpPr>
        <p:spPr>
          <a:xfrm>
            <a:off x="4297680" y="1783080"/>
            <a:ext cx="3566160" cy="1051560"/>
          </a:xfrm>
          <a:prstGeom prst="roundRect">
            <a:avLst>
              <a:gd name="adj" fmla="val 10435"/>
            </a:avLst>
          </a:prstGeom>
          <a:solidFill>
            <a:schemeClr val="bg2"/>
          </a:solidFill>
          <a:ln/>
        </p:spPr>
      </p:sp>
      <p:sp>
        <p:nvSpPr>
          <p:cNvPr id="9" name="Text 6"/>
          <p:cNvSpPr txBox="1"/>
          <p:nvPr/>
        </p:nvSpPr>
        <p:spPr>
          <a:xfrm>
            <a:off x="4572000" y="1947672"/>
            <a:ext cx="301752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WEEK 3</a:t>
            </a:r>
            <a:endParaRPr lang="en-US" sz="1100" dirty="0"/>
          </a:p>
        </p:txBody>
      </p:sp>
      <p:sp>
        <p:nvSpPr>
          <p:cNvPr id="10" name="Text 7"/>
          <p:cNvSpPr txBox="1"/>
          <p:nvPr/>
        </p:nvSpPr>
        <p:spPr>
          <a:xfrm>
            <a:off x="4572000" y="2221992"/>
            <a:ext cx="3017520" cy="457200"/>
          </a:xfrm>
          <a:prstGeom prst="rect">
            <a:avLst/>
          </a:prstGeom>
          <a:noFill/>
          <a:ln/>
        </p:spPr>
        <p:txBody>
          <a:bodyPr wrap="square" lIns="0" tIns="0" rIns="0" bIns="0" rtlCol="0" anchor="t"/>
          <a:lstStyle/>
          <a:p>
            <a:pPr marL="0" indent="0">
              <a:buNone/>
            </a:pPr>
            <a:r>
              <a:rPr lang="en-US" sz="1600" b="1" dirty="0">
                <a:solidFill>
                  <a:schemeClr val="tx1"/>
                </a:solidFill>
              </a:rPr>
              <a:t>The five event types</a:t>
            </a:r>
            <a:endParaRPr lang="en-US" sz="1600" dirty="0"/>
          </a:p>
        </p:txBody>
      </p:sp>
      <p:sp>
        <p:nvSpPr>
          <p:cNvPr id="11" name="Week 4"/>
          <p:cNvSpPr/>
          <p:nvPr/>
        </p:nvSpPr>
        <p:spPr>
          <a:xfrm>
            <a:off x="8046720" y="1783080"/>
            <a:ext cx="3566160" cy="1051560"/>
          </a:xfrm>
          <a:prstGeom prst="roundRect">
            <a:avLst>
              <a:gd name="adj" fmla="val 10435"/>
            </a:avLst>
          </a:prstGeom>
          <a:solidFill>
            <a:schemeClr val="bg2"/>
          </a:solidFill>
          <a:ln/>
        </p:spPr>
      </p:sp>
      <p:sp>
        <p:nvSpPr>
          <p:cNvPr id="12" name="Text 9"/>
          <p:cNvSpPr txBox="1"/>
          <p:nvPr/>
        </p:nvSpPr>
        <p:spPr>
          <a:xfrm>
            <a:off x="8321040" y="1947672"/>
            <a:ext cx="301752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WEEK 4</a:t>
            </a:r>
            <a:endParaRPr lang="en-US" sz="1100" dirty="0"/>
          </a:p>
        </p:txBody>
      </p:sp>
      <p:sp>
        <p:nvSpPr>
          <p:cNvPr id="13" name="Text 10"/>
          <p:cNvSpPr txBox="1"/>
          <p:nvPr/>
        </p:nvSpPr>
        <p:spPr>
          <a:xfrm>
            <a:off x="8321040" y="2221992"/>
            <a:ext cx="3017520" cy="457200"/>
          </a:xfrm>
          <a:prstGeom prst="rect">
            <a:avLst/>
          </a:prstGeom>
          <a:noFill/>
          <a:ln/>
        </p:spPr>
        <p:txBody>
          <a:bodyPr wrap="square" lIns="0" tIns="0" rIns="0" bIns="0" rtlCol="0" anchor="t"/>
          <a:lstStyle/>
          <a:p>
            <a:pPr marL="0" indent="0">
              <a:buNone/>
            </a:pPr>
            <a:r>
              <a:rPr lang="en-US" sz="1600" b="1" dirty="0">
                <a:solidFill>
                  <a:schemeClr val="tx1"/>
                </a:solidFill>
              </a:rPr>
              <a:t>CBV and master data</a:t>
            </a:r>
            <a:endParaRPr lang="en-US" sz="1600" dirty="0"/>
          </a:p>
        </p:txBody>
      </p:sp>
      <p:sp>
        <p:nvSpPr>
          <p:cNvPr id="14" name="Week 5"/>
          <p:cNvSpPr/>
          <p:nvPr/>
        </p:nvSpPr>
        <p:spPr>
          <a:xfrm>
            <a:off x="548640" y="3063240"/>
            <a:ext cx="3566160" cy="1051560"/>
          </a:xfrm>
          <a:prstGeom prst="roundRect">
            <a:avLst>
              <a:gd name="adj" fmla="val 10435"/>
            </a:avLst>
          </a:prstGeom>
          <a:solidFill>
            <a:schemeClr val="bg2"/>
          </a:solidFill>
          <a:ln/>
        </p:spPr>
      </p:sp>
      <p:sp>
        <p:nvSpPr>
          <p:cNvPr id="15" name="Text 12"/>
          <p:cNvSpPr txBox="1"/>
          <p:nvPr/>
        </p:nvSpPr>
        <p:spPr>
          <a:xfrm>
            <a:off x="822960" y="3227832"/>
            <a:ext cx="301752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WEEK 5</a:t>
            </a:r>
            <a:endParaRPr lang="en-US" sz="1100" dirty="0"/>
          </a:p>
        </p:txBody>
      </p:sp>
      <p:sp>
        <p:nvSpPr>
          <p:cNvPr id="16" name="Text 13"/>
          <p:cNvSpPr txBox="1"/>
          <p:nvPr/>
        </p:nvSpPr>
        <p:spPr>
          <a:xfrm>
            <a:off x="822960" y="3502152"/>
            <a:ext cx="3017520" cy="457200"/>
          </a:xfrm>
          <a:prstGeom prst="rect">
            <a:avLst/>
          </a:prstGeom>
          <a:noFill/>
          <a:ln/>
        </p:spPr>
        <p:txBody>
          <a:bodyPr wrap="square" lIns="0" tIns="0" rIns="0" bIns="0" rtlCol="0" anchor="t"/>
          <a:lstStyle/>
          <a:p>
            <a:pPr marL="0" indent="0">
              <a:buNone/>
            </a:pPr>
            <a:r>
              <a:rPr lang="en-US" sz="1600" b="1" dirty="0">
                <a:solidFill>
                  <a:schemeClr val="tx1"/>
                </a:solidFill>
              </a:rPr>
              <a:t>XML or JSON? One event, two formats</a:t>
            </a:r>
            <a:endParaRPr lang="en-US" sz="1600" dirty="0"/>
          </a:p>
        </p:txBody>
      </p:sp>
      <p:sp>
        <p:nvSpPr>
          <p:cNvPr id="17" name="Week 6"/>
          <p:cNvSpPr/>
          <p:nvPr/>
        </p:nvSpPr>
        <p:spPr>
          <a:xfrm>
            <a:off x="4297680" y="3063240"/>
            <a:ext cx="3566160" cy="1051560"/>
          </a:xfrm>
          <a:prstGeom prst="roundRect">
            <a:avLst>
              <a:gd name="adj" fmla="val 10435"/>
            </a:avLst>
          </a:prstGeom>
          <a:solidFill>
            <a:schemeClr val="bg2"/>
          </a:solidFill>
          <a:ln/>
        </p:spPr>
      </p:sp>
      <p:sp>
        <p:nvSpPr>
          <p:cNvPr id="18" name="Text 15"/>
          <p:cNvSpPr txBox="1"/>
          <p:nvPr/>
        </p:nvSpPr>
        <p:spPr>
          <a:xfrm>
            <a:off x="4572000" y="3227832"/>
            <a:ext cx="301752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WEEK 6</a:t>
            </a:r>
            <a:endParaRPr lang="en-US" sz="1100" dirty="0"/>
          </a:p>
        </p:txBody>
      </p:sp>
      <p:sp>
        <p:nvSpPr>
          <p:cNvPr id="19" name="Text 16"/>
          <p:cNvSpPr txBox="1"/>
          <p:nvPr/>
        </p:nvSpPr>
        <p:spPr>
          <a:xfrm>
            <a:off x="4572000" y="3502152"/>
            <a:ext cx="3017520" cy="457200"/>
          </a:xfrm>
          <a:prstGeom prst="rect">
            <a:avLst/>
          </a:prstGeom>
          <a:noFill/>
          <a:ln/>
        </p:spPr>
        <p:txBody>
          <a:bodyPr wrap="square" lIns="0" tIns="0" rIns="0" bIns="0" rtlCol="0" anchor="t"/>
          <a:lstStyle/>
          <a:p>
            <a:pPr marL="0" indent="0">
              <a:buNone/>
            </a:pPr>
            <a:r>
              <a:rPr lang="en-US" sz="1600" b="1" dirty="0">
                <a:solidFill>
                  <a:schemeClr val="tx1"/>
                </a:solidFill>
              </a:rPr>
              <a:t>Validation and partner profiles</a:t>
            </a:r>
            <a:endParaRPr lang="en-US" sz="1600" dirty="0"/>
          </a:p>
        </p:txBody>
      </p:sp>
      <p:sp>
        <p:nvSpPr>
          <p:cNvPr id="20" name="Week 7"/>
          <p:cNvSpPr/>
          <p:nvPr/>
        </p:nvSpPr>
        <p:spPr>
          <a:xfrm>
            <a:off x="8046720" y="3063240"/>
            <a:ext cx="3566160" cy="1051560"/>
          </a:xfrm>
          <a:prstGeom prst="roundRect">
            <a:avLst>
              <a:gd name="adj" fmla="val 10435"/>
            </a:avLst>
          </a:prstGeom>
          <a:solidFill>
            <a:schemeClr val="bg2"/>
          </a:solidFill>
          <a:ln/>
        </p:spPr>
      </p:sp>
      <p:sp>
        <p:nvSpPr>
          <p:cNvPr id="21" name="Text 18"/>
          <p:cNvSpPr txBox="1"/>
          <p:nvPr/>
        </p:nvSpPr>
        <p:spPr>
          <a:xfrm>
            <a:off x="8321040" y="3227832"/>
            <a:ext cx="301752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WEEK 7</a:t>
            </a:r>
            <a:endParaRPr lang="en-US" sz="1100" dirty="0"/>
          </a:p>
        </p:txBody>
      </p:sp>
      <p:sp>
        <p:nvSpPr>
          <p:cNvPr id="22" name="Text 19"/>
          <p:cNvSpPr txBox="1"/>
          <p:nvPr/>
        </p:nvSpPr>
        <p:spPr>
          <a:xfrm>
            <a:off x="8321040" y="3502152"/>
            <a:ext cx="3017520" cy="457200"/>
          </a:xfrm>
          <a:prstGeom prst="rect">
            <a:avLst/>
          </a:prstGeom>
          <a:noFill/>
          <a:ln/>
        </p:spPr>
        <p:txBody>
          <a:bodyPr wrap="square" lIns="0" tIns="0" rIns="0" bIns="0" rtlCol="0" anchor="t"/>
          <a:lstStyle/>
          <a:p>
            <a:pPr marL="0" indent="0">
              <a:buNone/>
            </a:pPr>
            <a:r>
              <a:rPr lang="en-US" sz="1600" b="1" dirty="0">
                <a:solidFill>
                  <a:schemeClr val="tx1"/>
                </a:solidFill>
              </a:rPr>
              <a:t>Event hash and duplicates</a:t>
            </a:r>
            <a:endParaRPr lang="en-US" sz="1600" dirty="0"/>
          </a:p>
        </p:txBody>
      </p:sp>
      <p:sp>
        <p:nvSpPr>
          <p:cNvPr id="23" name="Week 8"/>
          <p:cNvSpPr/>
          <p:nvPr/>
        </p:nvSpPr>
        <p:spPr>
          <a:xfrm>
            <a:off x="548640" y="4343400"/>
            <a:ext cx="3566160" cy="1051560"/>
          </a:xfrm>
          <a:prstGeom prst="roundRect">
            <a:avLst>
              <a:gd name="adj" fmla="val 10435"/>
            </a:avLst>
          </a:prstGeom>
          <a:solidFill>
            <a:schemeClr val="bg2"/>
          </a:solidFill>
          <a:ln/>
        </p:spPr>
      </p:sp>
      <p:sp>
        <p:nvSpPr>
          <p:cNvPr id="24" name="Text 21"/>
          <p:cNvSpPr txBox="1"/>
          <p:nvPr/>
        </p:nvSpPr>
        <p:spPr>
          <a:xfrm>
            <a:off x="822960" y="4507992"/>
            <a:ext cx="301752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WEEK 8</a:t>
            </a:r>
            <a:endParaRPr lang="en-US" sz="1100" dirty="0"/>
          </a:p>
        </p:txBody>
      </p:sp>
      <p:sp>
        <p:nvSpPr>
          <p:cNvPr id="25" name="Text 22"/>
          <p:cNvSpPr txBox="1"/>
          <p:nvPr/>
        </p:nvSpPr>
        <p:spPr>
          <a:xfrm>
            <a:off x="822960" y="4782312"/>
            <a:ext cx="3017520" cy="457200"/>
          </a:xfrm>
          <a:prstGeom prst="rect">
            <a:avLst/>
          </a:prstGeom>
          <a:noFill/>
          <a:ln/>
        </p:spPr>
        <p:txBody>
          <a:bodyPr wrap="square" lIns="0" tIns="0" rIns="0" bIns="0" rtlCol="0" anchor="t"/>
          <a:lstStyle/>
          <a:p>
            <a:pPr marL="0" indent="0">
              <a:buNone/>
            </a:pPr>
            <a:r>
              <a:rPr lang="en-US" sz="1600" b="1" dirty="0">
                <a:solidFill>
                  <a:schemeClr val="tx1"/>
                </a:solidFill>
              </a:rPr>
              <a:t>From test data to a working system</a:t>
            </a:r>
            <a:endParaRPr lang="en-US" sz="1600" dirty="0"/>
          </a:p>
        </p:txBody>
      </p:sp>
      <p:sp>
        <p:nvSpPr>
          <p:cNvPr id="26" name="Week 9"/>
          <p:cNvSpPr/>
          <p:nvPr/>
        </p:nvSpPr>
        <p:spPr>
          <a:xfrm>
            <a:off x="4297680" y="4343400"/>
            <a:ext cx="3566160" cy="1051560"/>
          </a:xfrm>
          <a:prstGeom prst="roundRect">
            <a:avLst>
              <a:gd name="adj" fmla="val 10435"/>
            </a:avLst>
          </a:prstGeom>
          <a:solidFill>
            <a:schemeClr val="bg2"/>
          </a:solidFill>
          <a:ln/>
        </p:spPr>
      </p:sp>
      <p:sp>
        <p:nvSpPr>
          <p:cNvPr id="27" name="Text 24"/>
          <p:cNvSpPr txBox="1"/>
          <p:nvPr/>
        </p:nvSpPr>
        <p:spPr>
          <a:xfrm>
            <a:off x="4572000" y="4507992"/>
            <a:ext cx="301752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WEEK 9</a:t>
            </a:r>
            <a:endParaRPr lang="en-US" sz="1100" dirty="0"/>
          </a:p>
        </p:txBody>
      </p:sp>
      <p:sp>
        <p:nvSpPr>
          <p:cNvPr id="28" name="Text 25"/>
          <p:cNvSpPr txBox="1"/>
          <p:nvPr/>
        </p:nvSpPr>
        <p:spPr>
          <a:xfrm>
            <a:off x="4572000" y="4782312"/>
            <a:ext cx="3017520" cy="457200"/>
          </a:xfrm>
          <a:prstGeom prst="rect">
            <a:avLst/>
          </a:prstGeom>
          <a:noFill/>
          <a:ln/>
        </p:spPr>
        <p:txBody>
          <a:bodyPr wrap="square" lIns="0" tIns="0" rIns="0" bIns="0" rtlCol="0" anchor="t"/>
          <a:lstStyle/>
          <a:p>
            <a:pPr marL="0" indent="0">
              <a:buNone/>
            </a:pPr>
            <a:r>
              <a:rPr lang="en-US" sz="1600" b="1" dirty="0">
                <a:solidFill>
                  <a:schemeClr val="tx1"/>
                </a:solidFill>
              </a:rPr>
              <a:t>EPCIS and the Digital Product Passport</a:t>
            </a:r>
            <a:endParaRPr lang="en-US" sz="1600" dirty="0"/>
          </a:p>
        </p:txBody>
      </p:sp>
      <p:sp>
        <p:nvSpPr>
          <p:cNvPr id="29" name="Week 10"/>
          <p:cNvSpPr/>
          <p:nvPr/>
        </p:nvSpPr>
        <p:spPr>
          <a:xfrm>
            <a:off x="8046720" y="4343400"/>
            <a:ext cx="3566160" cy="1051560"/>
          </a:xfrm>
          <a:prstGeom prst="roundRect">
            <a:avLst>
              <a:gd name="adj" fmla="val 10435"/>
            </a:avLst>
          </a:prstGeom>
          <a:solidFill>
            <a:schemeClr val="bg2"/>
          </a:solidFill>
          <a:ln/>
        </p:spPr>
      </p:sp>
      <p:sp>
        <p:nvSpPr>
          <p:cNvPr id="30" name="Text 27"/>
          <p:cNvSpPr txBox="1"/>
          <p:nvPr/>
        </p:nvSpPr>
        <p:spPr>
          <a:xfrm>
            <a:off x="8321040" y="4507992"/>
            <a:ext cx="301752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WEEK 10</a:t>
            </a:r>
            <a:endParaRPr lang="en-US" sz="1100" dirty="0"/>
          </a:p>
        </p:txBody>
      </p:sp>
      <p:sp>
        <p:nvSpPr>
          <p:cNvPr id="31" name="Text 28"/>
          <p:cNvSpPr txBox="1"/>
          <p:nvPr/>
        </p:nvSpPr>
        <p:spPr>
          <a:xfrm>
            <a:off x="8321040" y="4782312"/>
            <a:ext cx="3017520" cy="457200"/>
          </a:xfrm>
          <a:prstGeom prst="rect">
            <a:avLst/>
          </a:prstGeom>
          <a:noFill/>
          <a:ln/>
        </p:spPr>
        <p:txBody>
          <a:bodyPr wrap="square" lIns="0" tIns="0" rIns="0" bIns="0" rtlCol="0" anchor="t"/>
          <a:lstStyle/>
          <a:p>
            <a:pPr marL="0" indent="0">
              <a:buNone/>
            </a:pPr>
            <a:r>
              <a:rPr lang="en-US" sz="1600" b="1" dirty="0">
                <a:solidFill>
                  <a:schemeClr val="tx1"/>
                </a:solidFill>
              </a:rPr>
              <a:t>What's new in EPCIS 2.1</a:t>
            </a:r>
            <a:endParaRPr lang="en-US" sz="1600" dirty="0"/>
          </a:p>
        </p:txBody>
      </p:sp>
      <p:sp>
        <p:nvSpPr>
          <p:cNvPr id="4"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822960"/>
            <a:ext cx="8229600" cy="914400"/>
          </a:xfrm>
          <a:prstGeom prst="rect">
            <a:avLst/>
          </a:prstGeom>
          <a:noFill/>
          <a:ln/>
        </p:spPr>
        <p:txBody>
          <a:bodyPr wrap="square" lIns="0" tIns="0" rIns="0" bIns="0" rtlCol="0" anchor="ctr"/>
          <a:lstStyle/>
          <a:p>
            <a:pPr marL="0" indent="0">
              <a:buNone/>
            </a:pPr>
            <a:r>
              <a:rPr lang="en-US" sz="4400" b="1" dirty="0">
                <a:solidFill>
                  <a:schemeClr val="bg1"/>
                </a:solidFill>
                <a:latin typeface="Cambria" pitchFamily="34" charset="0"/>
                <a:ea typeface="Cambria" pitchFamily="34" charset="-122"/>
                <a:cs typeface="Cambria" pitchFamily="34" charset="-120"/>
              </a:rPr>
              <a:t>Thanks for Watching</a:t>
            </a:r>
            <a:endParaRPr lang="en-US" sz="4400" dirty="0"/>
          </a:p>
        </p:txBody>
      </p:sp>
      <p:sp>
        <p:nvSpPr>
          <p:cNvPr id="3" name="Text 1"/>
          <p:cNvSpPr txBox="1"/>
          <p:nvPr/>
        </p:nvSpPr>
        <p:spPr>
          <a:xfrm>
            <a:off x="731520" y="1737360"/>
            <a:ext cx="7315200" cy="457200"/>
          </a:xfrm>
          <a:prstGeom prst="rect">
            <a:avLst/>
          </a:prstGeom>
          <a:noFill/>
          <a:ln/>
        </p:spPr>
        <p:txBody>
          <a:bodyPr wrap="square" lIns="0" tIns="0" rIns="0" bIns="0" rtlCol="0" anchor="ctr"/>
          <a:lstStyle/>
          <a:p>
            <a:pPr marL="0" indent="0">
              <a:buNone/>
            </a:pPr>
            <a:r>
              <a:rPr lang="en-US" sz="2000" dirty="0">
                <a:solidFill>
                  <a:schemeClr val="accent6"/>
                </a:solidFill>
              </a:rPr>
              <a:t>Try the tools, follow the series, and get in touch</a:t>
            </a:r>
            <a:endParaRPr lang="en-US" sz="2000" dirty="0"/>
          </a:p>
        </p:txBody>
      </p:sp>
      <p:sp>
        <p:nvSpPr>
          <p:cNvPr id="4" name="Shape 2"/>
          <p:cNvSpPr/>
          <p:nvPr/>
        </p:nvSpPr>
        <p:spPr>
          <a:xfrm>
            <a:off x="731520" y="2606040"/>
            <a:ext cx="502920" cy="502920"/>
          </a:xfrm>
          <a:prstGeom prst="ellipse">
            <a:avLst/>
          </a:prstGeom>
          <a:solidFill>
            <a:srgbClr val="2B6AA6"/>
          </a:solidFill>
          <a:ln/>
        </p:spPr>
      </p:sp>
      <p:pic>
        <p:nvPicPr>
          <p:cNvPr id="5" name="Image 0" descr="preencoded.png"/>
          <p:cNvPicPr>
            <a:picLocks noChangeAspect="1"/>
          </p:cNvPicPr>
          <p:nvPr/>
        </p:nvPicPr>
        <p:blipFill>
          <a:blip r:embed="rId3"/>
          <a:stretch>
            <a:fillRect/>
          </a:stretch>
        </p:blipFill>
        <p:spPr>
          <a:xfrm>
            <a:off x="862279" y="2736799"/>
            <a:ext cx="241402" cy="241402"/>
          </a:xfrm>
          <a:prstGeom prst="rect">
            <a:avLst/>
          </a:prstGeom>
        </p:spPr>
      </p:pic>
      <p:sp>
        <p:nvSpPr>
          <p:cNvPr id="6" name="Text 3"/>
          <p:cNvSpPr txBox="1"/>
          <p:nvPr/>
        </p:nvSpPr>
        <p:spPr>
          <a:xfrm>
            <a:off x="1463040" y="2606040"/>
            <a:ext cx="2103120" cy="502920"/>
          </a:xfrm>
          <a:prstGeom prst="rect">
            <a:avLst/>
          </a:prstGeom>
          <a:noFill/>
          <a:ln/>
        </p:spPr>
        <p:txBody>
          <a:bodyPr wrap="square" lIns="0" tIns="0" rIns="0" bIns="0" rtlCol="0" anchor="ctr"/>
          <a:lstStyle/>
          <a:p>
            <a:pPr marL="0" indent="0">
              <a:buNone/>
            </a:pPr>
            <a:r>
              <a:rPr lang="en-US" sz="1700" dirty="0">
                <a:solidFill>
                  <a:schemeClr val="accent6"/>
                </a:solidFill>
              </a:rPr>
              <a:t>Try the tools</a:t>
            </a:r>
            <a:endParaRPr lang="en-US" sz="1700" dirty="0"/>
          </a:p>
        </p:txBody>
      </p:sp>
      <p:sp>
        <p:nvSpPr>
          <p:cNvPr id="7" name="Text 4"/>
          <p:cNvSpPr txBox="1"/>
          <p:nvPr/>
        </p:nvSpPr>
        <p:spPr>
          <a:xfrm>
            <a:off x="3566160" y="2606040"/>
            <a:ext cx="4114800" cy="502920"/>
          </a:xfrm>
          <a:prstGeom prst="rect">
            <a:avLst/>
          </a:prstGeom>
          <a:noFill/>
          <a:ln/>
        </p:spPr>
        <p:txBody>
          <a:bodyPr wrap="square" lIns="0" tIns="0" rIns="0" bIns="0" rtlCol="0" anchor="ctr"/>
          <a:lstStyle/>
          <a:p>
            <a:pPr marL="0" indent="0">
              <a:buNone/>
            </a:pPr>
            <a:r>
              <a:rPr lang="en-US" sz="1700" b="1" dirty="0">
                <a:solidFill>
                  <a:schemeClr val="bg1"/>
                </a:solidFill>
              </a:rPr>
              <a:t>tools.openepcis.io</a:t>
            </a:r>
            <a:endParaRPr lang="en-US" sz="1700" dirty="0"/>
          </a:p>
        </p:txBody>
      </p:sp>
      <p:sp>
        <p:nvSpPr>
          <p:cNvPr id="8" name="Link tools.openepcis.io">
            <a:hlinkClick r:id="rId4" tooltip="https://tools.openepcis.io/ui/"/>
          </p:cNvPr>
          <p:cNvSpPr/>
          <p:nvPr/>
        </p:nvSpPr>
        <p:spPr>
          <a:xfrm>
            <a:off x="3566160" y="2606040"/>
            <a:ext cx="2926080" cy="502920"/>
          </a:xfrm>
          <a:prstGeom prst="rect">
            <a:avLst/>
          </a:prstGeom>
          <a:solidFill>
            <a:schemeClr val="accent4">
              <a:alpha val="0"/>
            </a:schemeClr>
          </a:solidFill>
          <a:ln/>
        </p:spPr>
      </p:sp>
      <p:sp>
        <p:nvSpPr>
          <p:cNvPr id="9" name="Shape 6"/>
          <p:cNvSpPr/>
          <p:nvPr/>
        </p:nvSpPr>
        <p:spPr>
          <a:xfrm>
            <a:off x="731520" y="4663440"/>
            <a:ext cx="502920" cy="502920"/>
          </a:xfrm>
          <a:prstGeom prst="ellipse">
            <a:avLst/>
          </a:prstGeom>
          <a:solidFill>
            <a:srgbClr val="2B6AA6"/>
          </a:solidFill>
          <a:ln/>
        </p:spPr>
      </p:sp>
      <p:pic>
        <p:nvPicPr>
          <p:cNvPr id="10" name="Image 1" descr="preencoded.png"/>
          <p:cNvPicPr>
            <a:picLocks noChangeAspect="1"/>
          </p:cNvPicPr>
          <p:nvPr/>
        </p:nvPicPr>
        <p:blipFill>
          <a:blip r:embed="rId5"/>
          <a:stretch>
            <a:fillRect/>
          </a:stretch>
        </p:blipFill>
        <p:spPr>
          <a:xfrm>
            <a:off x="862279" y="4794199"/>
            <a:ext cx="241402" cy="241402"/>
          </a:xfrm>
          <a:prstGeom prst="rect">
            <a:avLst/>
          </a:prstGeom>
        </p:spPr>
      </p:pic>
      <p:sp>
        <p:nvSpPr>
          <p:cNvPr id="11" name="Text 7"/>
          <p:cNvSpPr txBox="1"/>
          <p:nvPr/>
        </p:nvSpPr>
        <p:spPr>
          <a:xfrm>
            <a:off x="1463040" y="4663440"/>
            <a:ext cx="2103120" cy="502920"/>
          </a:xfrm>
          <a:prstGeom prst="rect">
            <a:avLst/>
          </a:prstGeom>
          <a:noFill/>
          <a:ln/>
        </p:spPr>
        <p:txBody>
          <a:bodyPr wrap="square" lIns="0" tIns="0" rIns="0" bIns="0" rtlCol="0" anchor="ctr"/>
          <a:lstStyle/>
          <a:p>
            <a:pPr marL="0" indent="0">
              <a:buNone/>
            </a:pPr>
            <a:r>
              <a:rPr lang="en-US" sz="1700" dirty="0">
                <a:solidFill>
                  <a:schemeClr val="accent6"/>
                </a:solidFill>
              </a:rPr>
              <a:t>Learn more</a:t>
            </a:r>
            <a:endParaRPr lang="en-US" sz="1700" dirty="0"/>
          </a:p>
        </p:txBody>
      </p:sp>
      <p:sp>
        <p:nvSpPr>
          <p:cNvPr id="12" name="Text 8"/>
          <p:cNvSpPr txBox="1"/>
          <p:nvPr/>
        </p:nvSpPr>
        <p:spPr>
          <a:xfrm>
            <a:off x="3566160" y="4663440"/>
            <a:ext cx="4114800" cy="502920"/>
          </a:xfrm>
          <a:prstGeom prst="rect">
            <a:avLst/>
          </a:prstGeom>
          <a:noFill/>
          <a:ln/>
        </p:spPr>
        <p:txBody>
          <a:bodyPr wrap="square" lIns="0" tIns="0" rIns="0" bIns="0" rtlCol="0" anchor="ctr"/>
          <a:lstStyle/>
          <a:p>
            <a:pPr marL="0" indent="0">
              <a:buNone/>
            </a:pPr>
            <a:r>
              <a:rPr lang="en-US" sz="1700" b="1" dirty="0">
                <a:solidFill>
                  <a:schemeClr val="bg1"/>
                </a:solidFill>
              </a:rPr>
              <a:t>openepcis.io</a:t>
            </a:r>
            <a:endParaRPr lang="en-US" sz="1700" dirty="0"/>
          </a:p>
        </p:txBody>
      </p:sp>
      <p:sp>
        <p:nvSpPr>
          <p:cNvPr id="13" name="Link openepcis.io">
            <a:hlinkClick r:id="rId6" tooltip="https://openepcis.io"/>
          </p:cNvPr>
          <p:cNvSpPr/>
          <p:nvPr/>
        </p:nvSpPr>
        <p:spPr>
          <a:xfrm>
            <a:off x="3566160" y="4663440"/>
            <a:ext cx="2926080" cy="502920"/>
          </a:xfrm>
          <a:prstGeom prst="rect">
            <a:avLst/>
          </a:prstGeom>
          <a:solidFill>
            <a:schemeClr val="accent4">
              <a:alpha val="0"/>
            </a:schemeClr>
          </a:solidFill>
          <a:ln/>
        </p:spPr>
      </p:sp>
      <p:sp>
        <p:nvSpPr>
          <p:cNvPr id="14" name="Shape 10"/>
          <p:cNvSpPr/>
          <p:nvPr/>
        </p:nvSpPr>
        <p:spPr>
          <a:xfrm>
            <a:off x="731520" y="3291840"/>
            <a:ext cx="502920" cy="502920"/>
          </a:xfrm>
          <a:prstGeom prst="ellipse">
            <a:avLst/>
          </a:prstGeom>
          <a:solidFill>
            <a:srgbClr val="2B6AA6"/>
          </a:solidFill>
          <a:ln/>
        </p:spPr>
      </p:sp>
      <p:pic>
        <p:nvPicPr>
          <p:cNvPr id="15" name="Image 2" descr="preencoded.png"/>
          <p:cNvPicPr>
            <a:picLocks noChangeAspect="1"/>
          </p:cNvPicPr>
          <p:nvPr/>
        </p:nvPicPr>
        <p:blipFill>
          <a:blip r:embed="rId15"/>
          <a:stretch>
            <a:fillRect/>
          </a:stretch>
        </p:blipFill>
        <p:spPr>
          <a:xfrm>
            <a:off x="862279" y="3422599"/>
            <a:ext cx="241402" cy="241402"/>
          </a:xfrm>
          <a:prstGeom prst="rect">
            <a:avLst/>
          </a:prstGeom>
        </p:spPr>
      </p:pic>
      <p:sp>
        <p:nvSpPr>
          <p:cNvPr id="16" name="Text 11"/>
          <p:cNvSpPr txBox="1"/>
          <p:nvPr/>
        </p:nvSpPr>
        <p:spPr>
          <a:xfrm>
            <a:off x="1463040" y="3291840"/>
            <a:ext cx="2103120" cy="502920"/>
          </a:xfrm>
          <a:prstGeom prst="rect">
            <a:avLst/>
          </a:prstGeom>
          <a:noFill/>
          <a:ln/>
        </p:spPr>
        <p:txBody>
          <a:bodyPr wrap="square" lIns="0" tIns="0" rIns="0" bIns="0" rtlCol="0" anchor="ctr"/>
          <a:lstStyle/>
          <a:p>
            <a:pPr marL="0" indent="0">
              <a:buNone/>
            </a:pPr>
            <a:r>
              <a:rPr lang="en-US" sz="1700" dirty="0">
                <a:solidFill>
                  <a:schemeClr val="accent6"/>
                </a:solidFill>
              </a:rPr>
              <a:t>GitHub projects</a:t>
            </a:r>
            <a:endParaRPr lang="en-US" sz="1700" dirty="0"/>
          </a:p>
        </p:txBody>
      </p:sp>
      <p:sp>
        <p:nvSpPr>
          <p:cNvPr id="17" name="Text 12"/>
          <p:cNvSpPr txBox="1"/>
          <p:nvPr/>
        </p:nvSpPr>
        <p:spPr>
          <a:xfrm>
            <a:off x="3566160" y="3291840"/>
            <a:ext cx="4114800" cy="502920"/>
          </a:xfrm>
          <a:prstGeom prst="rect">
            <a:avLst/>
          </a:prstGeom>
          <a:noFill/>
          <a:ln/>
        </p:spPr>
        <p:txBody>
          <a:bodyPr wrap="square" lIns="0" tIns="0" rIns="0" bIns="0" rtlCol="0" anchor="ctr"/>
          <a:lstStyle/>
          <a:p>
            <a:pPr marL="0" indent="0">
              <a:buNone/>
            </a:pPr>
            <a:r>
              <a:rPr lang="en-US" sz="1700" b="1" dirty="0">
                <a:solidFill>
                  <a:schemeClr val="bg1"/>
                </a:solidFill>
              </a:rPr>
              <a:t>github.com/openepcis</a:t>
            </a:r>
            <a:endParaRPr lang="en-US" sz="1700" dirty="0"/>
          </a:p>
        </p:txBody>
      </p:sp>
      <p:sp>
        <p:nvSpPr>
          <p:cNvPr id="18" name="Link github.com/openepcis">
            <a:hlinkClick r:id="rId8" tooltip="https://github.com/openepcis"/>
          </p:cNvPr>
          <p:cNvSpPr/>
          <p:nvPr/>
        </p:nvSpPr>
        <p:spPr>
          <a:xfrm>
            <a:off x="3566160" y="3291840"/>
            <a:ext cx="2926080" cy="502920"/>
          </a:xfrm>
          <a:prstGeom prst="rect">
            <a:avLst/>
          </a:prstGeom>
          <a:solidFill>
            <a:schemeClr val="accent4">
              <a:alpha val="0"/>
            </a:schemeClr>
          </a:solidFill>
          <a:ln/>
        </p:spPr>
      </p:sp>
      <p:sp>
        <p:nvSpPr>
          <p:cNvPr id="19" name="Shape 14"/>
          <p:cNvSpPr/>
          <p:nvPr/>
        </p:nvSpPr>
        <p:spPr>
          <a:xfrm>
            <a:off x="731520" y="5349240"/>
            <a:ext cx="502920" cy="502920"/>
          </a:xfrm>
          <a:prstGeom prst="ellipse">
            <a:avLst/>
          </a:prstGeom>
          <a:solidFill>
            <a:srgbClr val="2B6AA6"/>
          </a:solidFill>
          <a:ln/>
        </p:spPr>
      </p:sp>
      <p:pic>
        <p:nvPicPr>
          <p:cNvPr id="20" name="Image 3" descr="preencoded.png"/>
          <p:cNvPicPr>
            <a:picLocks noChangeAspect="1"/>
          </p:cNvPicPr>
          <p:nvPr/>
        </p:nvPicPr>
        <p:blipFill>
          <a:blip r:embed="rId9"/>
          <a:stretch>
            <a:fillRect/>
          </a:stretch>
        </p:blipFill>
        <p:spPr>
          <a:xfrm>
            <a:off x="862279" y="5479999"/>
            <a:ext cx="241402" cy="241402"/>
          </a:xfrm>
          <a:prstGeom prst="rect">
            <a:avLst/>
          </a:prstGeom>
        </p:spPr>
      </p:pic>
      <p:sp>
        <p:nvSpPr>
          <p:cNvPr id="21" name="Text 15"/>
          <p:cNvSpPr txBox="1"/>
          <p:nvPr/>
        </p:nvSpPr>
        <p:spPr>
          <a:xfrm>
            <a:off x="1463040" y="5349240"/>
            <a:ext cx="2103120" cy="502920"/>
          </a:xfrm>
          <a:prstGeom prst="rect">
            <a:avLst/>
          </a:prstGeom>
          <a:noFill/>
          <a:ln/>
        </p:spPr>
        <p:txBody>
          <a:bodyPr wrap="square" lIns="0" tIns="0" rIns="0" bIns="0" rtlCol="0" anchor="ctr"/>
          <a:lstStyle/>
          <a:p>
            <a:pPr marL="0" indent="0">
              <a:buNone/>
            </a:pPr>
            <a:r>
              <a:rPr lang="en-US" sz="1700" dirty="0">
                <a:solidFill>
                  <a:schemeClr val="accent6"/>
                </a:solidFill>
              </a:rPr>
              <a:t>Work with us</a:t>
            </a:r>
            <a:endParaRPr lang="en-US" sz="1700" dirty="0"/>
          </a:p>
        </p:txBody>
      </p:sp>
      <p:sp>
        <p:nvSpPr>
          <p:cNvPr id="22" name="Text 16"/>
          <p:cNvSpPr txBox="1"/>
          <p:nvPr/>
        </p:nvSpPr>
        <p:spPr>
          <a:xfrm>
            <a:off x="3566160" y="5349240"/>
            <a:ext cx="4114800" cy="502920"/>
          </a:xfrm>
          <a:prstGeom prst="rect">
            <a:avLst/>
          </a:prstGeom>
          <a:noFill/>
          <a:ln/>
        </p:spPr>
        <p:txBody>
          <a:bodyPr wrap="square" lIns="0" tIns="0" rIns="0" bIns="0" rtlCol="0" anchor="ctr"/>
          <a:lstStyle/>
          <a:p>
            <a:pPr marL="0" indent="0">
              <a:buNone/>
            </a:pPr>
            <a:r>
              <a:rPr lang="en-US" sz="1700" b="1" dirty="0">
                <a:solidFill>
                  <a:schemeClr val="bg1"/>
                </a:solidFill>
              </a:rPr>
              <a:t>benelog.com</a:t>
            </a:r>
            <a:endParaRPr lang="en-US" sz="1700" dirty="0"/>
          </a:p>
        </p:txBody>
      </p:sp>
      <p:sp>
        <p:nvSpPr>
          <p:cNvPr id="23" name="Link benelog.com">
            <a:hlinkClick r:id="rId10" tooltip="https://benelog.com"/>
          </p:cNvPr>
          <p:cNvSpPr/>
          <p:nvPr/>
        </p:nvSpPr>
        <p:spPr>
          <a:xfrm>
            <a:off x="3566160" y="5349240"/>
            <a:ext cx="2926080" cy="502920"/>
          </a:xfrm>
          <a:prstGeom prst="rect">
            <a:avLst/>
          </a:prstGeom>
          <a:solidFill>
            <a:schemeClr val="accent4">
              <a:alpha val="0"/>
            </a:schemeClr>
          </a:solidFill>
          <a:ln/>
        </p:spPr>
      </p:sp>
      <p:sp>
        <p:nvSpPr>
          <p:cNvPr id="27" name="Shape 19"/>
          <p:cNvSpPr/>
          <p:nvPr/>
        </p:nvSpPr>
        <p:spPr>
          <a:xfrm>
            <a:off x="731520" y="3977640"/>
            <a:ext cx="502920" cy="502920"/>
          </a:xfrm>
          <a:prstGeom prst="ellipse">
            <a:avLst/>
          </a:prstGeom>
          <a:solidFill>
            <a:srgbClr val="2B6AA6"/>
          </a:solidFill>
          <a:ln/>
        </p:spPr>
      </p:sp>
      <p:pic>
        <p:nvPicPr>
          <p:cNvPr id="28" name="Image 6" descr="preencoded.png"/>
          <p:cNvPicPr>
            <a:picLocks noChangeAspect="1"/>
          </p:cNvPicPr>
          <p:nvPr/>
        </p:nvPicPr>
        <p:blipFill>
          <a:blip r:embed="rId13"/>
          <a:stretch>
            <a:fillRect/>
          </a:stretch>
        </p:blipFill>
        <p:spPr>
          <a:xfrm>
            <a:off x="862279" y="4108399"/>
            <a:ext cx="241402" cy="241402"/>
          </a:xfrm>
          <a:prstGeom prst="rect">
            <a:avLst/>
          </a:prstGeom>
        </p:spPr>
      </p:pic>
      <p:sp>
        <p:nvSpPr>
          <p:cNvPr id="29" name="Text 20"/>
          <p:cNvSpPr txBox="1"/>
          <p:nvPr/>
        </p:nvSpPr>
        <p:spPr>
          <a:xfrm>
            <a:off x="1463040" y="3977640"/>
            <a:ext cx="2103120" cy="502920"/>
          </a:xfrm>
          <a:prstGeom prst="rect">
            <a:avLst/>
          </a:prstGeom>
          <a:noFill/>
          <a:ln/>
        </p:spPr>
        <p:txBody>
          <a:bodyPr wrap="square" lIns="0" tIns="0" rIns="0" bIns="0" rtlCol="0" anchor="ctr"/>
          <a:lstStyle/>
          <a:p>
            <a:pPr marL="0" indent="0">
              <a:buNone/>
            </a:pPr>
            <a:r>
              <a:rPr lang="en-US" sz="1700" dirty="0">
                <a:solidFill>
                  <a:schemeClr val="accent6"/>
                </a:solidFill>
              </a:rPr>
              <a:t>Follow us</a:t>
            </a:r>
            <a:endParaRPr lang="en-US" sz="1700" dirty="0"/>
          </a:p>
        </p:txBody>
      </p:sp>
      <p:sp>
        <p:nvSpPr>
          <p:cNvPr id="30" name="Text 21"/>
          <p:cNvSpPr txBox="1"/>
          <p:nvPr/>
        </p:nvSpPr>
        <p:spPr>
          <a:xfrm>
            <a:off x="3566160" y="3977640"/>
            <a:ext cx="4114800" cy="502920"/>
          </a:xfrm>
          <a:prstGeom prst="rect">
            <a:avLst/>
          </a:prstGeom>
          <a:noFill/>
          <a:ln/>
        </p:spPr>
        <p:txBody>
          <a:bodyPr wrap="square" lIns="0" tIns="0" rIns="0" bIns="0" rtlCol="0" anchor="ctr"/>
          <a:lstStyle/>
          <a:p>
            <a:pPr marL="0" indent="0">
              <a:buNone/>
            </a:pPr>
            <a:r>
              <a:rPr lang="en-US" sz="1700" b="1" dirty="0">
                <a:solidFill>
                  <a:schemeClr val="bg1"/>
                </a:solidFill>
              </a:rPr>
              <a:t>linkedin.com/company/benelog</a:t>
            </a:r>
            <a:endParaRPr lang="en-US" sz="1700" dirty="0"/>
          </a:p>
        </p:txBody>
      </p:sp>
      <p:sp>
        <p:nvSpPr>
          <p:cNvPr id="31" name="Link linkedin">
            <a:hlinkClick r:id="rId14" tooltip="https://www.linkedin.com/company/benelog"/>
          </p:cNvPr>
          <p:cNvSpPr/>
          <p:nvPr/>
        </p:nvSpPr>
        <p:spPr>
          <a:xfrm>
            <a:off x="3566160" y="3977640"/>
            <a:ext cx="4114800" cy="502920"/>
          </a:xfrm>
          <a:prstGeom prst="rect">
            <a:avLst/>
          </a:prstGeom>
          <a:solidFill>
            <a:schemeClr val="accent4">
              <a:alpha val="0"/>
            </a:schemeClr>
          </a:solidFill>
          <a:ln/>
        </p:spPr>
      </p:sp>
      <p:sp>
        <p:nvSpPr>
          <p:cNvPr id="24" name="Text 18"/>
          <p:cNvSpPr txBox="1"/>
          <p:nvPr/>
        </p:nvSpPr>
        <p:spPr>
          <a:xfrm>
            <a:off x="731520" y="6035040"/>
            <a:ext cx="7315200" cy="365760"/>
          </a:xfrm>
          <a:prstGeom prst="rect">
            <a:avLst/>
          </a:prstGeom>
          <a:noFill/>
          <a:ln/>
        </p:spPr>
        <p:txBody>
          <a:bodyPr wrap="square" lIns="0" tIns="0" rIns="0" bIns="0" rtlCol="0" anchor="ctr"/>
          <a:lstStyle/>
          <a:p>
            <a:pPr marL="0" indent="0">
              <a:buNone/>
            </a:pPr>
            <a:r>
              <a:rPr lang="en-US" sz="1500" i="1" dirty="0">
                <a:solidFill>
                  <a:srgbClr val="9DB9E8"/>
                </a:solidFill>
              </a:rPr>
              <a:t>Questions or topic ideas? Leave a comment below.</a:t>
            </a:r>
            <a:endParaRPr lang="en-US" sz="1500" dirty="0"/>
          </a:p>
        </p:txBody>
      </p:sp>
      <p:pic>
        <p:nvPicPr>
          <p:cNvPr id="25" name="Image 4" descr="/private/tmp/claude-502/-Users-aravinda-baligab-Downloads-EPCIS-Context-Issue/2683edc8-9c8b-4839-95e0-e04f849e6f42/scratchpad/deck/img/openepcis-logo-dark.png"/>
          <p:cNvPicPr>
            <a:picLocks noChangeAspect="1"/>
          </p:cNvPicPr>
          <p:nvPr/>
        </p:nvPicPr>
        <p:blipFill>
          <a:blip r:embed="rId11"/>
          <a:stretch>
            <a:fillRect/>
          </a:stretch>
        </p:blipFill>
        <p:spPr>
          <a:xfrm>
            <a:off x="8229600" y="5760720"/>
            <a:ext cx="1399032" cy="594360"/>
          </a:xfrm>
          <a:prstGeom prst="rect">
            <a:avLst/>
          </a:prstGeom>
        </p:spPr>
      </p:pic>
      <p:pic>
        <p:nvPicPr>
          <p:cNvPr id="26" name="Image 5" descr="/private/tmp/claude-502/-Users-aravinda-baligab-Downloads-EPCIS-Context-Issue/2683edc8-9c8b-4839-95e0-e04f849e6f42/scratchpad/deck/img/benelog-logo-dark.png"/>
          <p:cNvPicPr>
            <a:picLocks noChangeAspect="1"/>
          </p:cNvPicPr>
          <p:nvPr/>
        </p:nvPicPr>
        <p:blipFill>
          <a:blip r:embed="rId12"/>
          <a:stretch>
            <a:fillRect/>
          </a:stretch>
        </p:blipFill>
        <p:spPr>
          <a:xfrm>
            <a:off x="10012680" y="5951487"/>
            <a:ext cx="1563624" cy="320040"/>
          </a:xfrm>
          <a:prstGeom prst="rect">
            <a:avLst/>
          </a:prstGeom>
        </p:spPr>
      </p:pic>
    </p:spTree>
  </p:cSld>
  <p:clrMapOvr>
    <a:masterClrMapping/>
  </p:clrMapOvr>
</p:sld>
</file>

<file path=ppt/theme/theme1.xml><?xml version="1.0" encoding="utf-8"?>
<a:theme xmlns:a="http://schemas.openxmlformats.org/drawingml/2006/main" name="OpenEPCIS Series">
  <a:themeElements>
    <a:clrScheme name="OpenEPCIS Series">
      <a:dk1>
        <a:srgbClr val="1B2430"/>
      </a:dk1>
      <a:lt1>
        <a:srgbClr val="FFFFFF"/>
      </a:lt1>
      <a:dk2>
        <a:srgbClr val="0B4A86"/>
      </a:dk2>
      <a:lt2>
        <a:srgbClr val="EEF3F8"/>
      </a:lt2>
      <a:accent1>
        <a:srgbClr val="0B4A86"/>
      </a:accent1>
      <a:accent2>
        <a:srgbClr val="2B6AA6"/>
      </a:accent2>
      <a:accent3>
        <a:srgbClr val="A60A2B"/>
      </a:accent3>
      <a:accent4>
        <a:srgbClr val="0E1A2B"/>
      </a:accent4>
      <a:accent5>
        <a:srgbClr val="6B7785"/>
      </a:accent5>
      <a:accent6>
        <a:srgbClr val="C9D6E3"/>
      </a:accent6>
      <a:hlink>
        <a:srgbClr val="2B6AA6"/>
      </a:hlink>
      <a:folHlink>
        <a:srgbClr val="2B6AA6"/>
      </a:folHlink>
    </a:clrScheme>
    <a:fontScheme name="OpenEPCIS Seri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TotalTime>
  <Words>1573</Words>
  <Application>Microsoft Macintosh PowerPoint</Application>
  <PresentationFormat>Widescreen</PresentationFormat>
  <Paragraphs>203</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OpenEPCIS Series</vt:lpstr>
      <vt:lpstr>PowerPoint Presentation</vt:lpstr>
      <vt:lpstr>Agenda</vt:lpstr>
      <vt:lpstr>Who Touched This Product, and When?</vt:lpstr>
      <vt:lpstr>One Product's Journey</vt:lpstr>
      <vt:lpstr>Five Questions Every Event Answers</vt:lpstr>
      <vt:lpstr>Where EPCIS Fits in GS1</vt:lpstr>
      <vt:lpstr>What an Event Looks Like</vt:lpstr>
      <vt:lpstr>One Event, End to End</vt:lpstr>
      <vt:lpstr>OpenEPCIS Tools at a Glance</vt:lpstr>
      <vt:lpstr>OpenEPCIS and benelog</vt:lpstr>
      <vt:lpstr>Coming Up in the Series</vt:lpstr>
      <vt:lpstr>PowerPoint Presentation</vt:lpstr>
    </vt:vector>
  </TitlesOfParts>
  <Company>benelog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EPCIS in 15 Minutes</dc:title>
  <dc:subject>PptxGenJS Presentation</dc:subject>
  <dc:creator>OpenEPCIS</dc:creator>
  <cp:lastModifiedBy>Aravinda Bantwal Baliga</cp:lastModifiedBy>
  <cp:revision>6</cp:revision>
  <dcterms:created xsi:type="dcterms:W3CDTF">2026-10-12T08:59:37Z</dcterms:created>
  <dcterms:modified xsi:type="dcterms:W3CDTF">2026-10-13T10:50:39Z</dcterms:modified>
</cp:coreProperties>
</file>