
<file path=[Content_Types].xml><?xml version="1.0" encoding="utf-8"?>
<Types xmlns="http://schemas.openxmlformats.org/package/2006/content-types">
  <Default Extension="is"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59" r:id="rId6"/>
    <p:sldId id="261" r:id="rId7"/>
    <p:sldId id="262" r:id="rId8"/>
    <p:sldId id="269" r:id="rId9"/>
    <p:sldId id="263" r:id="rId10"/>
    <p:sldId id="268" r:id="rId11"/>
    <p:sldId id="264" r:id="rId12"/>
    <p:sldId id="270" r:id="rId13"/>
    <p:sldId id="265"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248"/>
    <p:restoredTop sz="96966"/>
  </p:normalViewPr>
  <p:slideViewPr>
    <p:cSldViewPr snapToGrid="0" snapToObjects="1">
      <p:cViewPr varScale="1">
        <p:scale>
          <a:sx n="157" d="100"/>
          <a:sy n="157" d="100"/>
        </p:scale>
        <p:origin x="11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018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Sven and Aravinda, one line each.</a:t>
            </a:r>
            <a:br>
              <a:rPr lang="en-US" dirty="0"/>
            </a:br>
            <a:r>
              <a:rPr lang="en-US" dirty="0"/>
              <a:t>
Last week: every EPCIS event answers what, when, where, why and how.
Today we zoom into the WHAT (and a bit of the WHERE): how a product, a pallet or a place gets an ID that every partner understands.</a:t>
            </a:r>
            <a:br>
              <a:rPr lang="en-US" dirty="0"/>
            </a:br>
            <a:br>
              <a:rPr lang="en-US" dirty="0"/>
            </a:br>
            <a:r>
              <a:rPr lang="en-GR" dirty="0"/>
              <a:t>Let’s start with why </a:t>
            </a:r>
            <a:r>
              <a:rPr lang="en-GB" dirty="0"/>
              <a:t>we need these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five steps in a few seconds. Mention the demo in step 4.
</a:t>
            </a:r>
          </a:p>
          <a:p>
            <a:endParaRPr lang="en-US" dirty="0"/>
          </a:p>
          <a:p>
            <a:r>
              <a:rPr lang="en-GR" dirty="0"/>
              <a:t>By the end, you should understand the basic concepts and be able to </a:t>
            </a:r>
            <a:r>
              <a:rPr lang="en-GB" dirty="0"/>
              <a:t>recognise</a:t>
            </a:r>
            <a:r>
              <a:rPr lang="en-GR" dirty="0"/>
              <a:t> these identifiers when you see them in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is only useful if every partner knows exactly what it is about. 
GS1 keys solve this: unique worldwide and read the same way by everyone.</a:t>
            </a:r>
          </a:p>
          <a:p>
            <a:endParaRPr lang="en-US" dirty="0"/>
          </a:p>
          <a:p>
            <a:r>
              <a:rPr lang="en-GR" dirty="0"/>
              <a:t>Let’s look at one of the most common identifiers: the GTIN.</a:t>
            </a:r>
            <a:br>
              <a:rPr lang="en-GR" dirty="0"/>
            </a:br>
            <a:br>
              <a:rPr lang="en-GR" dirty="0"/>
            </a:br>
            <a:endParaRPr lang="en-GR" dirty="0"/>
          </a:p>
          <a:p>
            <a:r>
              <a:rPr lang="en-GR" dirty="0"/>
              <a:t>Feedback from Sven:</a:t>
            </a:r>
            <a:br>
              <a:rPr lang="en-GR" dirty="0"/>
            </a:br>
            <a:r>
              <a:rPr lang="en-GR" dirty="0"/>
              <a:t>Don’t focus on </a:t>
            </a:r>
            <a:r>
              <a:rPr lang="en-GB" dirty="0"/>
              <a:t>the product,</a:t>
            </a:r>
            <a:r>
              <a:rPr lang="en-GR" dirty="0"/>
              <a:t> as it is applicable to many things.</a:t>
            </a:r>
          </a:p>
          <a:p>
            <a:r>
              <a:rPr lang="en-GR" dirty="0"/>
              <a:t>Explain </a:t>
            </a:r>
            <a:r>
              <a:rPr lang="en-GB" dirty="0"/>
              <a:t>the</a:t>
            </a:r>
            <a:r>
              <a:rPr lang="en-GR" dirty="0"/>
              <a:t> </a:t>
            </a:r>
            <a:r>
              <a:rPr lang="en-GB" dirty="0"/>
              <a:t>ID;</a:t>
            </a:r>
            <a:r>
              <a:rPr lang="en-GR" dirty="0"/>
              <a:t> don’t bring in </a:t>
            </a:r>
            <a:r>
              <a:rPr lang="en-GB" dirty="0"/>
              <a:t>the</a:t>
            </a:r>
            <a:r>
              <a:rPr lang="en-GR" dirty="0"/>
              <a:t> Product. </a:t>
            </a:r>
            <a:r>
              <a:rPr lang="en-GB" dirty="0"/>
              <a:t>Explain why</a:t>
            </a:r>
            <a:r>
              <a:rPr lang="en-GR" dirty="0"/>
              <a:t> there </a:t>
            </a:r>
            <a:r>
              <a:rPr lang="en-GB" dirty="0"/>
              <a:t>is a need for a unique identifier and speak about why we need for organisations' shipment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GTIN: the product type, every bar of this kind shares it.
SGTIN: GTIN plus a serial number, so exactly one bar.
SSCC: one pallet or parcel, the logistic unit that gets shipped.
GLN: a place, such as our packing station or a warehouse.
The small numbers like (01) and (21) are GS1 Application Identifiers: they say what the next value means. You see them in Digital Link too.</a:t>
            </a:r>
          </a:p>
          <a:p>
            <a:endParaRPr lang="en-US" dirty="0"/>
          </a:p>
          <a:p>
            <a:r>
              <a:rPr lang="en-GR" dirty="0"/>
              <a:t>Now let’s see how the level of identification changes depending on whether we need to identify all bars, a batch or one specific bar.</a:t>
            </a:r>
          </a:p>
          <a:p>
            <a:endParaRPr lang="en-US" dirty="0"/>
          </a:p>
          <a:p>
            <a:endParaRPr lang="en-US" dirty="0"/>
          </a:p>
          <a:p>
            <a:r>
              <a:rPr lang="en-US" dirty="0"/>
              <a:t>Briefly explain that in the Validation episode, we will cover pattern checking via Profile Checker.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GTIN: it belongs to benelog, the company behind OpenEPCIS. 14 digits.
Indicator: the packaging level (0 for the item itself).
GS1 Company Prefix: tells who owns the number. Companies get it from their GS1 office.
Item reference: the company numbers its own products.
Check digit: calculated from the other digits, catches typing and scanning errors.
Its Digital Link id.gs1.org/01/04068194000004 is registered with GS1 Germany and leads to openepcis.io.
In all our examples we use 952, the prefix GS1 sets aside for demos, so we never invent data for a real product.</a:t>
            </a:r>
          </a:p>
          <a:p>
            <a:endParaRPr lang="en-US" dirty="0"/>
          </a:p>
          <a:p>
            <a:r>
              <a:rPr lang="en-GR" dirty="0"/>
              <a:t>A GTIN identifies the product type. But how do we identify one particular bar or a pallet? That brings us to four common GS1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GTIN can describe three levels of detail:</a:t>
            </a:r>
          </a:p>
          <a:p>
            <a:r>
              <a:rPr lang="en-US" dirty="0"/>
              <a:t>
GTIN alone: all products of this kind.</a:t>
            </a:r>
          </a:p>
          <a:p>
            <a:r>
              <a:rPr lang="en-US" dirty="0"/>
              <a:t>
GTIN plus batch (AI 10): one production run, useful for recalls.</a:t>
            </a:r>
          </a:p>
          <a:p>
            <a:r>
              <a:rPr lang="en-US" dirty="0"/>
              <a:t>
GTIN plus serial (AI 21): exactly one item.</a:t>
            </a:r>
          </a:p>
          <a:p>
            <a:r>
              <a:rPr lang="en-US" dirty="0"/>
              <a:t>
In EPCIS, serialised items go in epcList, and product types or batches go in quantityList with a quantity.</a:t>
            </a:r>
          </a:p>
          <a:p>
            <a:endParaRPr lang="en-US" dirty="0"/>
          </a:p>
          <a:p>
            <a:r>
              <a:rPr lang="en-GR" dirty="0"/>
              <a:t>We have seen what the identifiers mean. Next, how can we represent them in a technical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EPCIS has always used the EPC URN (urn:epc:id:...). It comes from the GS1 Tag Data Standard.
GS1 Digital Link writes the same ID as a web address (https://id.gs1.org/...).
EPCIS 2.0 accepts both. Digital Link is the one that also works in a QR code and in a browser.
The URN shows where the company prefix ends (952012 here). The Digital Link does not need that.
Point at one row and read both versions: same company prefix, same item, same serial.
All pairs on this slide were converted with our identifier converter.</a:t>
            </a:r>
          </a:p>
          <a:p>
            <a:endParaRPr lang="en-US" dirty="0"/>
          </a:p>
          <a:p>
            <a:r>
              <a:rPr lang="en-US" b="1" dirty="0"/>
              <a:t>Sven will explain: </a:t>
            </a:r>
          </a:p>
          <a:p>
            <a:r>
              <a:rPr lang="en-US" dirty="0"/>
              <a:t>It accepts any identifiers, even the custom ones.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carriers follow on the next slide.</a:t>
            </a:r>
          </a:p>
          <a:p>
            <a:br>
              <a:rPr lang="en-US" dirty="0"/>
            </a:br>
            <a:br>
              <a:rPr lang="en-US" dirty="0"/>
            </a:br>
            <a:r>
              <a:rPr lang="en-GR" dirty="0"/>
              <a:t>But where does the ID actually sit on a product, a pallet or a place? On a data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Sven: the same ID can sit on different data carriers. The reader decodes each of them to the same GS1 key.</a:t>
            </a:r>
          </a:p>
          <a:p>
            <a:r>
              <a:rPr lang="en-US" dirty="0"/>
              <a:t>Barcode: the classic retail barcode holds a GS1 element string with Application Identifiers. EAN-13 at the checkout only carries the GTIN, so the product type.</a:t>
            </a:r>
          </a:p>
          <a:p>
            <a:r>
              <a:rPr lang="en-US" dirty="0"/>
              <a:t>2D code: a QR code or GS1 DataMatrix can hold the full GS1 Digital Link, including batch or serial. One scan gives the ID and a web link. This is what retail moves to with Sunrise 2027, and it is the carrier ESPR and the EN 182xx standards keep naming.</a:t>
            </a:r>
          </a:p>
          <a:p>
            <a:r>
              <a:rPr lang="en-US" dirty="0"/>
              <a:t>RAIN RFID: the ID is stored in binary on the tag. A reader captures many tags at once, without line of sight. The GS1 Tag Data Standard (TDS) defines three things: the EPC URN you saw on the two-spellings slide, the conversion rules between URN, element string and Digital Link (published as JSON and XML, Tag Data Translation), and the tag encoding itself. Since TDS 2.0 the tag can also carry extra data such as batch or expiry date, and the newer schemes (SGTIN++, SSCC++, DSGTIN++) are simpler to encode. We stay high level here; the RFID details are a topic of their own.</a:t>
            </a:r>
          </a:p>
          <a:p>
            <a:r>
              <a:rPr lang="en-US" dirty="0"/>
              <a:t>NFC: a phone tap opens the GS1 Digital Link, like a QR scan. The tag stores the link as text, so this is a different way from RAIN RFID. Dual chips put both in one tag: the reader gate uses the RAIN side, the shopper uses the NFC side, same ID.</a:t>
            </a:r>
          </a:p>
          <a:p>
            <a:r>
              <a:rPr lang="en-US" dirty="0"/>
              <a:t>Link to EPCIS: whatever the carrier, the ID ends up in the event as URN or Digital Link. Extra data from the tag, like an expiry date, maps to CBV master data attributes in the event, and back again.</a:t>
            </a:r>
          </a:p>
          <a:p>
            <a:r>
              <a:rPr lang="en-US" dirty="0"/>
              <a:t>We go deeper into data carriers in the episode on EPCIS and the Digital Product Passport (week 9).</a:t>
            </a:r>
          </a:p>
          <a:p>
            <a:endParaRPr lang="en-US" dirty="0"/>
          </a:p>
          <a:p>
            <a:r>
              <a:rPr lang="en-US" dirty="0"/>
              <a:t>So far everything was a GS1 key. What about all the other identifiers?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QR code is live: it is the jacket from the benelog Digital Product Passport demo. Invite viewers to scan it.</a:t>
            </a:r>
            <a:br>
              <a:rPr lang="en-US" dirty="0"/>
            </a:br>
            <a:r>
              <a:rPr lang="en-US" dirty="0"/>
              <a:t>
The scan goes to a resolver, which sends it to the passport page. It is a normal web address.
The same code can serve the checkout, a recall check, consumer information and later the Digital Product Passport.
That is why retail is moving from the classic barcode to 2D codes with Digital Link.
Teaser: a resolver decides where each scan goes, depending on who asks and what for. Full demo in week 9.
The code uses benelog's demo resolver, the same one as on benelog.com/openepcis/</a:t>
            </a:r>
            <a:r>
              <a:rPr lang="en-US" dirty="0" err="1"/>
              <a:t>digitaler-produktpass</a:t>
            </a:r>
            <a:r>
              <a:rPr lang="en-US" dirty="0"/>
              <a:t>.</a:t>
            </a:r>
          </a:p>
          <a:p>
            <a:endParaRPr lang="en-US" dirty="0"/>
          </a:p>
          <a:p>
            <a:r>
              <a:rPr lang="en-GR" dirty="0"/>
              <a:t>Let’s connect this to the system we work with: EPCIS.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just happened when you scanned the jacket on the previous slide.
1. The QR code on the product holds a GS1 Digital Link: the GTIN and serial number written as a web address.
2. The phone opens it and reaches the Digital Link Resolver. It reads the GS1 key and sends the phone on to the right link (an HTTP redirect to the default link, the passport page).
3. The passport page (our Digital Data Management app) shows the passport.
4. It gets the passport from the OpenEPCIS DPP API, which builds it from the product's master data.
5. The DPP API reads the product's journey, its EPCIS events, from the EPCIS Repository. Same GTIN and serial as in the QR code: that is why identifiers matter.
Note: a resolver is optional. A Digital Link can also open a company's web page directly; the resolver adds the choice of links and access levels.
Bridge: next slide, where exactly these IDs sit inside an EPCIS event.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EPCIS: here two bars are packed onto a pallet. That is an AggregationEvent.
parentID is the pallet (SSCC). childEPCs are the single bars (SGTIN). readPoint is the place (GLN).
All three are written as Digital Links here. URNs would be valid too.
We checked the full version of this event with our validation service.
Next week explains the five event types, including this one.</a:t>
            </a:r>
          </a:p>
          <a:p>
            <a:endParaRPr lang="en-US" dirty="0"/>
          </a:p>
          <a:p>
            <a:r>
              <a:rPr lang="en-GR" dirty="0"/>
              <a:t>Now that we know the concepts, let's use the tools to see how these identifiers look in practice.</a:t>
            </a:r>
          </a:p>
          <a:p>
            <a:endParaRPr lang="en-GR" dirty="0"/>
          </a:p>
          <a:p>
            <a:r>
              <a:rPr lang="en-GR" dirty="0"/>
              <a:t>This event includes eventTimezoneOffset which was not present in previous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Sven: Under the hood a Digital Link is nothing new. The GTIN, batch and serial you already had, written as a web address. That is why it slots into EPCIS without changing anything.</a:t>
            </a:r>
          </a:p>
          <a:p>
            <a:r>
              <a:rPr lang="en-US" dirty="0"/>
              <a:t>ISO/IEC 18975 takes the same idea and makes it identifier-agnostic: an HTTPS URI under your own domain, your own ID in the path, resolvable with the same linkType mechanism. GS1 Digital Link and the GS1-Conformant Resolver conform to it, and UNTP builds on it.</a:t>
            </a:r>
          </a:p>
          <a:p>
            <a:r>
              <a:rPr lang="en-US" dirty="0"/>
              <a:t>Why that matters: most IDs inside a company never get a GS1 key. Material numbers, batches and handling units from the ERP, machines and lines from the MES.</a:t>
            </a:r>
          </a:p>
          <a:p>
            <a:r>
              <a:rPr lang="en-US" dirty="0"/>
              <a:t>The event: a production line turns an internal batch into finished items. Input: material and batch from the ERP, as a URL under the company's own domain. Output: SGTINs as Digital Links. readPoint: the production line from the MES. bizTransaction: the production order from the ERP. All in one event, and EPCIS is fine with it.</a:t>
            </a:r>
          </a:p>
          <a:p>
            <a:r>
              <a:rPr lang="en-US" dirty="0"/>
              <a:t>The CBV calls this user vocabulary: GS1 keys as EPC URI or Digital Link, everything else as an HTTP URL under your own domain or as an agreed URN. OPEN-SCS (OPC 30260) in pharma does exactly this for country-specific codes.</a:t>
            </a:r>
          </a:p>
          <a:p>
            <a:r>
              <a:rPr lang="en-US" dirty="0"/>
              <a:t>Before web URLs this needed a URN with an agreed namespace, and nobody could resolve it. The URL gets uniqueness from DNS and resolution for free.</a:t>
            </a:r>
          </a:p>
          <a:p>
            <a:r>
              <a:rPr lang="en-US" dirty="0"/>
              <a:t>Three rules: your own domain, stable paths (never the ERP's UI link), resolvable where possible.</a:t>
            </a:r>
          </a:p>
          <a:p>
            <a:endParaRPr lang="en-US" dirty="0"/>
          </a:p>
          <a:p>
            <a:r>
              <a:rPr lang="en-US" dirty="0"/>
              <a:t>Now, why is the web address so useful? ESPR and the EN 182xx standards keep coming back to the QR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7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recording: have the three URNs from slide 7 ready to paste.
1. Format Converter: paste the SGTIN URN, get the Digital Link.
2. Paste the Digital Link back and get the URN. Point at the company prefix 952012 in the result.
3. Event Data Designer: show where the item, pallet and place IDs go in an event.
For developers: the same conversion is an API, link at the bottom right.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the five EPCIS event types, one real situation for each.
Ask viewers in the comments which topic they want most.</a:t>
            </a:r>
            <a:br>
              <a:rPr lang="en-US" dirty="0"/>
            </a:br>
            <a:br>
              <a:rPr lang="en-US" dirty="0"/>
            </a:br>
            <a:r>
              <a:rPr lang="en-US" dirty="0"/>
              <a:t>Before we close, if you want to remember one thing from the whole presentation, then that is:</a:t>
            </a:r>
            <a:br>
              <a:rPr lang="en-US" dirty="0"/>
            </a:br>
            <a:r>
              <a:rPr lang="en-GR" dirty="0"/>
              <a:t>GS1 identifiers tell us exactly which product, item, pallet or place we are talking about. GS1 Digital Link expresses these identifiers as web-friendly links. </a:t>
            </a:r>
            <a:br>
              <a:rPr lang="en-GR" dirty="0"/>
            </a:br>
            <a:r>
              <a:rPr lang="en-GR" dirty="0"/>
              <a:t>EPCIS uses identifiers to record what happened to those things, and this information can later support a Digital Product Passport (DPP).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viewers. Read out the five links and ask viewers to follow benelog on LinkedIn. Ask for comments and topic ideas. Announce next week's episode: the five EPCIS event types.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private/tmp/claude-502/-Users-aravinda-baligab-Downloads-EPCIS-Context-Issue/2683edc8-9c8b-4839-95e0-e04f849e6f42/scratchpad/deck/img/openepcis-logo-light.png"/>
          <p:cNvPicPr>
            <a:picLocks noChangeAspect="1"/>
          </p:cNvPicPr>
          <p:nvPr/>
        </p:nvPicPr>
        <p:blipFill>
          <a:blip r:embed="rId2"/>
          <a:stretch>
            <a:fillRect/>
          </a:stretch>
        </p:blipFill>
        <p:spPr>
          <a:xfrm>
            <a:off x="548640" y="6199632"/>
            <a:ext cx="905256" cy="384048"/>
          </a:xfrm>
          <a:prstGeom prst="rect">
            <a:avLst/>
          </a:prstGeom>
        </p:spPr>
      </p:pic>
      <p:pic>
        <p:nvPicPr>
          <p:cNvPr id="3" name="Image 1" descr="/private/tmp/claude-502/-Users-aravinda-baligab-Downloads-EPCIS-Context-Issue/2683edc8-9c8b-4839-95e0-e04f849e6f42/scratchpad/deck/img/benelog-logo-light.png"/>
          <p:cNvPicPr>
            <a:picLocks noChangeAspect="1"/>
          </p:cNvPicPr>
          <p:nvPr/>
        </p:nvPicPr>
        <p:blipFill>
          <a:blip r:embed="rId3"/>
          <a:stretch>
            <a:fillRect/>
          </a:stretch>
        </p:blipFill>
        <p:spPr>
          <a:xfrm>
            <a:off x="10771632" y="6309360"/>
            <a:ext cx="868680" cy="182880"/>
          </a:xfrm>
          <a:prstGeom prst="rect">
            <a:avLst/>
          </a:prstGeom>
        </p:spPr>
      </p:pic>
      <p:sp>
        <p:nvSpPr>
          <p:cNvPr id="4" name="Text 0"/>
          <p:cNvSpPr/>
          <p:nvPr/>
        </p:nvSpPr>
        <p:spPr>
          <a:xfrm>
            <a:off x="4270248" y="6291072"/>
            <a:ext cx="3657600" cy="228600"/>
          </a:xfrm>
          <a:prstGeom prst="rect">
            <a:avLst/>
          </a:prstGeom>
          <a:noFill/>
          <a:ln/>
        </p:spPr>
        <p:txBody>
          <a:bodyPr wrap="square" lIns="0" tIns="0" rIns="0" bIns="0" rtlCol="0" anchor="ctr"/>
          <a:lstStyle/>
          <a:p>
            <a:pPr marL="0" indent="0" algn="ctr">
              <a:buNone/>
            </a:pPr>
            <a:r>
              <a:rPr lang="en-US" sz="1000" dirty="0">
                <a:solidFill>
                  <a:schemeClr val="accent5"/>
                </a:solidFill>
              </a:rPr>
              <a:t>openepcis.io   |   benelog.com</a:t>
            </a:r>
            <a:endParaRPr lang="en-US" sz="1000" dirty="0"/>
          </a:p>
        </p:txBody>
      </p:sp>
      <p:sp>
        <p:nvSpPr>
          <p:cNvPr id="5" name="Text 1"/>
          <p:cNvSpPr>
            <a:spLocks noGrp="1"/>
          </p:cNvSpPr>
          <p:nvPr>
            <p:ph type="body" idx="103" hasCustomPrompt="1"/>
          </p:nvPr>
        </p:nvSpPr>
        <p:spPr>
          <a:xfrm>
            <a:off x="548640" y="384048"/>
            <a:ext cx="9144000" cy="274320"/>
          </a:xfrm>
          <a:prstGeom prst="rect">
            <a:avLst/>
          </a:prstGeom>
          <a:noFill/>
          <a:ln/>
        </p:spPr>
        <p:txBody>
          <a:bodyPr wrap="square" rtlCol="0"/>
          <a:lstStyle>
            <a:lvl1pPr marL="0" indent="0">
              <a:buNone/>
              <a:defRPr lang="en-US" sz="1100" b="1" kern="0" spc="300" dirty="0">
                <a:solidFill>
                  <a:schemeClr val="accent3"/>
                </a:solidFill>
              </a:defRPr>
            </a:lvl1pPr>
          </a:lstStyle>
          <a:p>
            <a:pPr marL="0" indent="0">
              <a:buNone/>
            </a:pPr>
            <a:r>
              <a:rPr lang="en-US" sz="1100" b="1" kern="0" spc="300" dirty="0">
                <a:solidFill>
                  <a:schemeClr val="accent3"/>
                </a:solidFill>
              </a:rPr>
              <a:t>SECTION</a:t>
            </a:r>
            <a:endParaRPr lang="en-US" sz="1100" dirty="0"/>
          </a:p>
        </p:txBody>
      </p:sp>
      <p:sp>
        <p:nvSpPr>
          <p:cNvPr id="6" name="Text 1"/>
          <p:cNvSpPr>
            <a:spLocks noGrp="1"/>
          </p:cNvSpPr>
          <p:nvPr>
            <p:ph type="title" idx="104" hasCustomPrompt="1"/>
          </p:nvPr>
        </p:nvSpPr>
        <p:spPr>
          <a:xfrm>
            <a:off x="548640" y="685800"/>
            <a:ext cx="11064240" cy="73152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r>
              <a:rPr lang="en-US" sz="3600" b="1" dirty="0">
                <a:solidFill>
                  <a:schemeClr val="tx2"/>
                </a:solidFill>
              </a:rPr>
              <a:t>Title</a:t>
            </a:r>
            <a:endParaRPr lang="en-US" sz="36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12000"/>
          </a:blip>
          <a:stretch>
            <a:fillRect/>
          </a:stretch>
        </p:blipFill>
        <p:spPr>
          <a:xfrm>
            <a:off x="7680960" y="1097280"/>
            <a:ext cx="5120640" cy="512064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hyperlink" Target="https://ref.gs1.org/ai/" TargetMode="External"/><Relationship Id="rId3" Type="http://schemas.openxmlformats.org/officeDocument/2006/relationships/image" Target="../media/image9.png"/><Relationship Id="rId7" Type="http://schemas.openxmlformats.org/officeDocument/2006/relationships/hyperlink" Target="https://ref.gs1.org/standards/genspec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id.gs1.org/01/0406819400000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hyperlink" Target="https://ref.gs1.org/standards/td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ref.gs1.org/standards/digital-link/"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ref.gs1.org/standards/tds/" TargetMode="External"/><Relationship Id="rId3" Type="http://schemas.openxmlformats.org/officeDocument/2006/relationships/image" Target="../media/image17.png"/><Relationship Id="rId7" Type="http://schemas.openxmlformats.org/officeDocument/2006/relationships/hyperlink" Target="https://ref.gs1.org/standards/genspec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hyperlink" Target="https://ref.gs1.org/standards/digital-lin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is"/><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id.epc.is/01/09521000001428/21/WJ-2024-00142"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25.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hyperlink" Target="https://tools.openepcis.io/ui/event-data-designer"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hyperlink" Target="https://openepcis.io/docs/identifier-converter" TargetMode="External"/><Relationship Id="rId4" Type="http://schemas.openxmlformats.org/officeDocument/2006/relationships/hyperlink" Target="https://tools.openepcis.io/ui/format-converter" TargetMode="External"/><Relationship Id="rId9" Type="http://schemas.openxmlformats.org/officeDocument/2006/relationships/hyperlink" Target="https://tools.openepcis.io/q/swagger-ui/#/Identifier%20Converter"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linkedin.com/company/benelog" TargetMode="External"/><Relationship Id="rId13" Type="http://schemas.openxmlformats.org/officeDocument/2006/relationships/image" Target="../media/image4.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hyperlink" Target="https://benelog.com"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github.com/openepcis" TargetMode="External"/><Relationship Id="rId11" Type="http://schemas.openxmlformats.org/officeDocument/2006/relationships/image" Target="../media/image37.png"/><Relationship Id="rId5" Type="http://schemas.openxmlformats.org/officeDocument/2006/relationships/image" Target="../media/image35.png"/><Relationship Id="rId10" Type="http://schemas.openxmlformats.org/officeDocument/2006/relationships/hyperlink" Target="https://openepcis.io" TargetMode="External"/><Relationship Id="rId4" Type="http://schemas.openxmlformats.org/officeDocument/2006/relationships/hyperlink" Target="https://tools.openepcis.io/ui/" TargetMode="External"/><Relationship Id="rId9" Type="http://schemas.openxmlformats.org/officeDocument/2006/relationships/image" Target="../media/image7.png"/><Relationship Id="rId1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2/-Users-aravinda-baligab-Downloads-EPCIS-Context-Issue/2683edc8-9c8b-4839-95e0-e04f849e6f42/scratchpad/deck/img/openepcis-logo-dark.png"/>
          <p:cNvPicPr>
            <a:picLocks noChangeAspect="1"/>
          </p:cNvPicPr>
          <p:nvPr/>
        </p:nvPicPr>
        <p:blipFill>
          <a:blip r:embed="rId3"/>
          <a:stretch>
            <a:fillRect/>
          </a:stretch>
        </p:blipFill>
        <p:spPr>
          <a:xfrm>
            <a:off x="731520" y="640080"/>
            <a:ext cx="1508760" cy="640080"/>
          </a:xfrm>
          <a:prstGeom prst="rect">
            <a:avLst/>
          </a:prstGeom>
        </p:spPr>
      </p:pic>
      <p:pic>
        <p:nvPicPr>
          <p:cNvPr id="3" name="Image 1" descr="/private/tmp/claude-502/-Users-aravinda-baligab-Downloads-EPCIS-Context-Issue/2683edc8-9c8b-4839-95e0-e04f849e6f42/scratchpad/deck/img/benelog-logo-dark.png"/>
          <p:cNvPicPr>
            <a:picLocks noChangeAspect="1"/>
          </p:cNvPicPr>
          <p:nvPr/>
        </p:nvPicPr>
        <p:blipFill>
          <a:blip r:embed="rId4"/>
          <a:stretch>
            <a:fillRect/>
          </a:stretch>
        </p:blipFill>
        <p:spPr>
          <a:xfrm>
            <a:off x="2697480" y="896341"/>
            <a:ext cx="1335024" cy="274320"/>
          </a:xfrm>
          <a:prstGeom prst="rect">
            <a:avLst/>
          </a:prstGeom>
        </p:spPr>
      </p:pic>
      <p:sp>
        <p:nvSpPr>
          <p:cNvPr id="4" name="Text 0"/>
          <p:cNvSpPr txBox="1"/>
          <p:nvPr/>
        </p:nvSpPr>
        <p:spPr>
          <a:xfrm>
            <a:off x="731520" y="2240280"/>
            <a:ext cx="7315200" cy="320040"/>
          </a:xfrm>
          <a:prstGeom prst="rect">
            <a:avLst/>
          </a:prstGeom>
          <a:noFill/>
          <a:ln/>
        </p:spPr>
        <p:txBody>
          <a:bodyPr wrap="square" lIns="0" tIns="0" rIns="0" bIns="0" rtlCol="0" anchor="ctr"/>
          <a:lstStyle/>
          <a:p>
            <a:pPr marL="0" indent="0">
              <a:buNone/>
            </a:pPr>
            <a:r>
              <a:rPr lang="en-US" sz="1300" b="1" kern="0" spc="300" dirty="0">
                <a:solidFill>
                  <a:srgbClr val="9DB9E8"/>
                </a:solidFill>
              </a:rPr>
              <a:t>OPENEPCIS SERIES   |   EPISODE 2</a:t>
            </a:r>
            <a:endParaRPr lang="en-US" sz="1300" dirty="0"/>
          </a:p>
        </p:txBody>
      </p:sp>
      <p:sp>
        <p:nvSpPr>
          <p:cNvPr id="5" name="Text 1"/>
          <p:cNvSpPr txBox="1"/>
          <p:nvPr/>
        </p:nvSpPr>
        <p:spPr>
          <a:xfrm>
            <a:off x="731520" y="2606040"/>
            <a:ext cx="10058400" cy="1005840"/>
          </a:xfrm>
          <a:prstGeom prst="rect">
            <a:avLst/>
          </a:prstGeom>
          <a:noFill/>
          <a:ln/>
        </p:spPr>
        <p:txBody>
          <a:bodyPr wrap="square" lIns="0" tIns="0" rIns="0" bIns="0" rtlCol="0" anchor="ctr"/>
          <a:lstStyle/>
          <a:p>
            <a:pPr marL="0" indent="0">
              <a:buNone/>
            </a:pPr>
            <a:r>
              <a:rPr lang="en-US" sz="5200" b="1" dirty="0">
                <a:solidFill>
                  <a:schemeClr val="bg1"/>
                </a:solidFill>
                <a:latin typeface="Cambria" pitchFamily="34" charset="0"/>
                <a:ea typeface="Cambria" pitchFamily="34" charset="-122"/>
                <a:cs typeface="Cambria" pitchFamily="34" charset="-120"/>
              </a:rPr>
              <a:t>Identifiers and GS1 Digital Link</a:t>
            </a:r>
            <a:endParaRPr lang="en-US" sz="5200" dirty="0"/>
          </a:p>
        </p:txBody>
      </p:sp>
      <p:sp>
        <p:nvSpPr>
          <p:cNvPr id="6" name="Text 2"/>
          <p:cNvSpPr txBox="1"/>
          <p:nvPr/>
        </p:nvSpPr>
        <p:spPr>
          <a:xfrm>
            <a:off x="731520" y="3657600"/>
            <a:ext cx="8778240" cy="731520"/>
          </a:xfrm>
          <a:prstGeom prst="rect">
            <a:avLst/>
          </a:prstGeom>
          <a:noFill/>
          <a:ln/>
        </p:spPr>
        <p:txBody>
          <a:bodyPr wrap="square" lIns="0" tIns="0" rIns="0" bIns="0" rtlCol="0" anchor="ctr"/>
          <a:lstStyle/>
          <a:p>
            <a:pPr marL="0" indent="0">
              <a:buNone/>
            </a:pPr>
            <a:r>
              <a:rPr lang="en-US" sz="2000" dirty="0">
                <a:solidFill>
                  <a:schemeClr val="accent6"/>
                </a:solidFill>
              </a:rPr>
              <a:t>How EPCIS knows exactly which product, pallet or place an event is about</a:t>
            </a:r>
            <a:endParaRPr lang="en-US" sz="2000" dirty="0"/>
          </a:p>
        </p:txBody>
      </p:sp>
      <p:sp>
        <p:nvSpPr>
          <p:cNvPr id="7" name="Date placeholder"/>
          <p:cNvSpPr txBox="1"/>
          <p:nvPr/>
        </p:nvSpPr>
        <p:spPr>
          <a:xfrm>
            <a:off x="731520" y="4892040"/>
            <a:ext cx="3657600" cy="365760"/>
          </a:xfrm>
          <a:prstGeom prst="rect">
            <a:avLst/>
          </a:prstGeom>
          <a:noFill/>
          <a:ln/>
        </p:spPr>
        <p:txBody>
          <a:bodyPr wrap="square" lIns="0" tIns="0" rIns="0" bIns="0" rtlCol="0" anchor="ctr"/>
          <a:lstStyle/>
          <a:p>
            <a:pPr marL="0" indent="0">
              <a:buNone/>
            </a:pPr>
            <a:r>
              <a:rPr lang="en-US" sz="1600" b="1" dirty="0">
                <a:solidFill>
                  <a:srgbClr val="9DB9E8"/>
                </a:solidFill>
              </a:rPr>
              <a:t>Date:</a:t>
            </a:r>
            <a:r>
              <a:rPr lang="en-US" sz="1600" dirty="0">
                <a:solidFill>
                  <a:schemeClr val="bg1"/>
                </a:solidFill>
              </a:rPr>
              <a:t> 21 Oct 2026</a:t>
            </a:r>
            <a:endParaRPr lang="en-US" sz="1600" dirty="0"/>
          </a:p>
        </p:txBody>
      </p:sp>
      <p:sp>
        <p:nvSpPr>
          <p:cNvPr id="8" name="Text 4"/>
          <p:cNvSpPr txBox="1"/>
          <p:nvPr/>
        </p:nvSpPr>
        <p:spPr>
          <a:xfrm>
            <a:off x="731520" y="6172200"/>
            <a:ext cx="4572000" cy="274320"/>
          </a:xfrm>
          <a:prstGeom prst="rect">
            <a:avLst/>
          </a:prstGeom>
          <a:noFill/>
          <a:ln/>
        </p:spPr>
        <p:txBody>
          <a:bodyPr wrap="square" lIns="0" tIns="0" rIns="0" bIns="0" rtlCol="0" anchor="ctr"/>
          <a:lstStyle/>
          <a:p>
            <a:pPr marL="0" indent="0">
              <a:buNone/>
            </a:pPr>
            <a:r>
              <a:rPr lang="en-US" sz="1100" dirty="0">
                <a:solidFill>
                  <a:schemeClr val="accent5"/>
                </a:solidFill>
              </a:rPr>
              <a:t>openepcis.io   |   benelog.com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TODAY</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Agenda</a:t>
            </a:r>
            <a:endParaRPr lang="en-US" sz="3600" dirty="0"/>
          </a:p>
        </p:txBody>
      </p:sp>
      <p:sp>
        <p:nvSpPr>
          <p:cNvPr id="5" name="Shape 2"/>
          <p:cNvSpPr/>
          <p:nvPr/>
        </p:nvSpPr>
        <p:spPr>
          <a:xfrm>
            <a:off x="1545336" y="2048256"/>
            <a:ext cx="0" cy="3364992"/>
          </a:xfrm>
          <a:prstGeom prst="line">
            <a:avLst/>
          </a:prstGeom>
          <a:noFill/>
          <a:ln w="19050">
            <a:solidFill>
              <a:schemeClr val="accent6"/>
            </a:solidFill>
            <a:prstDash val="solid"/>
          </a:ln>
        </p:spPr>
      </p:sp>
      <p:sp>
        <p:nvSpPr>
          <p:cNvPr id="6" name="Shape 3"/>
          <p:cNvSpPr/>
          <p:nvPr/>
        </p:nvSpPr>
        <p:spPr>
          <a:xfrm>
            <a:off x="1280160" y="1783080"/>
            <a:ext cx="530352" cy="530352"/>
          </a:xfrm>
          <a:prstGeom prst="ellipse">
            <a:avLst/>
          </a:prstGeom>
          <a:solidFill>
            <a:schemeClr val="accent1"/>
          </a:solidFill>
          <a:ln w="38100">
            <a:solidFill>
              <a:schemeClr val="bg1"/>
            </a:solidFill>
            <a:prstDash val="solid"/>
          </a:ln>
        </p:spPr>
      </p:sp>
      <p:sp>
        <p:nvSpPr>
          <p:cNvPr id="7" name="Text 4"/>
          <p:cNvSpPr txBox="1"/>
          <p:nvPr/>
        </p:nvSpPr>
        <p:spPr>
          <a:xfrm>
            <a:off x="1280160" y="1783080"/>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5"/>
          <p:cNvSpPr txBox="1"/>
          <p:nvPr/>
        </p:nvSpPr>
        <p:spPr>
          <a:xfrm>
            <a:off x="2103120" y="1746504"/>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Quick recap: the "what" question</a:t>
            </a:r>
            <a:endParaRPr lang="en-US" sz="2000" dirty="0"/>
          </a:p>
        </p:txBody>
      </p:sp>
      <p:sp>
        <p:nvSpPr>
          <p:cNvPr id="9" name="Text 6"/>
          <p:cNvSpPr txBox="1"/>
          <p:nvPr/>
        </p:nvSpPr>
        <p:spPr>
          <a:xfrm>
            <a:off x="2103120" y="2093976"/>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Every event says which thing it is about</a:t>
            </a:r>
            <a:endParaRPr lang="en-US" sz="1400" dirty="0"/>
          </a:p>
        </p:txBody>
      </p:sp>
      <p:sp>
        <p:nvSpPr>
          <p:cNvPr id="10" name="Text 7"/>
          <p:cNvSpPr txBox="1"/>
          <p:nvPr/>
        </p:nvSpPr>
        <p:spPr>
          <a:xfrm>
            <a:off x="9326880" y="1783080"/>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1 min</a:t>
            </a:r>
            <a:endParaRPr lang="en-US" sz="1400" dirty="0"/>
          </a:p>
        </p:txBody>
      </p:sp>
      <p:sp>
        <p:nvSpPr>
          <p:cNvPr id="11" name="Shape 8"/>
          <p:cNvSpPr/>
          <p:nvPr/>
        </p:nvSpPr>
        <p:spPr>
          <a:xfrm>
            <a:off x="1280160" y="2624328"/>
            <a:ext cx="530352" cy="530352"/>
          </a:xfrm>
          <a:prstGeom prst="ellipse">
            <a:avLst/>
          </a:prstGeom>
          <a:solidFill>
            <a:schemeClr val="accent1"/>
          </a:solidFill>
          <a:ln w="38100">
            <a:solidFill>
              <a:schemeClr val="bg1"/>
            </a:solidFill>
            <a:prstDash val="solid"/>
          </a:ln>
        </p:spPr>
      </p:sp>
      <p:sp>
        <p:nvSpPr>
          <p:cNvPr id="12" name="Text 9"/>
          <p:cNvSpPr txBox="1"/>
          <p:nvPr/>
        </p:nvSpPr>
        <p:spPr>
          <a:xfrm>
            <a:off x="1280160" y="2624328"/>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2103120" y="2587752"/>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Four GS1 keys</a:t>
            </a:r>
            <a:endParaRPr lang="en-US" sz="2000" dirty="0"/>
          </a:p>
        </p:txBody>
      </p:sp>
      <p:sp>
        <p:nvSpPr>
          <p:cNvPr id="14" name="Text 11"/>
          <p:cNvSpPr txBox="1"/>
          <p:nvPr/>
        </p:nvSpPr>
        <p:spPr>
          <a:xfrm>
            <a:off x="2103120" y="2935224"/>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Product, single item, pallet, place</a:t>
            </a:r>
            <a:endParaRPr lang="en-US" sz="1400" dirty="0"/>
          </a:p>
        </p:txBody>
      </p:sp>
      <p:sp>
        <p:nvSpPr>
          <p:cNvPr id="15" name="Text 12"/>
          <p:cNvSpPr txBox="1"/>
          <p:nvPr/>
        </p:nvSpPr>
        <p:spPr>
          <a:xfrm>
            <a:off x="9326880" y="2624328"/>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4 min</a:t>
            </a:r>
            <a:endParaRPr lang="en-US" sz="1400" dirty="0"/>
          </a:p>
        </p:txBody>
      </p:sp>
      <p:sp>
        <p:nvSpPr>
          <p:cNvPr id="16" name="Shape 13"/>
          <p:cNvSpPr/>
          <p:nvPr/>
        </p:nvSpPr>
        <p:spPr>
          <a:xfrm>
            <a:off x="1280160" y="3465576"/>
            <a:ext cx="530352" cy="530352"/>
          </a:xfrm>
          <a:prstGeom prst="ellipse">
            <a:avLst/>
          </a:prstGeom>
          <a:solidFill>
            <a:schemeClr val="accent1"/>
          </a:solidFill>
          <a:ln w="38100">
            <a:solidFill>
              <a:schemeClr val="bg1"/>
            </a:solidFill>
            <a:prstDash val="solid"/>
          </a:ln>
        </p:spPr>
      </p:sp>
      <p:sp>
        <p:nvSpPr>
          <p:cNvPr id="17" name="Text 14"/>
          <p:cNvSpPr txBox="1"/>
          <p:nvPr/>
        </p:nvSpPr>
        <p:spPr>
          <a:xfrm>
            <a:off x="1280160" y="3465576"/>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5"/>
          <p:cNvSpPr txBox="1"/>
          <p:nvPr/>
        </p:nvSpPr>
        <p:spPr>
          <a:xfrm>
            <a:off x="2103120" y="3429000"/>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One ID, two spellings</a:t>
            </a:r>
            <a:endParaRPr lang="en-US" sz="2000" dirty="0"/>
          </a:p>
        </p:txBody>
      </p:sp>
      <p:sp>
        <p:nvSpPr>
          <p:cNvPr id="19" name="Text 16"/>
          <p:cNvSpPr txBox="1"/>
          <p:nvPr/>
        </p:nvSpPr>
        <p:spPr>
          <a:xfrm>
            <a:off x="2103120" y="3776472"/>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EPC URN, GS1 Digital Link, data carriers</a:t>
            </a:r>
            <a:endParaRPr lang="en-US" sz="1400" dirty="0"/>
          </a:p>
        </p:txBody>
      </p:sp>
      <p:sp>
        <p:nvSpPr>
          <p:cNvPr id="20" name="Text 17"/>
          <p:cNvSpPr txBox="1"/>
          <p:nvPr/>
        </p:nvSpPr>
        <p:spPr>
          <a:xfrm>
            <a:off x="9326880" y="3465576"/>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3 min</a:t>
            </a:r>
            <a:endParaRPr lang="en-US" sz="1400" dirty="0"/>
          </a:p>
        </p:txBody>
      </p:sp>
      <p:sp>
        <p:nvSpPr>
          <p:cNvPr id="21" name="Shape 18"/>
          <p:cNvSpPr/>
          <p:nvPr/>
        </p:nvSpPr>
        <p:spPr>
          <a:xfrm>
            <a:off x="1280160" y="4306824"/>
            <a:ext cx="530352" cy="530352"/>
          </a:xfrm>
          <a:prstGeom prst="ellipse">
            <a:avLst/>
          </a:prstGeom>
          <a:solidFill>
            <a:schemeClr val="accent3"/>
          </a:solidFill>
          <a:ln w="38100">
            <a:solidFill>
              <a:schemeClr val="bg1"/>
            </a:solidFill>
            <a:prstDash val="solid"/>
          </a:ln>
        </p:spPr>
      </p:sp>
      <p:sp>
        <p:nvSpPr>
          <p:cNvPr id="22" name="Text 19"/>
          <p:cNvSpPr txBox="1"/>
          <p:nvPr/>
        </p:nvSpPr>
        <p:spPr>
          <a:xfrm>
            <a:off x="1280160" y="4306824"/>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3" name="Text 20"/>
          <p:cNvSpPr txBox="1"/>
          <p:nvPr/>
        </p:nvSpPr>
        <p:spPr>
          <a:xfrm>
            <a:off x="2103120" y="4270248"/>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Live demo</a:t>
            </a:r>
            <a:endParaRPr lang="en-US" sz="2000" dirty="0"/>
          </a:p>
        </p:txBody>
      </p:sp>
      <p:sp>
        <p:nvSpPr>
          <p:cNvPr id="24" name="Text 21"/>
          <p:cNvSpPr txBox="1"/>
          <p:nvPr/>
        </p:nvSpPr>
        <p:spPr>
          <a:xfrm>
            <a:off x="2103120" y="4617720"/>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Convert IDs and use them in an event</a:t>
            </a:r>
            <a:endParaRPr lang="en-US" sz="1400" dirty="0"/>
          </a:p>
        </p:txBody>
      </p:sp>
      <p:sp>
        <p:nvSpPr>
          <p:cNvPr id="25" name="Text 22"/>
          <p:cNvSpPr txBox="1"/>
          <p:nvPr/>
        </p:nvSpPr>
        <p:spPr>
          <a:xfrm>
            <a:off x="9326880" y="4306824"/>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5 min</a:t>
            </a:r>
            <a:endParaRPr lang="en-US" sz="1400" dirty="0"/>
          </a:p>
        </p:txBody>
      </p:sp>
      <p:sp>
        <p:nvSpPr>
          <p:cNvPr id="26" name="Shape 23"/>
          <p:cNvSpPr/>
          <p:nvPr/>
        </p:nvSpPr>
        <p:spPr>
          <a:xfrm>
            <a:off x="1280160" y="5148072"/>
            <a:ext cx="530352" cy="530352"/>
          </a:xfrm>
          <a:prstGeom prst="ellipse">
            <a:avLst/>
          </a:prstGeom>
          <a:solidFill>
            <a:schemeClr val="accent1"/>
          </a:solidFill>
          <a:ln w="38100">
            <a:solidFill>
              <a:schemeClr val="bg1"/>
            </a:solidFill>
            <a:prstDash val="solid"/>
          </a:ln>
        </p:spPr>
      </p:sp>
      <p:sp>
        <p:nvSpPr>
          <p:cNvPr id="27" name="Text 24"/>
          <p:cNvSpPr txBox="1"/>
          <p:nvPr/>
        </p:nvSpPr>
        <p:spPr>
          <a:xfrm>
            <a:off x="1280160" y="5148072"/>
            <a:ext cx="530352" cy="530352"/>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8" name="Text 25"/>
          <p:cNvSpPr txBox="1"/>
          <p:nvPr/>
        </p:nvSpPr>
        <p:spPr>
          <a:xfrm>
            <a:off x="2103120" y="5111496"/>
            <a:ext cx="6400800" cy="347472"/>
          </a:xfrm>
          <a:prstGeom prst="rect">
            <a:avLst/>
          </a:prstGeom>
          <a:noFill/>
          <a:ln/>
        </p:spPr>
        <p:txBody>
          <a:bodyPr wrap="square" lIns="0" tIns="0" rIns="0" bIns="0" rtlCol="0" anchor="ctr"/>
          <a:lstStyle/>
          <a:p>
            <a:pPr marL="0" indent="0">
              <a:buNone/>
            </a:pPr>
            <a:r>
              <a:rPr lang="en-US" sz="2000" b="1" dirty="0">
                <a:solidFill>
                  <a:schemeClr val="tx1"/>
                </a:solidFill>
              </a:rPr>
              <a:t>Wrap-up and next week</a:t>
            </a:r>
            <a:endParaRPr lang="en-US" sz="2000" dirty="0"/>
          </a:p>
        </p:txBody>
      </p:sp>
      <p:sp>
        <p:nvSpPr>
          <p:cNvPr id="29" name="Text 26"/>
          <p:cNvSpPr txBox="1"/>
          <p:nvPr/>
        </p:nvSpPr>
        <p:spPr>
          <a:xfrm>
            <a:off x="2103120" y="5458968"/>
            <a:ext cx="6400800" cy="274320"/>
          </a:xfrm>
          <a:prstGeom prst="rect">
            <a:avLst/>
          </a:prstGeom>
          <a:noFill/>
          <a:ln/>
        </p:spPr>
        <p:txBody>
          <a:bodyPr wrap="square" lIns="0" tIns="0" rIns="0" bIns="0" rtlCol="0" anchor="ctr"/>
          <a:lstStyle/>
          <a:p>
            <a:pPr marL="0" indent="0">
              <a:buNone/>
            </a:pPr>
            <a:r>
              <a:rPr lang="en-US" sz="1400" dirty="0">
                <a:solidFill>
                  <a:schemeClr val="accent5"/>
                </a:solidFill>
              </a:rPr>
              <a:t>Then: the five event types</a:t>
            </a:r>
            <a:endParaRPr lang="en-US" sz="1400" dirty="0"/>
          </a:p>
        </p:txBody>
      </p:sp>
      <p:sp>
        <p:nvSpPr>
          <p:cNvPr id="30" name="Text 27"/>
          <p:cNvSpPr txBox="1"/>
          <p:nvPr/>
        </p:nvSpPr>
        <p:spPr>
          <a:xfrm>
            <a:off x="9326880" y="5148072"/>
            <a:ext cx="1463040" cy="530352"/>
          </a:xfrm>
          <a:prstGeom prst="rect">
            <a:avLst/>
          </a:prstGeom>
          <a:noFill/>
          <a:ln/>
        </p:spPr>
        <p:txBody>
          <a:bodyPr wrap="square" lIns="0" tIns="0" rIns="0" bIns="0" rtlCol="0" anchor="ctr"/>
          <a:lstStyle/>
          <a:p>
            <a:pPr marL="0" indent="0" algn="r">
              <a:buNone/>
            </a:pPr>
            <a:r>
              <a:rPr lang="en-US" sz="1400" dirty="0">
                <a:solidFill>
                  <a:schemeClr val="accent5"/>
                </a:solidFill>
              </a:rPr>
              <a:t>2 min</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WHY IT MATTERS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r>
              <a:rPr lang="en-US" sz="3600" b="1" dirty="0">
                <a:solidFill>
                  <a:schemeClr val="tx2"/>
                </a:solidFill>
              </a:rPr>
              <a:t>Which item, location or pallet</a:t>
            </a:r>
            <a:r>
              <a:rPr lang="en-US" dirty="0"/>
              <a:t>, exactly?</a:t>
            </a:r>
            <a:endParaRPr lang="en-US" sz="3600" dirty="0"/>
          </a:p>
        </p:txBody>
      </p:sp>
      <p:sp>
        <p:nvSpPr>
          <p:cNvPr id="5" name="Card 1"/>
          <p:cNvSpPr/>
          <p:nvPr/>
        </p:nvSpPr>
        <p:spPr>
          <a:xfrm>
            <a:off x="548640" y="1874520"/>
            <a:ext cx="3429000" cy="3291840"/>
          </a:xfrm>
          <a:prstGeom prst="roundRect">
            <a:avLst>
              <a:gd name="adj" fmla="val 3333"/>
            </a:avLst>
          </a:prstGeom>
          <a:solidFill>
            <a:schemeClr val="bg2"/>
          </a:solidFill>
          <a:ln/>
        </p:spPr>
      </p:sp>
      <p:sp>
        <p:nvSpPr>
          <p:cNvPr id="6" name="Shape 3"/>
          <p:cNvSpPr/>
          <p:nvPr/>
        </p:nvSpPr>
        <p:spPr>
          <a:xfrm>
            <a:off x="960120" y="2331720"/>
            <a:ext cx="822960" cy="822960"/>
          </a:xfrm>
          <a:prstGeom prst="ellipse">
            <a:avLst/>
          </a:prstGeom>
          <a:solidFill>
            <a:srgbClr val="0B4A86"/>
          </a:solidFill>
          <a:ln/>
        </p:spPr>
      </p:sp>
      <p:pic>
        <p:nvPicPr>
          <p:cNvPr id="7" name="Image 0" descr="preencoded.png"/>
          <p:cNvPicPr>
            <a:picLocks noChangeAspect="1"/>
          </p:cNvPicPr>
          <p:nvPr/>
        </p:nvPicPr>
        <p:blipFill>
          <a:blip r:embed="rId3"/>
          <a:stretch>
            <a:fillRect/>
          </a:stretch>
        </p:blipFill>
        <p:spPr>
          <a:xfrm>
            <a:off x="1174090" y="2545690"/>
            <a:ext cx="395021" cy="395021"/>
          </a:xfrm>
          <a:prstGeom prst="rect">
            <a:avLst/>
          </a:prstGeom>
        </p:spPr>
      </p:pic>
      <p:sp>
        <p:nvSpPr>
          <p:cNvPr id="8" name="Text 4"/>
          <p:cNvSpPr txBox="1"/>
          <p:nvPr/>
        </p:nvSpPr>
        <p:spPr>
          <a:xfrm>
            <a:off x="960120" y="3429000"/>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Unique</a:t>
            </a:r>
            <a:endParaRPr lang="en-US" sz="2200" dirty="0"/>
          </a:p>
        </p:txBody>
      </p:sp>
      <p:sp>
        <p:nvSpPr>
          <p:cNvPr id="9" name="Text 5"/>
          <p:cNvSpPr txBox="1"/>
          <p:nvPr/>
        </p:nvSpPr>
        <p:spPr>
          <a:xfrm>
            <a:off x="960120" y="3977640"/>
            <a:ext cx="2606040" cy="1097280"/>
          </a:xfrm>
          <a:prstGeom prst="rect">
            <a:avLst/>
          </a:prstGeom>
          <a:noFill/>
          <a:ln/>
        </p:spPr>
        <p:txBody>
          <a:bodyPr wrap="square" lIns="0" tIns="0" rIns="0" bIns="0" rtlCol="0" anchor="t"/>
          <a:lstStyle/>
          <a:p>
            <a:pPr marL="0" indent="0">
              <a:buNone/>
            </a:pPr>
            <a:r>
              <a:rPr lang="en-US" sz="1600" dirty="0">
                <a:solidFill>
                  <a:schemeClr val="tx1"/>
                </a:solidFill>
              </a:rPr>
              <a:t>Each product, pallet and place gets a key that nobody else uses.</a:t>
            </a:r>
            <a:endParaRPr lang="en-US" sz="1600" dirty="0"/>
          </a:p>
        </p:txBody>
      </p:sp>
      <p:sp>
        <p:nvSpPr>
          <p:cNvPr id="10" name="Card 2"/>
          <p:cNvSpPr/>
          <p:nvPr/>
        </p:nvSpPr>
        <p:spPr>
          <a:xfrm>
            <a:off x="4366260" y="1874520"/>
            <a:ext cx="3429000" cy="3291840"/>
          </a:xfrm>
          <a:prstGeom prst="roundRect">
            <a:avLst>
              <a:gd name="adj" fmla="val 3333"/>
            </a:avLst>
          </a:prstGeom>
          <a:solidFill>
            <a:schemeClr val="bg2"/>
          </a:solidFill>
          <a:ln/>
        </p:spPr>
      </p:sp>
      <p:sp>
        <p:nvSpPr>
          <p:cNvPr id="11" name="Shape 7"/>
          <p:cNvSpPr/>
          <p:nvPr/>
        </p:nvSpPr>
        <p:spPr>
          <a:xfrm>
            <a:off x="4777740" y="2331720"/>
            <a:ext cx="822960" cy="822960"/>
          </a:xfrm>
          <a:prstGeom prst="ellipse">
            <a:avLst/>
          </a:prstGeom>
          <a:solidFill>
            <a:srgbClr val="0B4A86"/>
          </a:solidFill>
          <a:ln/>
        </p:spPr>
      </p:sp>
      <p:pic>
        <p:nvPicPr>
          <p:cNvPr id="12" name="Image 1" descr="preencoded.png"/>
          <p:cNvPicPr>
            <a:picLocks noChangeAspect="1"/>
          </p:cNvPicPr>
          <p:nvPr/>
        </p:nvPicPr>
        <p:blipFill>
          <a:blip r:embed="rId4"/>
          <a:stretch>
            <a:fillRect/>
          </a:stretch>
        </p:blipFill>
        <p:spPr>
          <a:xfrm>
            <a:off x="4991710" y="2545690"/>
            <a:ext cx="395021" cy="395021"/>
          </a:xfrm>
          <a:prstGeom prst="rect">
            <a:avLst/>
          </a:prstGeom>
        </p:spPr>
      </p:pic>
      <p:sp>
        <p:nvSpPr>
          <p:cNvPr id="13" name="Text 8"/>
          <p:cNvSpPr txBox="1"/>
          <p:nvPr/>
        </p:nvSpPr>
        <p:spPr>
          <a:xfrm>
            <a:off x="4777740" y="3429000"/>
            <a:ext cx="2606040" cy="45720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Global</a:t>
            </a:r>
            <a:endParaRPr lang="en-US" sz="2200" dirty="0"/>
          </a:p>
        </p:txBody>
      </p:sp>
      <p:sp>
        <p:nvSpPr>
          <p:cNvPr id="14" name="Text 9"/>
          <p:cNvSpPr txBox="1"/>
          <p:nvPr/>
        </p:nvSpPr>
        <p:spPr>
          <a:xfrm>
            <a:off x="4777740" y="3977640"/>
            <a:ext cx="2606040" cy="1097280"/>
          </a:xfrm>
          <a:prstGeom prst="rect">
            <a:avLst/>
          </a:prstGeom>
          <a:noFill/>
          <a:ln/>
        </p:spPr>
        <p:txBody>
          <a:bodyPr wrap="square" lIns="0" tIns="0" rIns="0" bIns="0" rtlCol="0" anchor="t"/>
          <a:lstStyle/>
          <a:p>
            <a:pPr marL="0" indent="0">
              <a:buNone/>
            </a:pPr>
            <a:r>
              <a:rPr lang="en-US" sz="1600" dirty="0">
                <a:solidFill>
                  <a:schemeClr val="tx1"/>
                </a:solidFill>
              </a:rPr>
              <a:t>The GS1 Company Prefix keeps keys unique across companies and countries.</a:t>
            </a:r>
            <a:endParaRPr lang="en-US" sz="1600" dirty="0"/>
          </a:p>
        </p:txBody>
      </p:sp>
      <p:sp>
        <p:nvSpPr>
          <p:cNvPr id="15" name="Card 3"/>
          <p:cNvSpPr/>
          <p:nvPr/>
        </p:nvSpPr>
        <p:spPr>
          <a:xfrm>
            <a:off x="8183880" y="1874520"/>
            <a:ext cx="3429000" cy="3291840"/>
          </a:xfrm>
          <a:prstGeom prst="roundRect">
            <a:avLst>
              <a:gd name="adj" fmla="val 3333"/>
            </a:avLst>
          </a:prstGeom>
          <a:solidFill>
            <a:schemeClr val="accent1"/>
          </a:solidFill>
          <a:ln/>
        </p:spPr>
      </p:sp>
      <p:sp>
        <p:nvSpPr>
          <p:cNvPr id="16" name="Shape 11"/>
          <p:cNvSpPr/>
          <p:nvPr/>
        </p:nvSpPr>
        <p:spPr>
          <a:xfrm>
            <a:off x="8595360" y="2331720"/>
            <a:ext cx="822960" cy="822960"/>
          </a:xfrm>
          <a:prstGeom prst="ellipse">
            <a:avLst/>
          </a:prstGeom>
          <a:solidFill>
            <a:srgbClr val="FFFFFF"/>
          </a:solidFill>
          <a:ln/>
        </p:spPr>
      </p:sp>
      <p:pic>
        <p:nvPicPr>
          <p:cNvPr id="17" name="Image 2" descr="preencoded.png"/>
          <p:cNvPicPr>
            <a:picLocks noChangeAspect="1"/>
          </p:cNvPicPr>
          <p:nvPr/>
        </p:nvPicPr>
        <p:blipFill>
          <a:blip r:embed="rId5"/>
          <a:stretch>
            <a:fillRect/>
          </a:stretch>
        </p:blipFill>
        <p:spPr>
          <a:xfrm>
            <a:off x="8809330" y="2545690"/>
            <a:ext cx="395021" cy="395021"/>
          </a:xfrm>
          <a:prstGeom prst="rect">
            <a:avLst/>
          </a:prstGeom>
        </p:spPr>
      </p:pic>
      <p:sp>
        <p:nvSpPr>
          <p:cNvPr id="18" name="Text 12"/>
          <p:cNvSpPr txBox="1"/>
          <p:nvPr/>
        </p:nvSpPr>
        <p:spPr>
          <a:xfrm>
            <a:off x="8595360" y="3429000"/>
            <a:ext cx="2606040" cy="4572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Shared</a:t>
            </a:r>
            <a:endParaRPr lang="en-US" sz="2200" dirty="0"/>
          </a:p>
        </p:txBody>
      </p:sp>
      <p:sp>
        <p:nvSpPr>
          <p:cNvPr id="19" name="Text 13"/>
          <p:cNvSpPr txBox="1"/>
          <p:nvPr/>
        </p:nvSpPr>
        <p:spPr>
          <a:xfrm>
            <a:off x="8595360" y="3977640"/>
            <a:ext cx="2606040" cy="1097280"/>
          </a:xfrm>
          <a:prstGeom prst="rect">
            <a:avLst/>
          </a:prstGeom>
          <a:noFill/>
          <a:ln/>
        </p:spPr>
        <p:txBody>
          <a:bodyPr wrap="square" lIns="0" tIns="0" rIns="0" bIns="0" rtlCol="0" anchor="t"/>
          <a:lstStyle/>
          <a:p>
            <a:pPr marL="0" indent="0">
              <a:buNone/>
            </a:pPr>
            <a:r>
              <a:rPr lang="en-US" sz="1600" dirty="0">
                <a:solidFill>
                  <a:schemeClr val="bg1"/>
                </a:solidFill>
              </a:rPr>
              <a:t>Every partner reads the same key the same way, in any system.</a:t>
            </a:r>
            <a:endParaRPr lang="en-US" sz="16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Four GS1 Keys You Will Meet in EPCIS</a:t>
            </a:r>
            <a:endParaRPr lang="en-US" sz="3600" dirty="0"/>
          </a:p>
        </p:txBody>
      </p:sp>
      <p:sp>
        <p:nvSpPr>
          <p:cNvPr id="5" name="GTIN"/>
          <p:cNvSpPr/>
          <p:nvPr/>
        </p:nvSpPr>
        <p:spPr>
          <a:xfrm>
            <a:off x="548640" y="1828800"/>
            <a:ext cx="2587752" cy="3566160"/>
          </a:xfrm>
          <a:prstGeom prst="roundRect">
            <a:avLst>
              <a:gd name="adj" fmla="val 4240"/>
            </a:avLst>
          </a:prstGeom>
          <a:solidFill>
            <a:schemeClr val="bg2"/>
          </a:solidFill>
          <a:ln/>
        </p:spPr>
      </p:sp>
      <p:sp>
        <p:nvSpPr>
          <p:cNvPr id="6" name="Shape 3"/>
          <p:cNvSpPr/>
          <p:nvPr/>
        </p:nvSpPr>
        <p:spPr>
          <a:xfrm>
            <a:off x="1431036" y="2194560"/>
            <a:ext cx="822960" cy="822960"/>
          </a:xfrm>
          <a:prstGeom prst="ellipse">
            <a:avLst/>
          </a:prstGeom>
          <a:solidFill>
            <a:schemeClr val="accent1"/>
          </a:solidFill>
          <a:ln/>
        </p:spPr>
      </p:sp>
      <p:pic>
        <p:nvPicPr>
          <p:cNvPr id="7" name="Image 0" descr="preencoded.png"/>
          <p:cNvPicPr>
            <a:picLocks noChangeAspect="1"/>
          </p:cNvPicPr>
          <p:nvPr/>
        </p:nvPicPr>
        <p:blipFill>
          <a:blip r:embed="rId3"/>
          <a:stretch>
            <a:fillRect/>
          </a:stretch>
        </p:blipFill>
        <p:spPr>
          <a:xfrm>
            <a:off x="1645006" y="2408530"/>
            <a:ext cx="395021" cy="395021"/>
          </a:xfrm>
          <a:prstGeom prst="rect">
            <a:avLst/>
          </a:prstGeom>
        </p:spPr>
      </p:pic>
      <p:sp>
        <p:nvSpPr>
          <p:cNvPr id="8" name="Text 4"/>
          <p:cNvSpPr txBox="1"/>
          <p:nvPr/>
        </p:nvSpPr>
        <p:spPr>
          <a:xfrm>
            <a:off x="54864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GTIN</a:t>
            </a:r>
            <a:endParaRPr lang="en-US" sz="3000" dirty="0"/>
          </a:p>
        </p:txBody>
      </p:sp>
      <p:sp>
        <p:nvSpPr>
          <p:cNvPr id="9" name="Text 5"/>
          <p:cNvSpPr txBox="1"/>
          <p:nvPr/>
        </p:nvSpPr>
        <p:spPr>
          <a:xfrm>
            <a:off x="68580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A product type</a:t>
            </a:r>
            <a:endParaRPr lang="en-US" sz="1700" dirty="0"/>
          </a:p>
        </p:txBody>
      </p:sp>
      <p:sp>
        <p:nvSpPr>
          <p:cNvPr id="10" name="Text 6"/>
          <p:cNvSpPr txBox="1"/>
          <p:nvPr/>
        </p:nvSpPr>
        <p:spPr>
          <a:xfrm>
            <a:off x="68580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(01) 09520123456788</a:t>
            </a:r>
            <a:endParaRPr lang="en-US" sz="1300" dirty="0"/>
          </a:p>
        </p:txBody>
      </p:sp>
      <p:sp>
        <p:nvSpPr>
          <p:cNvPr id="11" name="SGTIN"/>
          <p:cNvSpPr/>
          <p:nvPr/>
        </p:nvSpPr>
        <p:spPr>
          <a:xfrm>
            <a:off x="3383280" y="1828800"/>
            <a:ext cx="2587752" cy="3566160"/>
          </a:xfrm>
          <a:prstGeom prst="roundRect">
            <a:avLst>
              <a:gd name="adj" fmla="val 4240"/>
            </a:avLst>
          </a:prstGeom>
          <a:solidFill>
            <a:schemeClr val="bg2"/>
          </a:solidFill>
          <a:ln/>
        </p:spPr>
      </p:sp>
      <p:sp>
        <p:nvSpPr>
          <p:cNvPr id="12" name="Shape 8"/>
          <p:cNvSpPr/>
          <p:nvPr/>
        </p:nvSpPr>
        <p:spPr>
          <a:xfrm>
            <a:off x="4265676" y="2194560"/>
            <a:ext cx="822960" cy="822960"/>
          </a:xfrm>
          <a:prstGeom prst="ellipse">
            <a:avLst/>
          </a:prstGeom>
          <a:solidFill>
            <a:schemeClr val="accent1"/>
          </a:solidFill>
          <a:ln/>
        </p:spPr>
      </p:sp>
      <p:pic>
        <p:nvPicPr>
          <p:cNvPr id="13" name="Image 1" descr="preencoded.png"/>
          <p:cNvPicPr>
            <a:picLocks noChangeAspect="1"/>
          </p:cNvPicPr>
          <p:nvPr/>
        </p:nvPicPr>
        <p:blipFill>
          <a:blip r:embed="rId4"/>
          <a:stretch>
            <a:fillRect/>
          </a:stretch>
        </p:blipFill>
        <p:spPr>
          <a:xfrm>
            <a:off x="4479646" y="2408530"/>
            <a:ext cx="395021" cy="395021"/>
          </a:xfrm>
          <a:prstGeom prst="rect">
            <a:avLst/>
          </a:prstGeom>
        </p:spPr>
      </p:pic>
      <p:sp>
        <p:nvSpPr>
          <p:cNvPr id="14" name="Text 9"/>
          <p:cNvSpPr txBox="1"/>
          <p:nvPr/>
        </p:nvSpPr>
        <p:spPr>
          <a:xfrm>
            <a:off x="338328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SGTIN</a:t>
            </a:r>
            <a:endParaRPr lang="en-US" sz="3000" dirty="0"/>
          </a:p>
        </p:txBody>
      </p:sp>
      <p:sp>
        <p:nvSpPr>
          <p:cNvPr id="15" name="Text 10"/>
          <p:cNvSpPr txBox="1"/>
          <p:nvPr/>
        </p:nvSpPr>
        <p:spPr>
          <a:xfrm>
            <a:off x="352044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One single item</a:t>
            </a:r>
            <a:endParaRPr lang="en-US" sz="1700" dirty="0"/>
          </a:p>
        </p:txBody>
      </p:sp>
      <p:sp>
        <p:nvSpPr>
          <p:cNvPr id="16" name="Text 11"/>
          <p:cNvSpPr txBox="1"/>
          <p:nvPr/>
        </p:nvSpPr>
        <p:spPr>
          <a:xfrm>
            <a:off x="352044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(01) + (21) serial 1001</a:t>
            </a:r>
            <a:endParaRPr lang="en-US" sz="1300" dirty="0"/>
          </a:p>
        </p:txBody>
      </p:sp>
      <p:sp>
        <p:nvSpPr>
          <p:cNvPr id="17" name="SSCC"/>
          <p:cNvSpPr/>
          <p:nvPr/>
        </p:nvSpPr>
        <p:spPr>
          <a:xfrm>
            <a:off x="6217920" y="1828800"/>
            <a:ext cx="2587752" cy="3566160"/>
          </a:xfrm>
          <a:prstGeom prst="roundRect">
            <a:avLst>
              <a:gd name="adj" fmla="val 4240"/>
            </a:avLst>
          </a:prstGeom>
          <a:solidFill>
            <a:schemeClr val="bg2"/>
          </a:solidFill>
          <a:ln/>
        </p:spPr>
      </p:sp>
      <p:sp>
        <p:nvSpPr>
          <p:cNvPr id="18" name="Shape 13"/>
          <p:cNvSpPr/>
          <p:nvPr/>
        </p:nvSpPr>
        <p:spPr>
          <a:xfrm>
            <a:off x="7100316" y="2194560"/>
            <a:ext cx="822960" cy="822960"/>
          </a:xfrm>
          <a:prstGeom prst="ellipse">
            <a:avLst/>
          </a:prstGeom>
          <a:solidFill>
            <a:schemeClr val="accent1"/>
          </a:solidFill>
          <a:ln/>
        </p:spPr>
      </p:sp>
      <p:pic>
        <p:nvPicPr>
          <p:cNvPr id="19" name="Image 2" descr="preencoded.png"/>
          <p:cNvPicPr>
            <a:picLocks noChangeAspect="1"/>
          </p:cNvPicPr>
          <p:nvPr/>
        </p:nvPicPr>
        <p:blipFill>
          <a:blip r:embed="rId5"/>
          <a:stretch>
            <a:fillRect/>
          </a:stretch>
        </p:blipFill>
        <p:spPr>
          <a:xfrm>
            <a:off x="7314286" y="2408530"/>
            <a:ext cx="395021" cy="395021"/>
          </a:xfrm>
          <a:prstGeom prst="rect">
            <a:avLst/>
          </a:prstGeom>
        </p:spPr>
      </p:pic>
      <p:sp>
        <p:nvSpPr>
          <p:cNvPr id="20" name="Text 14"/>
          <p:cNvSpPr txBox="1"/>
          <p:nvPr/>
        </p:nvSpPr>
        <p:spPr>
          <a:xfrm>
            <a:off x="621792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SSCC</a:t>
            </a:r>
            <a:endParaRPr lang="en-US" sz="3000" dirty="0"/>
          </a:p>
        </p:txBody>
      </p:sp>
      <p:sp>
        <p:nvSpPr>
          <p:cNvPr id="21" name="Text 15"/>
          <p:cNvSpPr txBox="1"/>
          <p:nvPr/>
        </p:nvSpPr>
        <p:spPr>
          <a:xfrm>
            <a:off x="635508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A pallet or parcel</a:t>
            </a:r>
            <a:endParaRPr lang="en-US" sz="1700" dirty="0"/>
          </a:p>
        </p:txBody>
      </p:sp>
      <p:sp>
        <p:nvSpPr>
          <p:cNvPr id="22" name="Text 16"/>
          <p:cNvSpPr txBox="1"/>
          <p:nvPr/>
        </p:nvSpPr>
        <p:spPr>
          <a:xfrm>
            <a:off x="635508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(00) 095201230000000011</a:t>
            </a:r>
            <a:endParaRPr lang="en-US" sz="1300" dirty="0"/>
          </a:p>
        </p:txBody>
      </p:sp>
      <p:sp>
        <p:nvSpPr>
          <p:cNvPr id="23" name="GLN"/>
          <p:cNvSpPr/>
          <p:nvPr/>
        </p:nvSpPr>
        <p:spPr>
          <a:xfrm>
            <a:off x="9052560" y="1828800"/>
            <a:ext cx="2587752" cy="3566160"/>
          </a:xfrm>
          <a:prstGeom prst="roundRect">
            <a:avLst>
              <a:gd name="adj" fmla="val 4240"/>
            </a:avLst>
          </a:prstGeom>
          <a:solidFill>
            <a:schemeClr val="bg2"/>
          </a:solidFill>
          <a:ln/>
        </p:spPr>
      </p:sp>
      <p:sp>
        <p:nvSpPr>
          <p:cNvPr id="24" name="Shape 18"/>
          <p:cNvSpPr/>
          <p:nvPr/>
        </p:nvSpPr>
        <p:spPr>
          <a:xfrm>
            <a:off x="9934956" y="2194560"/>
            <a:ext cx="822960" cy="822960"/>
          </a:xfrm>
          <a:prstGeom prst="ellipse">
            <a:avLst/>
          </a:prstGeom>
          <a:solidFill>
            <a:schemeClr val="accent1"/>
          </a:solidFill>
          <a:ln/>
        </p:spPr>
      </p:sp>
      <p:pic>
        <p:nvPicPr>
          <p:cNvPr id="25" name="Image 3" descr="preencoded.png"/>
          <p:cNvPicPr>
            <a:picLocks noChangeAspect="1"/>
          </p:cNvPicPr>
          <p:nvPr/>
        </p:nvPicPr>
        <p:blipFill>
          <a:blip r:embed="rId6"/>
          <a:stretch>
            <a:fillRect/>
          </a:stretch>
        </p:blipFill>
        <p:spPr>
          <a:xfrm>
            <a:off x="10148926" y="2408530"/>
            <a:ext cx="395021" cy="395021"/>
          </a:xfrm>
          <a:prstGeom prst="rect">
            <a:avLst/>
          </a:prstGeom>
        </p:spPr>
      </p:pic>
      <p:sp>
        <p:nvSpPr>
          <p:cNvPr id="26" name="Text 19"/>
          <p:cNvSpPr txBox="1"/>
          <p:nvPr/>
        </p:nvSpPr>
        <p:spPr>
          <a:xfrm>
            <a:off x="905256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GLN</a:t>
            </a:r>
            <a:endParaRPr lang="en-US" sz="3000" dirty="0"/>
          </a:p>
        </p:txBody>
      </p:sp>
      <p:sp>
        <p:nvSpPr>
          <p:cNvPr id="27" name="Text 20"/>
          <p:cNvSpPr txBox="1"/>
          <p:nvPr/>
        </p:nvSpPr>
        <p:spPr>
          <a:xfrm>
            <a:off x="918972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A place</a:t>
            </a:r>
            <a:endParaRPr lang="en-US" sz="1700" dirty="0"/>
          </a:p>
        </p:txBody>
      </p:sp>
      <p:sp>
        <p:nvSpPr>
          <p:cNvPr id="28" name="Text 21"/>
          <p:cNvSpPr txBox="1"/>
          <p:nvPr/>
        </p:nvSpPr>
        <p:spPr>
          <a:xfrm>
            <a:off x="918972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(414) 9520123456788</a:t>
            </a:r>
            <a:endParaRPr lang="en-US" sz="1300" dirty="0"/>
          </a:p>
        </p:txBody>
      </p:sp>
      <p:sp>
        <p:nvSpPr>
          <p:cNvPr id="29" name="Text 22"/>
          <p:cNvSpPr txBox="1"/>
          <p:nvPr/>
        </p:nvSpPr>
        <p:spPr>
          <a:xfrm>
            <a:off x="546617" y="5760720"/>
            <a:ext cx="11064240" cy="320040"/>
          </a:xfrm>
          <a:prstGeom prst="rect">
            <a:avLst/>
          </a:prstGeom>
          <a:noFill/>
          <a:ln/>
        </p:spPr>
        <p:txBody>
          <a:bodyPr wrap="square" lIns="0" tIns="0" rIns="0" bIns="0" rtlCol="0" anchor="ctr"/>
          <a:lstStyle/>
          <a:p>
            <a:r>
              <a:rPr lang="en-US" sz="1400" dirty="0">
                <a:solidFill>
                  <a:schemeClr val="accent5"/>
                </a:solidFill>
              </a:rPr>
              <a:t>Official definitions:  </a:t>
            </a:r>
            <a:r>
              <a:rPr lang="en-US" sz="1400" u="sng" dirty="0">
                <a:solidFill>
                  <a:schemeClr val="accent2"/>
                </a:solidFill>
                <a:hlinkClick r:id="rId7" tooltip="https://ref.gs1.org/standards/genspecs/">
                  <a:extLst>
                    <a:ext uri="{A12FA001-AC4F-418D-AE19-62706E023703}">
                      <ahyp:hlinkClr xmlns:ahyp="http://schemas.microsoft.com/office/drawing/2018/hyperlinkcolor" val="tx"/>
                    </a:ext>
                  </a:extLst>
                </a:hlinkClick>
              </a:rPr>
              <a:t>GS1 General Specifications</a:t>
            </a:r>
            <a:r>
              <a:rPr lang="en-US" sz="1400" u="sng" dirty="0">
                <a:solidFill>
                  <a:schemeClr val="accent2"/>
                </a:solidFill>
              </a:rPr>
              <a:t> </a:t>
            </a:r>
          </a:p>
          <a:p>
            <a:r>
              <a:rPr lang="en-US" sz="1400" dirty="0">
                <a:solidFill>
                  <a:schemeClr val="accent5"/>
                </a:solidFill>
              </a:rPr>
              <a:t>GS1 Application Identifiers: </a:t>
            </a:r>
            <a:r>
              <a:rPr lang="en-US" sz="1400" u="sng" dirty="0">
                <a:solidFill>
                  <a:schemeClr val="accent2"/>
                </a:solidFill>
                <a:hlinkClick r:id="rId8"/>
              </a:rPr>
              <a:t>https://ref.gs1.org/ai/</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Inside a GTIN-14</a:t>
            </a:r>
            <a:endParaRPr lang="en-US" sz="3600" dirty="0"/>
          </a:p>
        </p:txBody>
      </p:sp>
      <p:sp>
        <p:nvSpPr>
          <p:cNvPr id="5" name="Indicator"/>
          <p:cNvSpPr/>
          <p:nvPr/>
        </p:nvSpPr>
        <p:spPr>
          <a:xfrm>
            <a:off x="1014984" y="2011680"/>
            <a:ext cx="1188720" cy="1371600"/>
          </a:xfrm>
          <a:prstGeom prst="roundRect">
            <a:avLst>
              <a:gd name="adj" fmla="val 9231"/>
            </a:avLst>
          </a:prstGeom>
          <a:solidFill>
            <a:schemeClr val="bg2"/>
          </a:solidFill>
          <a:ln/>
        </p:spPr>
      </p:sp>
      <p:sp>
        <p:nvSpPr>
          <p:cNvPr id="6" name="Text 3"/>
          <p:cNvSpPr txBox="1"/>
          <p:nvPr/>
        </p:nvSpPr>
        <p:spPr>
          <a:xfrm>
            <a:off x="1014984" y="2011680"/>
            <a:ext cx="1188720" cy="1371600"/>
          </a:xfrm>
          <a:prstGeom prst="rect">
            <a:avLst/>
          </a:prstGeom>
          <a:noFill/>
          <a:ln/>
        </p:spPr>
        <p:txBody>
          <a:bodyPr wrap="square" lIns="0" tIns="0" rIns="0" bIns="0" rtlCol="0" anchor="ctr"/>
          <a:lstStyle/>
          <a:p>
            <a:pPr marL="0" indent="0" algn="ctr">
              <a:buNone/>
            </a:pPr>
            <a:r>
              <a:rPr lang="en-US" sz="4800" b="1" dirty="0">
                <a:solidFill>
                  <a:schemeClr val="tx2"/>
                </a:solidFill>
                <a:latin typeface="Courier New" pitchFamily="34" charset="0"/>
                <a:ea typeface="Courier New" pitchFamily="34" charset="-122"/>
                <a:cs typeface="Courier New" pitchFamily="34" charset="-120"/>
              </a:rPr>
              <a:t>0</a:t>
            </a:r>
            <a:endParaRPr lang="en-US" sz="4800" dirty="0"/>
          </a:p>
        </p:txBody>
      </p:sp>
      <p:sp>
        <p:nvSpPr>
          <p:cNvPr id="7" name="Text 4"/>
          <p:cNvSpPr txBox="1"/>
          <p:nvPr/>
        </p:nvSpPr>
        <p:spPr>
          <a:xfrm>
            <a:off x="832104" y="3566160"/>
            <a:ext cx="1554480" cy="365760"/>
          </a:xfrm>
          <a:prstGeom prst="rect">
            <a:avLst/>
          </a:prstGeom>
          <a:noFill/>
          <a:ln/>
        </p:spPr>
        <p:txBody>
          <a:bodyPr wrap="square" lIns="0" tIns="0" rIns="0" bIns="0" rtlCol="0" anchor="ctr"/>
          <a:lstStyle/>
          <a:p>
            <a:pPr marL="0" indent="0" algn="ctr">
              <a:buNone/>
            </a:pPr>
            <a:r>
              <a:rPr lang="en-US" sz="1700" b="1" dirty="0">
                <a:solidFill>
                  <a:schemeClr val="tx1"/>
                </a:solidFill>
              </a:rPr>
              <a:t>Indicator</a:t>
            </a:r>
            <a:endParaRPr lang="en-US" sz="1700" dirty="0"/>
          </a:p>
        </p:txBody>
      </p:sp>
      <p:sp>
        <p:nvSpPr>
          <p:cNvPr id="8" name="Text 5"/>
          <p:cNvSpPr txBox="1"/>
          <p:nvPr/>
        </p:nvSpPr>
        <p:spPr>
          <a:xfrm>
            <a:off x="832104" y="3931920"/>
            <a:ext cx="1554480" cy="320040"/>
          </a:xfrm>
          <a:prstGeom prst="rect">
            <a:avLst/>
          </a:prstGeom>
          <a:noFill/>
          <a:ln/>
        </p:spPr>
        <p:txBody>
          <a:bodyPr wrap="square" lIns="0" tIns="0" rIns="0" bIns="0" rtlCol="0" anchor="ctr"/>
          <a:lstStyle/>
          <a:p>
            <a:pPr marL="0" indent="0" algn="ctr">
              <a:buNone/>
            </a:pPr>
            <a:r>
              <a:rPr lang="en-US" sz="1400" dirty="0">
                <a:solidFill>
                  <a:schemeClr val="accent5"/>
                </a:solidFill>
              </a:rPr>
              <a:t>Packaging level</a:t>
            </a:r>
            <a:endParaRPr lang="en-US" sz="1400" dirty="0"/>
          </a:p>
        </p:txBody>
      </p:sp>
      <p:sp>
        <p:nvSpPr>
          <p:cNvPr id="9" name="GS1 Company Prefix"/>
          <p:cNvSpPr/>
          <p:nvPr/>
        </p:nvSpPr>
        <p:spPr>
          <a:xfrm>
            <a:off x="2359152" y="2011680"/>
            <a:ext cx="4206240" cy="1371600"/>
          </a:xfrm>
          <a:prstGeom prst="roundRect">
            <a:avLst>
              <a:gd name="adj" fmla="val 8000"/>
            </a:avLst>
          </a:prstGeom>
          <a:solidFill>
            <a:schemeClr val="accent1"/>
          </a:solidFill>
          <a:ln/>
        </p:spPr>
      </p:sp>
      <p:sp>
        <p:nvSpPr>
          <p:cNvPr id="10" name="Text 7"/>
          <p:cNvSpPr txBox="1"/>
          <p:nvPr/>
        </p:nvSpPr>
        <p:spPr>
          <a:xfrm>
            <a:off x="2359152" y="2011680"/>
            <a:ext cx="4206240" cy="1371600"/>
          </a:xfrm>
          <a:prstGeom prst="rect">
            <a:avLst/>
          </a:prstGeom>
          <a:noFill/>
          <a:ln/>
        </p:spPr>
        <p:txBody>
          <a:bodyPr wrap="square" lIns="0" tIns="0" rIns="0" bIns="0" rtlCol="0" anchor="ctr"/>
          <a:lstStyle/>
          <a:p>
            <a:pPr marL="0" indent="0" algn="ctr">
              <a:buNone/>
            </a:pPr>
            <a:r>
              <a:rPr lang="en-US" sz="4800" b="1" dirty="0">
                <a:solidFill>
                  <a:schemeClr val="bg1"/>
                </a:solidFill>
                <a:latin typeface="Courier New" pitchFamily="34" charset="0"/>
                <a:ea typeface="Courier New" pitchFamily="34" charset="-122"/>
                <a:cs typeface="Courier New" pitchFamily="34" charset="-120"/>
              </a:rPr>
              <a:t>4068194</a:t>
            </a:r>
            <a:endParaRPr lang="en-US" sz="4800" dirty="0"/>
          </a:p>
        </p:txBody>
      </p:sp>
      <p:sp>
        <p:nvSpPr>
          <p:cNvPr id="11" name="Text 8"/>
          <p:cNvSpPr txBox="1"/>
          <p:nvPr/>
        </p:nvSpPr>
        <p:spPr>
          <a:xfrm>
            <a:off x="2176272" y="3566160"/>
            <a:ext cx="4572000" cy="365760"/>
          </a:xfrm>
          <a:prstGeom prst="rect">
            <a:avLst/>
          </a:prstGeom>
          <a:noFill/>
          <a:ln/>
        </p:spPr>
        <p:txBody>
          <a:bodyPr wrap="square" lIns="0" tIns="0" rIns="0" bIns="0" rtlCol="0" anchor="ctr"/>
          <a:lstStyle/>
          <a:p>
            <a:pPr marL="0" indent="0" algn="ctr">
              <a:buNone/>
            </a:pPr>
            <a:r>
              <a:rPr lang="en-US" sz="1700" b="1" dirty="0">
                <a:solidFill>
                  <a:schemeClr val="tx1"/>
                </a:solidFill>
              </a:rPr>
              <a:t>GS1 Company Prefix</a:t>
            </a:r>
            <a:endParaRPr lang="en-US" sz="1700" dirty="0"/>
          </a:p>
        </p:txBody>
      </p:sp>
      <p:sp>
        <p:nvSpPr>
          <p:cNvPr id="12" name="Text 9"/>
          <p:cNvSpPr txBox="1"/>
          <p:nvPr/>
        </p:nvSpPr>
        <p:spPr>
          <a:xfrm>
            <a:off x="2176272" y="3931920"/>
            <a:ext cx="4572000" cy="320040"/>
          </a:xfrm>
          <a:prstGeom prst="rect">
            <a:avLst/>
          </a:prstGeom>
          <a:noFill/>
          <a:ln/>
        </p:spPr>
        <p:txBody>
          <a:bodyPr wrap="square" lIns="0" tIns="0" rIns="0" bIns="0" rtlCol="0" anchor="ctr"/>
          <a:lstStyle/>
          <a:p>
            <a:pPr marL="0" indent="0" algn="ctr">
              <a:buNone/>
            </a:pPr>
            <a:r>
              <a:rPr lang="en-US" sz="1400" dirty="0">
                <a:solidFill>
                  <a:schemeClr val="accent5"/>
                </a:solidFill>
              </a:rPr>
              <a:t>Who owns it: benelog</a:t>
            </a:r>
            <a:endParaRPr lang="en-US" sz="1400" dirty="0"/>
          </a:p>
        </p:txBody>
      </p:sp>
      <p:sp>
        <p:nvSpPr>
          <p:cNvPr id="13" name="Item reference"/>
          <p:cNvSpPr/>
          <p:nvPr/>
        </p:nvSpPr>
        <p:spPr>
          <a:xfrm>
            <a:off x="6720840" y="2011680"/>
            <a:ext cx="3108960" cy="1371600"/>
          </a:xfrm>
          <a:prstGeom prst="roundRect">
            <a:avLst>
              <a:gd name="adj" fmla="val 8000"/>
            </a:avLst>
          </a:prstGeom>
          <a:solidFill>
            <a:schemeClr val="bg2"/>
          </a:solidFill>
          <a:ln/>
        </p:spPr>
      </p:sp>
      <p:sp>
        <p:nvSpPr>
          <p:cNvPr id="14" name="Text 11"/>
          <p:cNvSpPr txBox="1"/>
          <p:nvPr/>
        </p:nvSpPr>
        <p:spPr>
          <a:xfrm>
            <a:off x="6720840" y="2011680"/>
            <a:ext cx="3108960" cy="1371600"/>
          </a:xfrm>
          <a:prstGeom prst="rect">
            <a:avLst/>
          </a:prstGeom>
          <a:noFill/>
          <a:ln/>
        </p:spPr>
        <p:txBody>
          <a:bodyPr wrap="square" lIns="0" tIns="0" rIns="0" bIns="0" rtlCol="0" anchor="ctr"/>
          <a:lstStyle/>
          <a:p>
            <a:pPr marL="0" indent="0" algn="ctr">
              <a:buNone/>
            </a:pPr>
            <a:r>
              <a:rPr lang="en-US" sz="4800" b="1" dirty="0">
                <a:solidFill>
                  <a:schemeClr val="tx2"/>
                </a:solidFill>
                <a:latin typeface="Courier New" pitchFamily="34" charset="0"/>
                <a:ea typeface="Courier New" pitchFamily="34" charset="-122"/>
                <a:cs typeface="Courier New" pitchFamily="34" charset="-120"/>
              </a:rPr>
              <a:t>00000</a:t>
            </a:r>
            <a:endParaRPr lang="en-US" sz="4800" dirty="0"/>
          </a:p>
        </p:txBody>
      </p:sp>
      <p:sp>
        <p:nvSpPr>
          <p:cNvPr id="15" name="Text 12"/>
          <p:cNvSpPr txBox="1"/>
          <p:nvPr/>
        </p:nvSpPr>
        <p:spPr>
          <a:xfrm>
            <a:off x="6537960" y="3566160"/>
            <a:ext cx="3474720" cy="365760"/>
          </a:xfrm>
          <a:prstGeom prst="rect">
            <a:avLst/>
          </a:prstGeom>
          <a:noFill/>
          <a:ln/>
        </p:spPr>
        <p:txBody>
          <a:bodyPr wrap="square" lIns="0" tIns="0" rIns="0" bIns="0" rtlCol="0" anchor="ctr"/>
          <a:lstStyle/>
          <a:p>
            <a:pPr marL="0" indent="0" algn="ctr">
              <a:buNone/>
            </a:pPr>
            <a:r>
              <a:rPr lang="en-US" sz="1700" b="1" dirty="0">
                <a:solidFill>
                  <a:schemeClr val="tx1"/>
                </a:solidFill>
              </a:rPr>
              <a:t>Item reference</a:t>
            </a:r>
            <a:endParaRPr lang="en-US" sz="1700" dirty="0"/>
          </a:p>
        </p:txBody>
      </p:sp>
      <p:sp>
        <p:nvSpPr>
          <p:cNvPr id="16" name="Text 13"/>
          <p:cNvSpPr txBox="1"/>
          <p:nvPr/>
        </p:nvSpPr>
        <p:spPr>
          <a:xfrm>
            <a:off x="6537960" y="3931920"/>
            <a:ext cx="3474720" cy="320040"/>
          </a:xfrm>
          <a:prstGeom prst="rect">
            <a:avLst/>
          </a:prstGeom>
          <a:noFill/>
          <a:ln/>
        </p:spPr>
        <p:txBody>
          <a:bodyPr wrap="square" lIns="0" tIns="0" rIns="0" bIns="0" rtlCol="0" anchor="ctr"/>
          <a:lstStyle/>
          <a:p>
            <a:pPr marL="0" indent="0" algn="ctr">
              <a:buNone/>
            </a:pPr>
            <a:r>
              <a:rPr lang="en-US" sz="1400" dirty="0">
                <a:solidFill>
                  <a:schemeClr val="accent5"/>
                </a:solidFill>
              </a:rPr>
              <a:t>Which product</a:t>
            </a:r>
            <a:endParaRPr lang="en-US" sz="1400" dirty="0"/>
          </a:p>
        </p:txBody>
      </p:sp>
      <p:sp>
        <p:nvSpPr>
          <p:cNvPr id="17" name="Check digit"/>
          <p:cNvSpPr/>
          <p:nvPr/>
        </p:nvSpPr>
        <p:spPr>
          <a:xfrm>
            <a:off x="9985248" y="2011680"/>
            <a:ext cx="1188720" cy="1371600"/>
          </a:xfrm>
          <a:prstGeom prst="roundRect">
            <a:avLst>
              <a:gd name="adj" fmla="val 9231"/>
            </a:avLst>
          </a:prstGeom>
          <a:solidFill>
            <a:schemeClr val="bg2"/>
          </a:solidFill>
          <a:ln/>
        </p:spPr>
      </p:sp>
      <p:sp>
        <p:nvSpPr>
          <p:cNvPr id="18" name="Text 15"/>
          <p:cNvSpPr txBox="1"/>
          <p:nvPr/>
        </p:nvSpPr>
        <p:spPr>
          <a:xfrm>
            <a:off x="9985248" y="2011680"/>
            <a:ext cx="1188720" cy="1371600"/>
          </a:xfrm>
          <a:prstGeom prst="rect">
            <a:avLst/>
          </a:prstGeom>
          <a:noFill/>
          <a:ln/>
        </p:spPr>
        <p:txBody>
          <a:bodyPr wrap="square" lIns="0" tIns="0" rIns="0" bIns="0" rtlCol="0" anchor="ctr"/>
          <a:lstStyle/>
          <a:p>
            <a:pPr marL="0" indent="0" algn="ctr">
              <a:buNone/>
            </a:pPr>
            <a:r>
              <a:rPr lang="en-US" sz="4800" b="1" dirty="0">
                <a:solidFill>
                  <a:schemeClr val="tx2"/>
                </a:solidFill>
                <a:latin typeface="Courier New" pitchFamily="34" charset="0"/>
                <a:ea typeface="Courier New" pitchFamily="34" charset="-122"/>
                <a:cs typeface="Courier New" pitchFamily="34" charset="-120"/>
              </a:rPr>
              <a:t>4</a:t>
            </a:r>
            <a:endParaRPr lang="en-US" sz="4800" dirty="0"/>
          </a:p>
        </p:txBody>
      </p:sp>
      <p:sp>
        <p:nvSpPr>
          <p:cNvPr id="19" name="Text 16"/>
          <p:cNvSpPr txBox="1"/>
          <p:nvPr/>
        </p:nvSpPr>
        <p:spPr>
          <a:xfrm>
            <a:off x="9802368" y="3566160"/>
            <a:ext cx="1554480" cy="365760"/>
          </a:xfrm>
          <a:prstGeom prst="rect">
            <a:avLst/>
          </a:prstGeom>
          <a:noFill/>
          <a:ln/>
        </p:spPr>
        <p:txBody>
          <a:bodyPr wrap="square" lIns="0" tIns="0" rIns="0" bIns="0" rtlCol="0" anchor="ctr"/>
          <a:lstStyle/>
          <a:p>
            <a:pPr marL="0" indent="0" algn="ctr">
              <a:buNone/>
            </a:pPr>
            <a:r>
              <a:rPr lang="en-US" sz="1700" b="1" dirty="0">
                <a:solidFill>
                  <a:schemeClr val="tx1"/>
                </a:solidFill>
              </a:rPr>
              <a:t>Check digit</a:t>
            </a:r>
            <a:endParaRPr lang="en-US" sz="1700" dirty="0"/>
          </a:p>
        </p:txBody>
      </p:sp>
      <p:sp>
        <p:nvSpPr>
          <p:cNvPr id="20" name="Text 17"/>
          <p:cNvSpPr txBox="1"/>
          <p:nvPr/>
        </p:nvSpPr>
        <p:spPr>
          <a:xfrm>
            <a:off x="9802368" y="3931920"/>
            <a:ext cx="1554480" cy="320040"/>
          </a:xfrm>
          <a:prstGeom prst="rect">
            <a:avLst/>
          </a:prstGeom>
          <a:noFill/>
          <a:ln/>
        </p:spPr>
        <p:txBody>
          <a:bodyPr wrap="square" lIns="0" tIns="0" rIns="0" bIns="0" rtlCol="0" anchor="ctr"/>
          <a:lstStyle/>
          <a:p>
            <a:pPr marL="0" indent="0" algn="ctr">
              <a:buNone/>
            </a:pPr>
            <a:r>
              <a:rPr lang="en-US" sz="1400" dirty="0">
                <a:solidFill>
                  <a:schemeClr val="accent5"/>
                </a:solidFill>
              </a:rPr>
              <a:t>Catches typos</a:t>
            </a:r>
            <a:endParaRPr lang="en-US" sz="1400" dirty="0"/>
          </a:p>
        </p:txBody>
      </p:sp>
      <p:sp>
        <p:nvSpPr>
          <p:cNvPr id="21" name="Key message"/>
          <p:cNvSpPr/>
          <p:nvPr/>
        </p:nvSpPr>
        <p:spPr>
          <a:xfrm>
            <a:off x="2194560" y="4709160"/>
            <a:ext cx="7799832" cy="868680"/>
          </a:xfrm>
          <a:prstGeom prst="roundRect">
            <a:avLst>
              <a:gd name="adj" fmla="val 12632"/>
            </a:avLst>
          </a:prstGeom>
          <a:solidFill>
            <a:schemeClr val="bg2"/>
          </a:solidFill>
          <a:ln/>
        </p:spPr>
      </p:sp>
      <p:sp>
        <p:nvSpPr>
          <p:cNvPr id="22" name="Shape 19"/>
          <p:cNvSpPr/>
          <p:nvPr/>
        </p:nvSpPr>
        <p:spPr>
          <a:xfrm>
            <a:off x="2423160" y="4846320"/>
            <a:ext cx="594360" cy="594360"/>
          </a:xfrm>
          <a:prstGeom prst="ellipse">
            <a:avLst/>
          </a:prstGeom>
          <a:solidFill>
            <a:schemeClr val="accent3"/>
          </a:solidFill>
          <a:ln/>
        </p:spPr>
      </p:sp>
      <p:pic>
        <p:nvPicPr>
          <p:cNvPr id="23" name="Image 0" descr="preencoded.png"/>
          <p:cNvPicPr>
            <a:picLocks noChangeAspect="1"/>
          </p:cNvPicPr>
          <p:nvPr/>
        </p:nvPicPr>
        <p:blipFill>
          <a:blip r:embed="rId3"/>
          <a:stretch>
            <a:fillRect/>
          </a:stretch>
        </p:blipFill>
        <p:spPr>
          <a:xfrm>
            <a:off x="2577694" y="5000854"/>
            <a:ext cx="285293" cy="285293"/>
          </a:xfrm>
          <a:prstGeom prst="rect">
            <a:avLst/>
          </a:prstGeom>
        </p:spPr>
      </p:pic>
      <p:sp>
        <p:nvSpPr>
          <p:cNvPr id="24" name="Text 20"/>
          <p:cNvSpPr txBox="1"/>
          <p:nvPr/>
        </p:nvSpPr>
        <p:spPr>
          <a:xfrm>
            <a:off x="3200400" y="4709160"/>
            <a:ext cx="6583680" cy="868680"/>
          </a:xfrm>
          <a:prstGeom prst="rect">
            <a:avLst/>
          </a:prstGeom>
          <a:noFill/>
          <a:ln/>
        </p:spPr>
        <p:txBody>
          <a:bodyPr wrap="square" lIns="0" tIns="0" rIns="0" bIns="0" rtlCol="0" anchor="ctr"/>
          <a:lstStyle/>
          <a:p>
            <a:r>
              <a:rPr lang="en-US" sz="1700" dirty="0">
                <a:solidFill>
                  <a:schemeClr val="tx1"/>
                </a:solidFill>
              </a:rPr>
              <a:t>A real GTIN, owned by benelog. </a:t>
            </a:r>
            <a:r>
              <a:rPr lang="en-US" sz="1700" dirty="0"/>
              <a:t>Use GS1 prefix 952</a:t>
            </a:r>
            <a:r>
              <a:rPr lang="en-US" sz="1700" dirty="0">
                <a:solidFill>
                  <a:schemeClr val="tx1"/>
                </a:solidFill>
              </a:rPr>
              <a:t> for demos.</a:t>
            </a:r>
            <a:endParaRPr lang="en-US" sz="17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r>
              <a:rPr lang="en-US" dirty="0"/>
              <a:t>5</a:t>
            </a:r>
          </a:p>
        </p:txBody>
      </p:sp>
      <p:sp>
        <p:nvSpPr>
          <p:cNvPr id="4" name="TextBox 3">
            <a:extLst>
              <a:ext uri="{FF2B5EF4-FFF2-40B4-BE49-F238E27FC236}">
                <a16:creationId xmlns:a16="http://schemas.microsoft.com/office/drawing/2014/main" id="{24F1B63A-FE72-2858-ACC0-38DF196A843B}"/>
              </a:ext>
            </a:extLst>
          </p:cNvPr>
          <p:cNvSpPr txBox="1"/>
          <p:nvPr/>
        </p:nvSpPr>
        <p:spPr>
          <a:xfrm>
            <a:off x="587725" y="5732374"/>
            <a:ext cx="4746620" cy="338554"/>
          </a:xfrm>
          <a:prstGeom prst="rect">
            <a:avLst/>
          </a:prstGeom>
          <a:noFill/>
        </p:spPr>
        <p:txBody>
          <a:bodyPr wrap="none" rtlCol="0">
            <a:spAutoFit/>
          </a:bodyPr>
          <a:lstStyle/>
          <a:p>
            <a:r>
              <a:rPr lang="en-US" sz="1600" dirty="0">
                <a:solidFill>
                  <a:schemeClr val="accent5"/>
                </a:solidFill>
              </a:rPr>
              <a:t>benelog GTIN:  </a:t>
            </a:r>
            <a:r>
              <a:rPr lang="en-GB" sz="1600" dirty="0">
                <a:hlinkClick r:id="rId4"/>
              </a:rPr>
              <a:t>https://id.gs1.org/01/04068194000004</a:t>
            </a:r>
            <a:endParaRPr lang="en-GB"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Product, Batch or Single Item?</a:t>
            </a:r>
            <a:endParaRPr lang="en-US" sz="3600" dirty="0"/>
          </a:p>
        </p:txBody>
      </p:sp>
      <p:sp>
        <p:nvSpPr>
          <p:cNvPr id="5" name="All bars of this kind"/>
          <p:cNvSpPr/>
          <p:nvPr/>
        </p:nvSpPr>
        <p:spPr>
          <a:xfrm>
            <a:off x="548640" y="1783080"/>
            <a:ext cx="11091672" cy="1005840"/>
          </a:xfrm>
          <a:prstGeom prst="roundRect">
            <a:avLst>
              <a:gd name="adj" fmla="val 10909"/>
            </a:avLst>
          </a:prstGeom>
          <a:solidFill>
            <a:schemeClr val="bg2"/>
          </a:solidFill>
          <a:ln/>
        </p:spPr>
      </p:sp>
      <p:sp>
        <p:nvSpPr>
          <p:cNvPr id="6" name="Shape 3"/>
          <p:cNvSpPr/>
          <p:nvPr/>
        </p:nvSpPr>
        <p:spPr>
          <a:xfrm>
            <a:off x="777240" y="1965960"/>
            <a:ext cx="640080" cy="640080"/>
          </a:xfrm>
          <a:prstGeom prst="ellipse">
            <a:avLst/>
          </a:prstGeom>
          <a:solidFill>
            <a:srgbClr val="0B4A86"/>
          </a:solidFill>
          <a:ln/>
        </p:spPr>
      </p:sp>
      <p:pic>
        <p:nvPicPr>
          <p:cNvPr id="7" name="Image 0" descr="preencoded.png"/>
          <p:cNvPicPr>
            <a:picLocks noChangeAspect="1"/>
          </p:cNvPicPr>
          <p:nvPr/>
        </p:nvPicPr>
        <p:blipFill>
          <a:blip r:embed="rId3"/>
          <a:stretch>
            <a:fillRect/>
          </a:stretch>
        </p:blipFill>
        <p:spPr>
          <a:xfrm>
            <a:off x="943661" y="2132381"/>
            <a:ext cx="307238" cy="307238"/>
          </a:xfrm>
          <a:prstGeom prst="rect">
            <a:avLst/>
          </a:prstGeom>
        </p:spPr>
      </p:pic>
      <p:sp>
        <p:nvSpPr>
          <p:cNvPr id="8" name="Text 4"/>
          <p:cNvSpPr txBox="1"/>
          <p:nvPr/>
        </p:nvSpPr>
        <p:spPr>
          <a:xfrm>
            <a:off x="1645920" y="1920240"/>
            <a:ext cx="3108960" cy="411480"/>
          </a:xfrm>
          <a:prstGeom prst="rect">
            <a:avLst/>
          </a:prstGeom>
          <a:noFill/>
          <a:ln/>
        </p:spPr>
        <p:txBody>
          <a:bodyPr wrap="square" lIns="0" tIns="0" rIns="0" bIns="0" rtlCol="0" anchor="ctr"/>
          <a:lstStyle/>
          <a:p>
            <a:pPr marL="0" indent="0">
              <a:buNone/>
            </a:pPr>
            <a:r>
              <a:rPr lang="en-US" sz="1900" b="1" dirty="0">
                <a:solidFill>
                  <a:schemeClr val="tx1"/>
                </a:solidFill>
              </a:rPr>
              <a:t>All bars of this kind</a:t>
            </a:r>
            <a:endParaRPr lang="en-US" sz="1900" dirty="0"/>
          </a:p>
        </p:txBody>
      </p:sp>
      <p:sp>
        <p:nvSpPr>
          <p:cNvPr id="9" name="Text 5"/>
          <p:cNvSpPr txBox="1"/>
          <p:nvPr/>
        </p:nvSpPr>
        <p:spPr>
          <a:xfrm>
            <a:off x="1645920" y="2331720"/>
            <a:ext cx="3108960" cy="320040"/>
          </a:xfrm>
          <a:prstGeom prst="rect">
            <a:avLst/>
          </a:prstGeom>
          <a:noFill/>
          <a:ln/>
        </p:spPr>
        <p:txBody>
          <a:bodyPr wrap="square" lIns="0" tIns="0" rIns="0" bIns="0" rtlCol="0" anchor="ctr"/>
          <a:lstStyle/>
          <a:p>
            <a:pPr marL="0" indent="0">
              <a:buNone/>
            </a:pPr>
            <a:r>
              <a:rPr lang="en-US" sz="1400" dirty="0">
                <a:solidFill>
                  <a:schemeClr val="accent5"/>
                </a:solidFill>
              </a:rPr>
              <a:t>GTIN</a:t>
            </a:r>
            <a:endParaRPr lang="en-US" sz="1400" dirty="0"/>
          </a:p>
        </p:txBody>
      </p:sp>
      <p:sp>
        <p:nvSpPr>
          <p:cNvPr id="10" name="Text 6"/>
          <p:cNvSpPr txBox="1"/>
          <p:nvPr/>
        </p:nvSpPr>
        <p:spPr>
          <a:xfrm>
            <a:off x="4754880" y="1783080"/>
            <a:ext cx="5120640" cy="100584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https://id.gs1.org/01/09520123456788</a:t>
            </a:r>
            <a:endParaRPr lang="en-US" sz="1300" dirty="0"/>
          </a:p>
        </p:txBody>
      </p:sp>
      <p:sp>
        <p:nvSpPr>
          <p:cNvPr id="11" name="Text 7"/>
          <p:cNvSpPr txBox="1"/>
          <p:nvPr/>
        </p:nvSpPr>
        <p:spPr>
          <a:xfrm>
            <a:off x="9966960" y="2075688"/>
            <a:ext cx="1463040" cy="420624"/>
          </a:xfrm>
          <a:prstGeom prst="rect">
            <a:avLst/>
          </a:prstGeom>
          <a:noFill/>
          <a:ln/>
        </p:spPr>
        <p:txBody>
          <a:bodyPr wrap="square" lIns="0" tIns="0" rIns="0" bIns="0" rtlCol="0" anchor="ctr"/>
          <a:lstStyle/>
          <a:p>
            <a:pPr marL="0" indent="0" algn="r">
              <a:buNone/>
            </a:pPr>
            <a:r>
              <a:rPr lang="en-US" sz="1200" b="1" dirty="0">
                <a:solidFill>
                  <a:schemeClr val="accent2"/>
                </a:solidFill>
                <a:latin typeface="Courier New" pitchFamily="34" charset="0"/>
                <a:ea typeface="Courier New" pitchFamily="34" charset="-122"/>
                <a:cs typeface="Courier New" pitchFamily="34" charset="-120"/>
              </a:rPr>
              <a:t>quantityList</a:t>
            </a:r>
            <a:endParaRPr lang="en-US" sz="1200" dirty="0"/>
          </a:p>
        </p:txBody>
      </p:sp>
      <p:sp>
        <p:nvSpPr>
          <p:cNvPr id="12" name="One production batch"/>
          <p:cNvSpPr/>
          <p:nvPr/>
        </p:nvSpPr>
        <p:spPr>
          <a:xfrm>
            <a:off x="548640" y="2971800"/>
            <a:ext cx="11091672" cy="1005840"/>
          </a:xfrm>
          <a:prstGeom prst="roundRect">
            <a:avLst>
              <a:gd name="adj" fmla="val 10909"/>
            </a:avLst>
          </a:prstGeom>
          <a:solidFill>
            <a:schemeClr val="bg2"/>
          </a:solidFill>
          <a:ln/>
        </p:spPr>
      </p:sp>
      <p:sp>
        <p:nvSpPr>
          <p:cNvPr id="13" name="Shape 9"/>
          <p:cNvSpPr/>
          <p:nvPr/>
        </p:nvSpPr>
        <p:spPr>
          <a:xfrm>
            <a:off x="777240" y="3154680"/>
            <a:ext cx="640080" cy="640080"/>
          </a:xfrm>
          <a:prstGeom prst="ellipse">
            <a:avLst/>
          </a:prstGeom>
          <a:solidFill>
            <a:srgbClr val="0B4A86"/>
          </a:solidFill>
          <a:ln/>
        </p:spPr>
      </p:sp>
      <p:pic>
        <p:nvPicPr>
          <p:cNvPr id="14" name="Image 1" descr="preencoded.png"/>
          <p:cNvPicPr>
            <a:picLocks noChangeAspect="1"/>
          </p:cNvPicPr>
          <p:nvPr/>
        </p:nvPicPr>
        <p:blipFill>
          <a:blip r:embed="rId4"/>
          <a:stretch>
            <a:fillRect/>
          </a:stretch>
        </p:blipFill>
        <p:spPr>
          <a:xfrm>
            <a:off x="943661" y="3321101"/>
            <a:ext cx="307238" cy="307238"/>
          </a:xfrm>
          <a:prstGeom prst="rect">
            <a:avLst/>
          </a:prstGeom>
        </p:spPr>
      </p:pic>
      <p:sp>
        <p:nvSpPr>
          <p:cNvPr id="15" name="Text 10"/>
          <p:cNvSpPr txBox="1"/>
          <p:nvPr/>
        </p:nvSpPr>
        <p:spPr>
          <a:xfrm>
            <a:off x="1645920" y="3108960"/>
            <a:ext cx="3108960" cy="411480"/>
          </a:xfrm>
          <a:prstGeom prst="rect">
            <a:avLst/>
          </a:prstGeom>
          <a:noFill/>
          <a:ln/>
        </p:spPr>
        <p:txBody>
          <a:bodyPr wrap="square" lIns="0" tIns="0" rIns="0" bIns="0" rtlCol="0" anchor="ctr"/>
          <a:lstStyle/>
          <a:p>
            <a:pPr marL="0" indent="0">
              <a:buNone/>
            </a:pPr>
            <a:r>
              <a:rPr lang="en-US" sz="1900" b="1" dirty="0">
                <a:solidFill>
                  <a:schemeClr val="tx1"/>
                </a:solidFill>
              </a:rPr>
              <a:t>One production batch</a:t>
            </a:r>
            <a:endParaRPr lang="en-US" sz="1900" dirty="0"/>
          </a:p>
        </p:txBody>
      </p:sp>
      <p:sp>
        <p:nvSpPr>
          <p:cNvPr id="16" name="Text 11"/>
          <p:cNvSpPr txBox="1"/>
          <p:nvPr/>
        </p:nvSpPr>
        <p:spPr>
          <a:xfrm>
            <a:off x="1645920" y="3520440"/>
            <a:ext cx="3108960" cy="320040"/>
          </a:xfrm>
          <a:prstGeom prst="rect">
            <a:avLst/>
          </a:prstGeom>
          <a:noFill/>
          <a:ln/>
        </p:spPr>
        <p:txBody>
          <a:bodyPr wrap="square" lIns="0" tIns="0" rIns="0" bIns="0" rtlCol="0" anchor="ctr"/>
          <a:lstStyle/>
          <a:p>
            <a:pPr marL="0" indent="0">
              <a:buNone/>
            </a:pPr>
            <a:r>
              <a:rPr lang="en-US" sz="1400" dirty="0">
                <a:solidFill>
                  <a:schemeClr val="accent5"/>
                </a:solidFill>
              </a:rPr>
              <a:t>GTIN + batch</a:t>
            </a:r>
            <a:endParaRPr lang="en-US" sz="1400" dirty="0"/>
          </a:p>
        </p:txBody>
      </p:sp>
      <p:sp>
        <p:nvSpPr>
          <p:cNvPr id="17" name="Text 12"/>
          <p:cNvSpPr txBox="1"/>
          <p:nvPr/>
        </p:nvSpPr>
        <p:spPr>
          <a:xfrm>
            <a:off x="4754880" y="2971800"/>
            <a:ext cx="5120640" cy="100584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https://id.gs1.org/01/09520123456788/10/LOT2026A</a:t>
            </a:r>
            <a:endParaRPr lang="en-US" sz="1300" dirty="0"/>
          </a:p>
        </p:txBody>
      </p:sp>
      <p:sp>
        <p:nvSpPr>
          <p:cNvPr id="18" name="Text 13"/>
          <p:cNvSpPr txBox="1"/>
          <p:nvPr/>
        </p:nvSpPr>
        <p:spPr>
          <a:xfrm>
            <a:off x="9966960" y="3264408"/>
            <a:ext cx="1463040" cy="420624"/>
          </a:xfrm>
          <a:prstGeom prst="rect">
            <a:avLst/>
          </a:prstGeom>
          <a:noFill/>
          <a:ln/>
        </p:spPr>
        <p:txBody>
          <a:bodyPr wrap="square" lIns="0" tIns="0" rIns="0" bIns="0" rtlCol="0" anchor="ctr"/>
          <a:lstStyle/>
          <a:p>
            <a:pPr marL="0" indent="0" algn="r">
              <a:buNone/>
            </a:pPr>
            <a:r>
              <a:rPr lang="en-US" sz="1200" b="1" dirty="0">
                <a:solidFill>
                  <a:schemeClr val="accent2"/>
                </a:solidFill>
                <a:latin typeface="Courier New" pitchFamily="34" charset="0"/>
                <a:ea typeface="Courier New" pitchFamily="34" charset="-122"/>
                <a:cs typeface="Courier New" pitchFamily="34" charset="-120"/>
              </a:rPr>
              <a:t>quantityList</a:t>
            </a:r>
            <a:endParaRPr lang="en-US" sz="1200" dirty="0"/>
          </a:p>
        </p:txBody>
      </p:sp>
      <p:sp>
        <p:nvSpPr>
          <p:cNvPr id="19" name="Exactly one bar"/>
          <p:cNvSpPr/>
          <p:nvPr/>
        </p:nvSpPr>
        <p:spPr>
          <a:xfrm>
            <a:off x="548640" y="4160520"/>
            <a:ext cx="11091672" cy="1005840"/>
          </a:xfrm>
          <a:prstGeom prst="roundRect">
            <a:avLst>
              <a:gd name="adj" fmla="val 10909"/>
            </a:avLst>
          </a:prstGeom>
          <a:solidFill>
            <a:schemeClr val="accent1"/>
          </a:solidFill>
          <a:ln/>
        </p:spPr>
      </p:sp>
      <p:sp>
        <p:nvSpPr>
          <p:cNvPr id="20" name="Shape 15"/>
          <p:cNvSpPr/>
          <p:nvPr/>
        </p:nvSpPr>
        <p:spPr>
          <a:xfrm>
            <a:off x="777240" y="4343400"/>
            <a:ext cx="640080" cy="640080"/>
          </a:xfrm>
          <a:prstGeom prst="ellipse">
            <a:avLst/>
          </a:prstGeom>
          <a:solidFill>
            <a:srgbClr val="FFFFFF"/>
          </a:solidFill>
          <a:ln/>
        </p:spPr>
      </p:sp>
      <p:pic>
        <p:nvPicPr>
          <p:cNvPr id="21" name="Image 2" descr="preencoded.png"/>
          <p:cNvPicPr>
            <a:picLocks noChangeAspect="1"/>
          </p:cNvPicPr>
          <p:nvPr/>
        </p:nvPicPr>
        <p:blipFill>
          <a:blip r:embed="rId5"/>
          <a:stretch>
            <a:fillRect/>
          </a:stretch>
        </p:blipFill>
        <p:spPr>
          <a:xfrm>
            <a:off x="943661" y="4509821"/>
            <a:ext cx="307238" cy="307238"/>
          </a:xfrm>
          <a:prstGeom prst="rect">
            <a:avLst/>
          </a:prstGeom>
        </p:spPr>
      </p:pic>
      <p:sp>
        <p:nvSpPr>
          <p:cNvPr id="22" name="Text 16"/>
          <p:cNvSpPr txBox="1"/>
          <p:nvPr/>
        </p:nvSpPr>
        <p:spPr>
          <a:xfrm>
            <a:off x="1645920" y="4297680"/>
            <a:ext cx="3108960" cy="411480"/>
          </a:xfrm>
          <a:prstGeom prst="rect">
            <a:avLst/>
          </a:prstGeom>
          <a:noFill/>
          <a:ln/>
        </p:spPr>
        <p:txBody>
          <a:bodyPr wrap="square" lIns="0" tIns="0" rIns="0" bIns="0" rtlCol="0" anchor="ctr"/>
          <a:lstStyle/>
          <a:p>
            <a:pPr marL="0" indent="0">
              <a:buNone/>
            </a:pPr>
            <a:r>
              <a:rPr lang="en-US" sz="1900" b="1" dirty="0">
                <a:solidFill>
                  <a:schemeClr val="bg1"/>
                </a:solidFill>
              </a:rPr>
              <a:t>Exactly one item</a:t>
            </a:r>
            <a:endParaRPr lang="en-US" sz="1900" dirty="0"/>
          </a:p>
        </p:txBody>
      </p:sp>
      <p:sp>
        <p:nvSpPr>
          <p:cNvPr id="23" name="Text 17"/>
          <p:cNvSpPr txBox="1"/>
          <p:nvPr/>
        </p:nvSpPr>
        <p:spPr>
          <a:xfrm>
            <a:off x="1645920" y="4709160"/>
            <a:ext cx="3108960" cy="320040"/>
          </a:xfrm>
          <a:prstGeom prst="rect">
            <a:avLst/>
          </a:prstGeom>
          <a:noFill/>
          <a:ln/>
        </p:spPr>
        <p:txBody>
          <a:bodyPr wrap="square" lIns="0" tIns="0" rIns="0" bIns="0" rtlCol="0" anchor="ctr"/>
          <a:lstStyle/>
          <a:p>
            <a:pPr marL="0" indent="0">
              <a:buNone/>
            </a:pPr>
            <a:r>
              <a:rPr lang="en-US" sz="1400" dirty="0">
                <a:solidFill>
                  <a:schemeClr val="accent6"/>
                </a:solidFill>
              </a:rPr>
              <a:t>GTIN + serial</a:t>
            </a:r>
            <a:endParaRPr lang="en-US" sz="1400" dirty="0"/>
          </a:p>
        </p:txBody>
      </p:sp>
      <p:sp>
        <p:nvSpPr>
          <p:cNvPr id="24" name="Text 18"/>
          <p:cNvSpPr txBox="1"/>
          <p:nvPr/>
        </p:nvSpPr>
        <p:spPr>
          <a:xfrm>
            <a:off x="4754880" y="4160520"/>
            <a:ext cx="5120640" cy="1005840"/>
          </a:xfrm>
          <a:prstGeom prst="rect">
            <a:avLst/>
          </a:prstGeom>
          <a:noFill/>
          <a:ln/>
        </p:spPr>
        <p:txBody>
          <a:bodyPr wrap="square" lIns="0" tIns="0" rIns="0" bIns="0" rtlCol="0" anchor="ctr"/>
          <a:lstStyle/>
          <a:p>
            <a:r>
              <a:rPr lang="en-US" sz="1300" dirty="0">
                <a:solidFill>
                  <a:schemeClr val="bg1"/>
                </a:solidFill>
                <a:latin typeface="Courier New" pitchFamily="34" charset="0"/>
                <a:ea typeface="Courier New" pitchFamily="34" charset="-122"/>
                <a:cs typeface="Courier New" pitchFamily="34" charset="-120"/>
              </a:rPr>
              <a:t>https://id.gs1.org/01/09520123456788/21/1001</a:t>
            </a:r>
            <a:endParaRPr lang="en-US" sz="1300" dirty="0"/>
          </a:p>
        </p:txBody>
      </p:sp>
      <p:sp>
        <p:nvSpPr>
          <p:cNvPr id="25" name="Text 19"/>
          <p:cNvSpPr txBox="1"/>
          <p:nvPr/>
        </p:nvSpPr>
        <p:spPr>
          <a:xfrm>
            <a:off x="9966960" y="4453128"/>
            <a:ext cx="1463040" cy="420624"/>
          </a:xfrm>
          <a:prstGeom prst="rect">
            <a:avLst/>
          </a:prstGeom>
          <a:noFill/>
          <a:ln/>
        </p:spPr>
        <p:txBody>
          <a:bodyPr wrap="square" lIns="0" tIns="0" rIns="0" bIns="0" rtlCol="0" anchor="ctr"/>
          <a:lstStyle/>
          <a:p>
            <a:pPr marL="0" indent="0" algn="r">
              <a:buNone/>
            </a:pPr>
            <a:r>
              <a:rPr lang="en-US" sz="1200" b="1" dirty="0">
                <a:solidFill>
                  <a:schemeClr val="bg1"/>
                </a:solidFill>
                <a:latin typeface="Courier New" pitchFamily="34" charset="0"/>
                <a:ea typeface="Courier New" pitchFamily="34" charset="-122"/>
                <a:cs typeface="Courier New" pitchFamily="34" charset="-120"/>
              </a:rPr>
              <a:t>epcList</a:t>
            </a:r>
            <a:endParaRPr lang="en-US" sz="1200" dirty="0"/>
          </a:p>
        </p:txBody>
      </p:sp>
      <p:sp>
        <p:nvSpPr>
          <p:cNvPr id="26" name="Text 20"/>
          <p:cNvSpPr txBox="1"/>
          <p:nvPr/>
        </p:nvSpPr>
        <p:spPr>
          <a:xfrm>
            <a:off x="548640" y="5440680"/>
            <a:ext cx="11064240" cy="274320"/>
          </a:xfrm>
          <a:prstGeom prst="rect">
            <a:avLst/>
          </a:prstGeom>
          <a:noFill/>
          <a:ln/>
        </p:spPr>
        <p:txBody>
          <a:bodyPr wrap="square" lIns="0" tIns="0" rIns="0" bIns="0" rtlCol="0" anchor="ctr"/>
          <a:lstStyle/>
          <a:p>
            <a:pPr marL="0" indent="0">
              <a:buNone/>
            </a:pPr>
            <a:r>
              <a:rPr lang="en-US" sz="1200" i="1" dirty="0">
                <a:solidFill>
                  <a:schemeClr val="accent5"/>
                </a:solidFill>
              </a:rPr>
              <a:t>Right column: the EPCIS field each level goes into.</a:t>
            </a:r>
            <a:endParaRPr lang="en-US" sz="12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TWO SPELLINGS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One ID, Two Ways to Write It</a:t>
            </a:r>
            <a:endParaRPr lang="en-US" sz="3600" dirty="0"/>
          </a:p>
        </p:txBody>
      </p:sp>
      <p:sp>
        <p:nvSpPr>
          <p:cNvPr id="5" name="Text 2"/>
          <p:cNvSpPr txBox="1"/>
          <p:nvPr/>
        </p:nvSpPr>
        <p:spPr>
          <a:xfrm>
            <a:off x="3154680" y="1783080"/>
            <a:ext cx="3794760" cy="457200"/>
          </a:xfrm>
          <a:prstGeom prst="rect">
            <a:avLst/>
          </a:prstGeom>
          <a:noFill/>
          <a:ln/>
        </p:spPr>
        <p:txBody>
          <a:bodyPr wrap="square" lIns="0" tIns="0" rIns="0" bIns="0" rtlCol="0" anchor="ctr"/>
          <a:lstStyle/>
          <a:p>
            <a:pPr marL="0" indent="0">
              <a:buNone/>
            </a:pPr>
            <a:r>
              <a:rPr lang="en-US" sz="1600" b="1" dirty="0">
                <a:solidFill>
                  <a:schemeClr val="accent5"/>
                </a:solidFill>
              </a:rPr>
              <a:t>EPC URN</a:t>
            </a:r>
            <a:endParaRPr lang="en-US" sz="1600" dirty="0"/>
          </a:p>
        </p:txBody>
      </p:sp>
      <p:sp>
        <p:nvSpPr>
          <p:cNvPr id="6" name="Text 3"/>
          <p:cNvSpPr txBox="1"/>
          <p:nvPr/>
        </p:nvSpPr>
        <p:spPr>
          <a:xfrm>
            <a:off x="7223760" y="1783080"/>
            <a:ext cx="4370832" cy="457200"/>
          </a:xfrm>
          <a:prstGeom prst="rect">
            <a:avLst/>
          </a:prstGeom>
          <a:noFill/>
          <a:ln/>
        </p:spPr>
        <p:txBody>
          <a:bodyPr wrap="square" lIns="0" tIns="0" rIns="0" bIns="0" rtlCol="0" anchor="ctr"/>
          <a:lstStyle/>
          <a:p>
            <a:pPr marL="0" indent="0">
              <a:buNone/>
            </a:pPr>
            <a:r>
              <a:rPr lang="en-US" sz="1600" b="1" dirty="0">
                <a:solidFill>
                  <a:schemeClr val="accent1"/>
                </a:solidFill>
              </a:rPr>
              <a:t>GS1 Digital Link</a:t>
            </a:r>
            <a:endParaRPr lang="en-US" sz="1600" dirty="0"/>
          </a:p>
        </p:txBody>
      </p:sp>
      <p:sp>
        <p:nvSpPr>
          <p:cNvPr id="7" name="Single item (SGTIN)"/>
          <p:cNvSpPr/>
          <p:nvPr/>
        </p:nvSpPr>
        <p:spPr>
          <a:xfrm>
            <a:off x="548640" y="2331720"/>
            <a:ext cx="11091672" cy="822960"/>
          </a:xfrm>
          <a:prstGeom prst="roundRect">
            <a:avLst>
              <a:gd name="adj" fmla="val 13333"/>
            </a:avLst>
          </a:prstGeom>
          <a:solidFill>
            <a:schemeClr val="bg2"/>
          </a:solidFill>
          <a:ln/>
        </p:spPr>
      </p:sp>
      <p:sp>
        <p:nvSpPr>
          <p:cNvPr id="8" name="Shape 5"/>
          <p:cNvSpPr/>
          <p:nvPr/>
        </p:nvSpPr>
        <p:spPr>
          <a:xfrm>
            <a:off x="6995160" y="2331720"/>
            <a:ext cx="4645152" cy="822960"/>
          </a:xfrm>
          <a:prstGeom prst="roundRect">
            <a:avLst>
              <a:gd name="adj" fmla="val 13333"/>
            </a:avLst>
          </a:prstGeom>
          <a:solidFill>
            <a:schemeClr val="accent1"/>
          </a:solidFill>
          <a:ln/>
        </p:spPr>
      </p:sp>
      <p:sp>
        <p:nvSpPr>
          <p:cNvPr id="9" name="Text 6"/>
          <p:cNvSpPr txBox="1"/>
          <p:nvPr/>
        </p:nvSpPr>
        <p:spPr>
          <a:xfrm>
            <a:off x="777240" y="2331720"/>
            <a:ext cx="2103120" cy="822960"/>
          </a:xfrm>
          <a:prstGeom prst="rect">
            <a:avLst/>
          </a:prstGeom>
          <a:noFill/>
          <a:ln/>
        </p:spPr>
        <p:txBody>
          <a:bodyPr wrap="square" lIns="0" tIns="0" rIns="0" bIns="0" rtlCol="0" anchor="ctr"/>
          <a:lstStyle/>
          <a:p>
            <a:pPr marL="0" indent="0">
              <a:buNone/>
            </a:pPr>
            <a:r>
              <a:rPr lang="en-US" sz="1600" b="1" dirty="0">
                <a:solidFill>
                  <a:schemeClr val="tx1"/>
                </a:solidFill>
              </a:rPr>
              <a:t>Single item (SGTIN)</a:t>
            </a:r>
            <a:endParaRPr lang="en-US" sz="1600" dirty="0"/>
          </a:p>
        </p:txBody>
      </p:sp>
      <p:sp>
        <p:nvSpPr>
          <p:cNvPr id="10" name="Text 7"/>
          <p:cNvSpPr txBox="1"/>
          <p:nvPr/>
        </p:nvSpPr>
        <p:spPr>
          <a:xfrm>
            <a:off x="3017520" y="2331720"/>
            <a:ext cx="3886200" cy="822960"/>
          </a:xfrm>
          <a:prstGeom prst="rect">
            <a:avLst/>
          </a:prstGeom>
          <a:noFill/>
          <a:ln/>
        </p:spPr>
        <p:txBody>
          <a:bodyPr wrap="square" lIns="0" tIns="0" rIns="0" bIns="0" rtlCol="0" anchor="ctr"/>
          <a:lstStyle/>
          <a:p>
            <a:pPr marL="0" indent="0">
              <a:buNone/>
            </a:pPr>
            <a:r>
              <a:rPr lang="en-US" sz="1250" dirty="0">
                <a:solidFill>
                  <a:schemeClr val="tx1"/>
                </a:solidFill>
                <a:latin typeface="Courier New" pitchFamily="34" charset="0"/>
                <a:ea typeface="Courier New" pitchFamily="34" charset="-122"/>
                <a:cs typeface="Courier New" pitchFamily="34" charset="-120"/>
              </a:rPr>
              <a:t>urn:epc:id:sgtin:952012.0345678.1001</a:t>
            </a:r>
            <a:endParaRPr lang="en-US" sz="1250" dirty="0"/>
          </a:p>
        </p:txBody>
      </p:sp>
      <p:sp>
        <p:nvSpPr>
          <p:cNvPr id="11" name="Text 8"/>
          <p:cNvSpPr txBox="1"/>
          <p:nvPr/>
        </p:nvSpPr>
        <p:spPr>
          <a:xfrm>
            <a:off x="7223760" y="2331720"/>
            <a:ext cx="4279392" cy="822960"/>
          </a:xfrm>
          <a:prstGeom prst="rect">
            <a:avLst/>
          </a:prstGeom>
          <a:noFill/>
          <a:ln/>
        </p:spPr>
        <p:txBody>
          <a:bodyPr wrap="square" lIns="0" tIns="0" rIns="0" bIns="0" rtlCol="0" anchor="ctr"/>
          <a:lstStyle/>
          <a:p>
            <a:pPr marL="0" indent="0">
              <a:buNone/>
            </a:pPr>
            <a:r>
              <a:rPr lang="en-US" sz="1250" dirty="0">
                <a:solidFill>
                  <a:schemeClr val="bg1"/>
                </a:solidFill>
                <a:latin typeface="Courier New" pitchFamily="34" charset="0"/>
                <a:ea typeface="Courier New" pitchFamily="34" charset="-122"/>
                <a:cs typeface="Courier New" pitchFamily="34" charset="-120"/>
              </a:rPr>
              <a:t>https://id.gs1.org/01/09520123456788/21/1001</a:t>
            </a:r>
            <a:endParaRPr lang="en-US" sz="1250" dirty="0"/>
          </a:p>
        </p:txBody>
      </p:sp>
      <p:sp>
        <p:nvSpPr>
          <p:cNvPr id="12" name="Pallet (SSCC)"/>
          <p:cNvSpPr/>
          <p:nvPr/>
        </p:nvSpPr>
        <p:spPr>
          <a:xfrm>
            <a:off x="548640" y="3291840"/>
            <a:ext cx="11091672" cy="822960"/>
          </a:xfrm>
          <a:prstGeom prst="roundRect">
            <a:avLst>
              <a:gd name="adj" fmla="val 13333"/>
            </a:avLst>
          </a:prstGeom>
          <a:solidFill>
            <a:schemeClr val="bg2"/>
          </a:solidFill>
          <a:ln/>
        </p:spPr>
      </p:sp>
      <p:sp>
        <p:nvSpPr>
          <p:cNvPr id="13" name="Shape 10"/>
          <p:cNvSpPr/>
          <p:nvPr/>
        </p:nvSpPr>
        <p:spPr>
          <a:xfrm>
            <a:off x="6995160" y="3291840"/>
            <a:ext cx="4645152" cy="822960"/>
          </a:xfrm>
          <a:prstGeom prst="roundRect">
            <a:avLst>
              <a:gd name="adj" fmla="val 13333"/>
            </a:avLst>
          </a:prstGeom>
          <a:solidFill>
            <a:schemeClr val="accent1"/>
          </a:solidFill>
          <a:ln/>
        </p:spPr>
      </p:sp>
      <p:sp>
        <p:nvSpPr>
          <p:cNvPr id="14" name="Text 11"/>
          <p:cNvSpPr txBox="1"/>
          <p:nvPr/>
        </p:nvSpPr>
        <p:spPr>
          <a:xfrm>
            <a:off x="777240" y="3291840"/>
            <a:ext cx="2103120" cy="822960"/>
          </a:xfrm>
          <a:prstGeom prst="rect">
            <a:avLst/>
          </a:prstGeom>
          <a:noFill/>
          <a:ln/>
        </p:spPr>
        <p:txBody>
          <a:bodyPr wrap="square" lIns="0" tIns="0" rIns="0" bIns="0" rtlCol="0" anchor="ctr"/>
          <a:lstStyle/>
          <a:p>
            <a:pPr marL="0" indent="0">
              <a:buNone/>
            </a:pPr>
            <a:r>
              <a:rPr lang="en-US" sz="1600" b="1" dirty="0">
                <a:solidFill>
                  <a:schemeClr val="tx1"/>
                </a:solidFill>
              </a:rPr>
              <a:t>Pallet (SSCC)</a:t>
            </a:r>
            <a:endParaRPr lang="en-US" sz="1600" dirty="0"/>
          </a:p>
        </p:txBody>
      </p:sp>
      <p:sp>
        <p:nvSpPr>
          <p:cNvPr id="15" name="Text 12"/>
          <p:cNvSpPr txBox="1"/>
          <p:nvPr/>
        </p:nvSpPr>
        <p:spPr>
          <a:xfrm>
            <a:off x="3017520" y="3291840"/>
            <a:ext cx="3886200" cy="822960"/>
          </a:xfrm>
          <a:prstGeom prst="rect">
            <a:avLst/>
          </a:prstGeom>
          <a:noFill/>
          <a:ln/>
        </p:spPr>
        <p:txBody>
          <a:bodyPr wrap="square" lIns="0" tIns="0" rIns="0" bIns="0" rtlCol="0" anchor="ctr"/>
          <a:lstStyle/>
          <a:p>
            <a:pPr marL="0" indent="0">
              <a:buNone/>
            </a:pPr>
            <a:r>
              <a:rPr lang="en-US" sz="1250" dirty="0">
                <a:solidFill>
                  <a:schemeClr val="tx1"/>
                </a:solidFill>
                <a:latin typeface="Courier New" pitchFamily="34" charset="0"/>
                <a:ea typeface="Courier New" pitchFamily="34" charset="-122"/>
                <a:cs typeface="Courier New" pitchFamily="34" charset="-120"/>
              </a:rPr>
              <a:t>urn:epc:id:sscc:952012.03000000001</a:t>
            </a:r>
            <a:endParaRPr lang="en-US" sz="1250" dirty="0"/>
          </a:p>
        </p:txBody>
      </p:sp>
      <p:sp>
        <p:nvSpPr>
          <p:cNvPr id="16" name="Text 13"/>
          <p:cNvSpPr txBox="1"/>
          <p:nvPr/>
        </p:nvSpPr>
        <p:spPr>
          <a:xfrm>
            <a:off x="7223760" y="3291840"/>
            <a:ext cx="4279392" cy="822960"/>
          </a:xfrm>
          <a:prstGeom prst="rect">
            <a:avLst/>
          </a:prstGeom>
          <a:noFill/>
          <a:ln/>
        </p:spPr>
        <p:txBody>
          <a:bodyPr wrap="square" lIns="0" tIns="0" rIns="0" bIns="0" rtlCol="0" anchor="ctr"/>
          <a:lstStyle/>
          <a:p>
            <a:pPr marL="0" indent="0">
              <a:buNone/>
            </a:pPr>
            <a:r>
              <a:rPr lang="en-US" sz="1250" dirty="0">
                <a:solidFill>
                  <a:schemeClr val="bg1"/>
                </a:solidFill>
                <a:latin typeface="Courier New" pitchFamily="34" charset="0"/>
                <a:ea typeface="Courier New" pitchFamily="34" charset="-122"/>
                <a:cs typeface="Courier New" pitchFamily="34" charset="-120"/>
              </a:rPr>
              <a:t>https://id.gs1.org/00/095201230000000011</a:t>
            </a:r>
            <a:endParaRPr lang="en-US" sz="1250" dirty="0"/>
          </a:p>
        </p:txBody>
      </p:sp>
      <p:sp>
        <p:nvSpPr>
          <p:cNvPr id="17" name="Place (GLN)"/>
          <p:cNvSpPr/>
          <p:nvPr/>
        </p:nvSpPr>
        <p:spPr>
          <a:xfrm>
            <a:off x="548640" y="4251960"/>
            <a:ext cx="11091672" cy="822960"/>
          </a:xfrm>
          <a:prstGeom prst="roundRect">
            <a:avLst>
              <a:gd name="adj" fmla="val 13333"/>
            </a:avLst>
          </a:prstGeom>
          <a:solidFill>
            <a:schemeClr val="bg2"/>
          </a:solidFill>
          <a:ln/>
        </p:spPr>
      </p:sp>
      <p:sp>
        <p:nvSpPr>
          <p:cNvPr id="18" name="Shape 15"/>
          <p:cNvSpPr/>
          <p:nvPr/>
        </p:nvSpPr>
        <p:spPr>
          <a:xfrm>
            <a:off x="6995160" y="4251960"/>
            <a:ext cx="4645152" cy="822960"/>
          </a:xfrm>
          <a:prstGeom prst="roundRect">
            <a:avLst>
              <a:gd name="adj" fmla="val 13333"/>
            </a:avLst>
          </a:prstGeom>
          <a:solidFill>
            <a:schemeClr val="accent1"/>
          </a:solidFill>
          <a:ln/>
        </p:spPr>
      </p:sp>
      <p:sp>
        <p:nvSpPr>
          <p:cNvPr id="19" name="Text 16"/>
          <p:cNvSpPr txBox="1"/>
          <p:nvPr/>
        </p:nvSpPr>
        <p:spPr>
          <a:xfrm>
            <a:off x="777240" y="4251960"/>
            <a:ext cx="2103120" cy="822960"/>
          </a:xfrm>
          <a:prstGeom prst="rect">
            <a:avLst/>
          </a:prstGeom>
          <a:noFill/>
          <a:ln/>
        </p:spPr>
        <p:txBody>
          <a:bodyPr wrap="square" lIns="0" tIns="0" rIns="0" bIns="0" rtlCol="0" anchor="ctr"/>
          <a:lstStyle/>
          <a:p>
            <a:pPr marL="0" indent="0">
              <a:buNone/>
            </a:pPr>
            <a:r>
              <a:rPr lang="en-US" sz="1600" b="1" dirty="0">
                <a:solidFill>
                  <a:schemeClr val="tx1"/>
                </a:solidFill>
              </a:rPr>
              <a:t>Place (GLN)</a:t>
            </a:r>
            <a:endParaRPr lang="en-US" sz="1600" dirty="0"/>
          </a:p>
        </p:txBody>
      </p:sp>
      <p:sp>
        <p:nvSpPr>
          <p:cNvPr id="20" name="Text 17"/>
          <p:cNvSpPr txBox="1"/>
          <p:nvPr/>
        </p:nvSpPr>
        <p:spPr>
          <a:xfrm>
            <a:off x="3017520" y="4251960"/>
            <a:ext cx="3886200" cy="822960"/>
          </a:xfrm>
          <a:prstGeom prst="rect">
            <a:avLst/>
          </a:prstGeom>
          <a:noFill/>
          <a:ln/>
        </p:spPr>
        <p:txBody>
          <a:bodyPr wrap="square" lIns="0" tIns="0" rIns="0" bIns="0" rtlCol="0" anchor="ctr"/>
          <a:lstStyle/>
          <a:p>
            <a:pPr marL="0" indent="0">
              <a:buNone/>
            </a:pPr>
            <a:r>
              <a:rPr lang="en-US" sz="1250" dirty="0">
                <a:solidFill>
                  <a:schemeClr val="tx1"/>
                </a:solidFill>
                <a:latin typeface="Courier New" pitchFamily="34" charset="0"/>
                <a:ea typeface="Courier New" pitchFamily="34" charset="-122"/>
                <a:cs typeface="Courier New" pitchFamily="34" charset="-120"/>
              </a:rPr>
              <a:t>urn:epc:id:sgln:952012.345678.0</a:t>
            </a:r>
            <a:endParaRPr lang="en-US" sz="1250" dirty="0"/>
          </a:p>
        </p:txBody>
      </p:sp>
      <p:sp>
        <p:nvSpPr>
          <p:cNvPr id="21" name="Text 18"/>
          <p:cNvSpPr txBox="1"/>
          <p:nvPr/>
        </p:nvSpPr>
        <p:spPr>
          <a:xfrm>
            <a:off x="7223760" y="4251960"/>
            <a:ext cx="4279392" cy="822960"/>
          </a:xfrm>
          <a:prstGeom prst="rect">
            <a:avLst/>
          </a:prstGeom>
          <a:noFill/>
          <a:ln/>
        </p:spPr>
        <p:txBody>
          <a:bodyPr wrap="square" lIns="0" tIns="0" rIns="0" bIns="0" rtlCol="0" anchor="ctr"/>
          <a:lstStyle/>
          <a:p>
            <a:pPr marL="0" indent="0">
              <a:buNone/>
            </a:pPr>
            <a:r>
              <a:rPr lang="en-US" sz="1250" dirty="0">
                <a:solidFill>
                  <a:schemeClr val="bg1"/>
                </a:solidFill>
                <a:latin typeface="Courier New" pitchFamily="34" charset="0"/>
                <a:ea typeface="Courier New" pitchFamily="34" charset="-122"/>
                <a:cs typeface="Courier New" pitchFamily="34" charset="-120"/>
              </a:rPr>
              <a:t>https://id.gs1.org/414/9520123456788</a:t>
            </a:r>
            <a:endParaRPr lang="en-US" sz="1250" dirty="0"/>
          </a:p>
        </p:txBody>
      </p:sp>
      <p:sp>
        <p:nvSpPr>
          <p:cNvPr id="22" name="Text 19"/>
          <p:cNvSpPr txBox="1"/>
          <p:nvPr/>
        </p:nvSpPr>
        <p:spPr>
          <a:xfrm>
            <a:off x="548640" y="5349240"/>
            <a:ext cx="11064240" cy="320040"/>
          </a:xfrm>
          <a:prstGeom prst="rect">
            <a:avLst/>
          </a:prstGeom>
          <a:noFill/>
          <a:ln/>
        </p:spPr>
        <p:txBody>
          <a:bodyPr wrap="square" lIns="0" tIns="0" rIns="0" bIns="0" rtlCol="0" anchor="ctr"/>
          <a:lstStyle/>
          <a:p>
            <a:pPr marL="0" indent="0">
              <a:buNone/>
            </a:pPr>
            <a:r>
              <a:rPr lang="en-US" sz="1400" dirty="0">
                <a:solidFill>
                  <a:schemeClr val="accent5"/>
                </a:solidFill>
              </a:rPr>
              <a:t>Standards:  </a:t>
            </a:r>
            <a:r>
              <a:rPr lang="en-US" sz="1400" u="sng" dirty="0">
                <a:solidFill>
                  <a:schemeClr val="accent2"/>
                </a:solidFill>
                <a:hlinkClick r:id="rId3" tooltip="https://ref.gs1.org/standards/tds/">
                  <a:extLst>
                    <a:ext uri="{A12FA001-AC4F-418D-AE19-62706E023703}">
                      <ahyp:hlinkClr xmlns:ahyp="http://schemas.microsoft.com/office/drawing/2018/hyperlinkcolor" val="tx"/>
                    </a:ext>
                  </a:extLst>
                </a:hlinkClick>
              </a:rPr>
              <a:t>GS1 Tag Data Standard (URN)</a:t>
            </a:r>
            <a:r>
              <a:rPr lang="en-US" sz="1400" dirty="0">
                <a:solidFill>
                  <a:schemeClr val="accent6"/>
                </a:solidFill>
              </a:rPr>
              <a:t>   |   </a:t>
            </a:r>
            <a:r>
              <a:rPr lang="en-US" sz="1400" u="sng" dirty="0">
                <a:solidFill>
                  <a:schemeClr val="accent2"/>
                </a:solidFill>
                <a:hlinkClick r:id="rId4" tooltip="https://ref.gs1.org/standards/digital-link/">
                  <a:extLst>
                    <a:ext uri="{A12FA001-AC4F-418D-AE19-62706E023703}">
                      <ahyp:hlinkClr xmlns:ahyp="http://schemas.microsoft.com/office/drawing/2018/hyperlinkcolor" val="tx"/>
                    </a:ext>
                  </a:extLst>
                </a:hlinkClick>
              </a:rPr>
              <a:t>GS1 Digital Link</a:t>
            </a:r>
            <a:endParaRPr lang="en-US" sz="1400" dirty="0"/>
          </a:p>
        </p:txBody>
      </p:sp>
      <p:sp>
        <p:nvSpPr>
          <p:cNvPr id="23" name="Text 20"/>
          <p:cNvSpPr txBox="1"/>
          <p:nvPr/>
        </p:nvSpPr>
        <p:spPr>
          <a:xfrm>
            <a:off x="548640" y="5715000"/>
            <a:ext cx="11064240" cy="274320"/>
          </a:xfrm>
          <a:prstGeom prst="rect">
            <a:avLst/>
          </a:prstGeom>
          <a:noFill/>
          <a:ln/>
        </p:spPr>
        <p:txBody>
          <a:bodyPr wrap="square" lIns="0" tIns="0" rIns="0" bIns="0" rtlCol="0" anchor="ctr"/>
          <a:lstStyle/>
          <a:p>
            <a:pPr marL="0" indent="0">
              <a:buNone/>
            </a:pPr>
            <a:r>
              <a:rPr lang="en-US" sz="1100" i="1" dirty="0">
                <a:solidFill>
                  <a:schemeClr val="accent5"/>
                </a:solidFill>
              </a:rPr>
              <a:t>Pairs converted with the OpenEPCIS identifier converter. Demo prefix 952.</a:t>
            </a:r>
            <a:endParaRPr lang="en-US" sz="11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DATA CARRIERS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Same ID, Different Data Carriers</a:t>
            </a:r>
            <a:endParaRPr lang="en-US" sz="3600" dirty="0"/>
          </a:p>
        </p:txBody>
      </p:sp>
      <p:sp>
        <p:nvSpPr>
          <p:cNvPr id="5" name="Barcode"/>
          <p:cNvSpPr/>
          <p:nvPr/>
        </p:nvSpPr>
        <p:spPr>
          <a:xfrm>
            <a:off x="548640" y="1828800"/>
            <a:ext cx="2587752" cy="3566160"/>
          </a:xfrm>
          <a:prstGeom prst="roundRect">
            <a:avLst>
              <a:gd name="adj" fmla="val 4240"/>
            </a:avLst>
          </a:prstGeom>
          <a:solidFill>
            <a:schemeClr val="bg2"/>
          </a:solidFill>
          <a:ln/>
        </p:spPr>
      </p:sp>
      <p:sp>
        <p:nvSpPr>
          <p:cNvPr id="6" name="Shape 3"/>
          <p:cNvSpPr/>
          <p:nvPr/>
        </p:nvSpPr>
        <p:spPr>
          <a:xfrm>
            <a:off x="1431036" y="2194560"/>
            <a:ext cx="822960" cy="822960"/>
          </a:xfrm>
          <a:prstGeom prst="ellipse">
            <a:avLst/>
          </a:prstGeom>
          <a:solidFill>
            <a:schemeClr val="accent1"/>
          </a:solidFill>
          <a:ln/>
        </p:spPr>
      </p:sp>
      <p:pic>
        <p:nvPicPr>
          <p:cNvPr id="7" name="Image 0" descr="preencoded.png"/>
          <p:cNvPicPr>
            <a:picLocks noChangeAspect="1"/>
          </p:cNvPicPr>
          <p:nvPr/>
        </p:nvPicPr>
        <p:blipFill>
          <a:blip r:embed="rId3"/>
          <a:stretch>
            <a:fillRect/>
          </a:stretch>
        </p:blipFill>
        <p:spPr>
          <a:xfrm>
            <a:off x="1645006" y="2408530"/>
            <a:ext cx="395021" cy="395021"/>
          </a:xfrm>
          <a:prstGeom prst="rect">
            <a:avLst/>
          </a:prstGeom>
        </p:spPr>
      </p:pic>
      <p:sp>
        <p:nvSpPr>
          <p:cNvPr id="8" name="Text 4"/>
          <p:cNvSpPr txBox="1"/>
          <p:nvPr/>
        </p:nvSpPr>
        <p:spPr>
          <a:xfrm>
            <a:off x="54864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Barcode</a:t>
            </a:r>
            <a:endParaRPr lang="en-US" sz="3000" dirty="0"/>
          </a:p>
        </p:txBody>
      </p:sp>
      <p:sp>
        <p:nvSpPr>
          <p:cNvPr id="9" name="Text 5"/>
          <p:cNvSpPr txBox="1"/>
          <p:nvPr/>
        </p:nvSpPr>
        <p:spPr>
          <a:xfrm>
            <a:off x="68580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GS1 element string</a:t>
            </a:r>
            <a:endParaRPr lang="en-US" sz="1700" dirty="0"/>
          </a:p>
        </p:txBody>
      </p:sp>
      <p:sp>
        <p:nvSpPr>
          <p:cNvPr id="10" name="Text 6"/>
          <p:cNvSpPr txBox="1"/>
          <p:nvPr/>
        </p:nvSpPr>
        <p:spPr>
          <a:xfrm>
            <a:off x="68580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(01) 09520123456788</a:t>
            </a:r>
            <a:endParaRPr lang="en-US" sz="1300" dirty="0"/>
          </a:p>
        </p:txBody>
      </p:sp>
      <p:sp>
        <p:nvSpPr>
          <p:cNvPr id="11" name="2D code"/>
          <p:cNvSpPr/>
          <p:nvPr/>
        </p:nvSpPr>
        <p:spPr>
          <a:xfrm>
            <a:off x="3383280" y="1828800"/>
            <a:ext cx="2587752" cy="3566160"/>
          </a:xfrm>
          <a:prstGeom prst="roundRect">
            <a:avLst>
              <a:gd name="adj" fmla="val 4240"/>
            </a:avLst>
          </a:prstGeom>
          <a:solidFill>
            <a:schemeClr val="bg2"/>
          </a:solidFill>
          <a:ln/>
        </p:spPr>
      </p:sp>
      <p:sp>
        <p:nvSpPr>
          <p:cNvPr id="12" name="Shape 8"/>
          <p:cNvSpPr/>
          <p:nvPr/>
        </p:nvSpPr>
        <p:spPr>
          <a:xfrm>
            <a:off x="4265676" y="2194560"/>
            <a:ext cx="822960" cy="822960"/>
          </a:xfrm>
          <a:prstGeom prst="ellipse">
            <a:avLst/>
          </a:prstGeom>
          <a:solidFill>
            <a:schemeClr val="accent1"/>
          </a:solidFill>
          <a:ln/>
        </p:spPr>
      </p:sp>
      <p:pic>
        <p:nvPicPr>
          <p:cNvPr id="13" name="Image 1" descr="preencoded.png"/>
          <p:cNvPicPr>
            <a:picLocks noChangeAspect="1"/>
          </p:cNvPicPr>
          <p:nvPr/>
        </p:nvPicPr>
        <p:blipFill>
          <a:blip r:embed="rId4"/>
          <a:stretch>
            <a:fillRect/>
          </a:stretch>
        </p:blipFill>
        <p:spPr>
          <a:xfrm>
            <a:off x="4479646" y="2408530"/>
            <a:ext cx="395021" cy="395021"/>
          </a:xfrm>
          <a:prstGeom prst="rect">
            <a:avLst/>
          </a:prstGeom>
        </p:spPr>
      </p:pic>
      <p:sp>
        <p:nvSpPr>
          <p:cNvPr id="14" name="Text 9"/>
          <p:cNvSpPr txBox="1"/>
          <p:nvPr/>
        </p:nvSpPr>
        <p:spPr>
          <a:xfrm>
            <a:off x="338328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2D code</a:t>
            </a:r>
            <a:endParaRPr lang="en-US" sz="3000" dirty="0"/>
          </a:p>
        </p:txBody>
      </p:sp>
      <p:sp>
        <p:nvSpPr>
          <p:cNvPr id="15" name="Text 10"/>
          <p:cNvSpPr txBox="1"/>
          <p:nvPr/>
        </p:nvSpPr>
        <p:spPr>
          <a:xfrm>
            <a:off x="352044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GS1 Digital Link</a:t>
            </a:r>
            <a:endParaRPr lang="en-US" sz="1700" dirty="0"/>
          </a:p>
        </p:txBody>
      </p:sp>
      <p:sp>
        <p:nvSpPr>
          <p:cNvPr id="16" name="Text 11"/>
          <p:cNvSpPr txBox="1"/>
          <p:nvPr/>
        </p:nvSpPr>
        <p:spPr>
          <a:xfrm>
            <a:off x="352044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https://id.gs1.org</a:t>
            </a:r>
          </a:p>
          <a:p>
            <a:pPr marL="0" indent="0" algn="ctr">
              <a:buNone/>
            </a:pPr>
            <a:r>
              <a:rPr lang="en-US" sz="1300" dirty="0">
                <a:solidFill>
                  <a:schemeClr val="tx1"/>
                </a:solidFill>
                <a:latin typeface="Courier New" pitchFamily="34" charset="0"/>
                <a:ea typeface="Courier New" pitchFamily="34" charset="-122"/>
                <a:cs typeface="Courier New" pitchFamily="34" charset="-120"/>
              </a:rPr>
              <a:t>/01/09520123456788</a:t>
            </a:r>
          </a:p>
          <a:p>
            <a:pPr marL="0" indent="0" algn="ctr">
              <a:buNone/>
            </a:pPr>
            <a:r>
              <a:rPr lang="en-US" sz="1300" dirty="0">
                <a:solidFill>
                  <a:schemeClr val="tx1"/>
                </a:solidFill>
                <a:latin typeface="Courier New" pitchFamily="34" charset="0"/>
                <a:ea typeface="Courier New" pitchFamily="34" charset="-122"/>
                <a:cs typeface="Courier New" pitchFamily="34" charset="-120"/>
              </a:rPr>
              <a:t>/21/1001</a:t>
            </a:r>
            <a:endParaRPr lang="en-US" sz="1300" dirty="0"/>
          </a:p>
        </p:txBody>
      </p:sp>
      <p:sp>
        <p:nvSpPr>
          <p:cNvPr id="17" name="RAIN RFID"/>
          <p:cNvSpPr/>
          <p:nvPr/>
        </p:nvSpPr>
        <p:spPr>
          <a:xfrm>
            <a:off x="6217920" y="1828800"/>
            <a:ext cx="2587752" cy="3566160"/>
          </a:xfrm>
          <a:prstGeom prst="roundRect">
            <a:avLst>
              <a:gd name="adj" fmla="val 4240"/>
            </a:avLst>
          </a:prstGeom>
          <a:solidFill>
            <a:schemeClr val="bg2"/>
          </a:solidFill>
          <a:ln/>
        </p:spPr>
      </p:sp>
      <p:sp>
        <p:nvSpPr>
          <p:cNvPr id="18" name="Shape 13"/>
          <p:cNvSpPr/>
          <p:nvPr/>
        </p:nvSpPr>
        <p:spPr>
          <a:xfrm>
            <a:off x="7100316" y="2194560"/>
            <a:ext cx="822960" cy="822960"/>
          </a:xfrm>
          <a:prstGeom prst="ellipse">
            <a:avLst/>
          </a:prstGeom>
          <a:solidFill>
            <a:schemeClr val="accent1"/>
          </a:solidFill>
          <a:ln/>
        </p:spPr>
      </p:sp>
      <p:pic>
        <p:nvPicPr>
          <p:cNvPr id="19" name="Image 2" descr="preencoded.png"/>
          <p:cNvPicPr>
            <a:picLocks noChangeAspect="1"/>
          </p:cNvPicPr>
          <p:nvPr/>
        </p:nvPicPr>
        <p:blipFill>
          <a:blip r:embed="rId5"/>
          <a:stretch>
            <a:fillRect/>
          </a:stretch>
        </p:blipFill>
        <p:spPr>
          <a:xfrm>
            <a:off x="7314286" y="2408530"/>
            <a:ext cx="395021" cy="395021"/>
          </a:xfrm>
          <a:prstGeom prst="rect">
            <a:avLst/>
          </a:prstGeom>
        </p:spPr>
      </p:pic>
      <p:sp>
        <p:nvSpPr>
          <p:cNvPr id="20" name="Text 14"/>
          <p:cNvSpPr txBox="1"/>
          <p:nvPr/>
        </p:nvSpPr>
        <p:spPr>
          <a:xfrm>
            <a:off x="621792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RAIN RFID</a:t>
            </a:r>
            <a:endParaRPr lang="en-US" sz="3000" dirty="0"/>
          </a:p>
        </p:txBody>
      </p:sp>
      <p:sp>
        <p:nvSpPr>
          <p:cNvPr id="21" name="Text 15"/>
          <p:cNvSpPr txBox="1"/>
          <p:nvPr/>
        </p:nvSpPr>
        <p:spPr>
          <a:xfrm>
            <a:off x="635508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Binary EPC (TDS)</a:t>
            </a:r>
            <a:endParaRPr lang="en-US" sz="1700" dirty="0"/>
          </a:p>
        </p:txBody>
      </p:sp>
      <p:sp>
        <p:nvSpPr>
          <p:cNvPr id="22" name="Text 16"/>
          <p:cNvSpPr txBox="1"/>
          <p:nvPr/>
        </p:nvSpPr>
        <p:spPr>
          <a:xfrm>
            <a:off x="635508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SGTIN-96, SSCC-96</a:t>
            </a:r>
          </a:p>
          <a:p>
            <a:pPr marL="0" indent="0" algn="ctr">
              <a:buNone/>
            </a:pPr>
            <a:r>
              <a:rPr lang="en-US" sz="1300" b="1" dirty="0">
                <a:solidFill>
                  <a:schemeClr val="tx1"/>
                </a:solidFill>
                <a:latin typeface="Courier New" pitchFamily="34" charset="0"/>
                <a:ea typeface="Courier New" pitchFamily="34" charset="-122"/>
                <a:cs typeface="Courier New" pitchFamily="34" charset="-120"/>
              </a:rPr>
              <a:t>SGTIN++, SSCC++</a:t>
            </a:r>
          </a:p>
          <a:p>
            <a:pPr marL="0" indent="0" algn="ctr">
              <a:buNone/>
            </a:pPr>
            <a:r>
              <a:rPr lang="en-US" sz="1300" b="1" dirty="0">
                <a:solidFill>
                  <a:schemeClr val="tx1"/>
                </a:solidFill>
                <a:latin typeface="Courier New" pitchFamily="34" charset="0"/>
                <a:ea typeface="Courier New" pitchFamily="34" charset="-122"/>
                <a:cs typeface="Courier New" pitchFamily="34" charset="-120"/>
              </a:rPr>
              <a:t>DSGTIN++</a:t>
            </a:r>
            <a:endParaRPr lang="en-US" sz="1300" b="1" dirty="0"/>
          </a:p>
        </p:txBody>
      </p:sp>
      <p:sp>
        <p:nvSpPr>
          <p:cNvPr id="23" name="NFC"/>
          <p:cNvSpPr/>
          <p:nvPr/>
        </p:nvSpPr>
        <p:spPr>
          <a:xfrm>
            <a:off x="9052560" y="1828800"/>
            <a:ext cx="2587752" cy="3566160"/>
          </a:xfrm>
          <a:prstGeom prst="roundRect">
            <a:avLst>
              <a:gd name="adj" fmla="val 4240"/>
            </a:avLst>
          </a:prstGeom>
          <a:solidFill>
            <a:schemeClr val="bg2"/>
          </a:solidFill>
          <a:ln/>
        </p:spPr>
      </p:sp>
      <p:sp>
        <p:nvSpPr>
          <p:cNvPr id="24" name="Shape 18"/>
          <p:cNvSpPr/>
          <p:nvPr/>
        </p:nvSpPr>
        <p:spPr>
          <a:xfrm>
            <a:off x="9934956" y="2194560"/>
            <a:ext cx="822960" cy="822960"/>
          </a:xfrm>
          <a:prstGeom prst="ellipse">
            <a:avLst/>
          </a:prstGeom>
          <a:solidFill>
            <a:schemeClr val="accent1"/>
          </a:solidFill>
          <a:ln/>
        </p:spPr>
      </p:sp>
      <p:pic>
        <p:nvPicPr>
          <p:cNvPr id="25" name="Image 3" descr="preencoded.png"/>
          <p:cNvPicPr>
            <a:picLocks noChangeAspect="1"/>
          </p:cNvPicPr>
          <p:nvPr/>
        </p:nvPicPr>
        <p:blipFill>
          <a:blip r:embed="rId6"/>
          <a:stretch>
            <a:fillRect/>
          </a:stretch>
        </p:blipFill>
        <p:spPr>
          <a:xfrm>
            <a:off x="10148926" y="2408530"/>
            <a:ext cx="395021" cy="395021"/>
          </a:xfrm>
          <a:prstGeom prst="rect">
            <a:avLst/>
          </a:prstGeom>
        </p:spPr>
      </p:pic>
      <p:sp>
        <p:nvSpPr>
          <p:cNvPr id="26" name="Text 19"/>
          <p:cNvSpPr txBox="1"/>
          <p:nvPr/>
        </p:nvSpPr>
        <p:spPr>
          <a:xfrm>
            <a:off x="9052560" y="3200400"/>
            <a:ext cx="2587752" cy="548640"/>
          </a:xfrm>
          <a:prstGeom prst="rect">
            <a:avLst/>
          </a:prstGeom>
          <a:noFill/>
          <a:ln/>
        </p:spPr>
        <p:txBody>
          <a:bodyPr wrap="square" lIns="0" tIns="0" rIns="0" bIns="0" rtlCol="0" anchor="ctr"/>
          <a:lstStyle/>
          <a:p>
            <a:pPr marL="0" indent="0" algn="ctr">
              <a:buNone/>
            </a:pPr>
            <a:r>
              <a:rPr lang="en-US" sz="3000" b="1" dirty="0">
                <a:solidFill>
                  <a:schemeClr val="tx2"/>
                </a:solidFill>
                <a:latin typeface="Cambria" pitchFamily="34" charset="0"/>
                <a:ea typeface="Cambria" pitchFamily="34" charset="-122"/>
                <a:cs typeface="Cambria" pitchFamily="34" charset="-120"/>
              </a:rPr>
              <a:t>NFC</a:t>
            </a:r>
            <a:endParaRPr lang="en-US" sz="3000" dirty="0"/>
          </a:p>
        </p:txBody>
      </p:sp>
      <p:sp>
        <p:nvSpPr>
          <p:cNvPr id="27" name="Text 20"/>
          <p:cNvSpPr txBox="1"/>
          <p:nvPr/>
        </p:nvSpPr>
        <p:spPr>
          <a:xfrm>
            <a:off x="9189720" y="3794760"/>
            <a:ext cx="2313432" cy="411480"/>
          </a:xfrm>
          <a:prstGeom prst="rect">
            <a:avLst/>
          </a:prstGeom>
          <a:noFill/>
          <a:ln/>
        </p:spPr>
        <p:txBody>
          <a:bodyPr wrap="square" lIns="0" tIns="0" rIns="0" bIns="0" rtlCol="0" anchor="ctr"/>
          <a:lstStyle/>
          <a:p>
            <a:pPr marL="0" indent="0" algn="ctr">
              <a:buNone/>
            </a:pPr>
            <a:r>
              <a:rPr lang="en-US" sz="1700" b="1" dirty="0">
                <a:solidFill>
                  <a:schemeClr val="tx1"/>
                </a:solidFill>
              </a:rPr>
              <a:t>GS1 Digital Link</a:t>
            </a:r>
            <a:endParaRPr lang="en-US" sz="1700" dirty="0"/>
          </a:p>
        </p:txBody>
      </p:sp>
      <p:sp>
        <p:nvSpPr>
          <p:cNvPr id="28" name="Text 21"/>
          <p:cNvSpPr txBox="1"/>
          <p:nvPr/>
        </p:nvSpPr>
        <p:spPr>
          <a:xfrm>
            <a:off x="9189720" y="4434840"/>
            <a:ext cx="2313432" cy="640080"/>
          </a:xfrm>
          <a:prstGeom prst="rect">
            <a:avLst/>
          </a:prstGeom>
          <a:noFill/>
          <a:ln/>
        </p:spPr>
        <p:txBody>
          <a:bodyPr wrap="square" lIns="0" tIns="0" rIns="0" bIns="0" rtlCol="0" anchor="t"/>
          <a:lstStyle/>
          <a:p>
            <a:pPr marL="0" indent="0" algn="ctr">
              <a:buNone/>
            </a:pPr>
            <a:r>
              <a:rPr lang="en-US" sz="1300" dirty="0">
                <a:solidFill>
                  <a:schemeClr val="tx1"/>
                </a:solidFill>
                <a:latin typeface="Courier New" pitchFamily="34" charset="0"/>
                <a:ea typeface="Courier New" pitchFamily="34" charset="-122"/>
                <a:cs typeface="Courier New" pitchFamily="34" charset="-120"/>
              </a:rPr>
              <a:t>Web link as text</a:t>
            </a:r>
          </a:p>
          <a:p>
            <a:pPr marL="0" indent="0" algn="ctr">
              <a:buNone/>
            </a:pPr>
            <a:r>
              <a:rPr lang="en-US" sz="1300" dirty="0">
                <a:solidFill>
                  <a:schemeClr val="tx1"/>
                </a:solidFill>
                <a:latin typeface="Courier New" pitchFamily="34" charset="0"/>
                <a:ea typeface="Courier New" pitchFamily="34" charset="-122"/>
                <a:cs typeface="Courier New" pitchFamily="34" charset="-120"/>
              </a:rPr>
              <a:t>(NDEF record)</a:t>
            </a:r>
          </a:p>
        </p:txBody>
      </p:sp>
      <p:sp>
        <p:nvSpPr>
          <p:cNvPr id="29" name="Text 22"/>
          <p:cNvSpPr txBox="1"/>
          <p:nvPr/>
        </p:nvSpPr>
        <p:spPr>
          <a:xfrm>
            <a:off x="546617" y="5760720"/>
            <a:ext cx="11064240" cy="320040"/>
          </a:xfrm>
          <a:prstGeom prst="rect">
            <a:avLst/>
          </a:prstGeom>
          <a:noFill/>
          <a:ln/>
        </p:spPr>
        <p:txBody>
          <a:bodyPr wrap="square" lIns="0" tIns="0" rIns="0" bIns="0" rtlCol="0" anchor="ctr"/>
          <a:lstStyle/>
          <a:p>
            <a:r>
              <a:rPr lang="en-US" sz="1400" dirty="0">
                <a:solidFill>
                  <a:schemeClr val="accent5"/>
                </a:solidFill>
              </a:rPr>
              <a:t>Standards:  </a:t>
            </a:r>
            <a:r>
              <a:rPr lang="en-US" sz="1400" u="sng" dirty="0">
                <a:solidFill>
                  <a:schemeClr val="accent2"/>
                </a:solidFill>
                <a:hlinkClick r:id="rId7"/>
              </a:rPr>
              <a:t>GS1 General Specifications</a:t>
            </a:r>
            <a:r>
              <a:rPr lang="en-US" sz="1400" dirty="0">
                <a:solidFill>
                  <a:schemeClr val="accent5"/>
                </a:solidFill>
              </a:rPr>
              <a:t> (barcodes)   |   </a:t>
            </a:r>
            <a:r>
              <a:rPr lang="en-US" sz="1400" u="sng" dirty="0">
                <a:solidFill>
                  <a:schemeClr val="accent2"/>
                </a:solidFill>
                <a:hlinkClick r:id="rId8"/>
              </a:rPr>
              <a:t>GS1 Tag Data Standard</a:t>
            </a:r>
            <a:r>
              <a:rPr lang="en-US" sz="1400" dirty="0">
                <a:solidFill>
                  <a:schemeClr val="accent5"/>
                </a:solidFill>
              </a:rPr>
              <a:t> (RFID)   |   </a:t>
            </a:r>
            <a:r>
              <a:rPr lang="en-US" sz="1400" u="sng" dirty="0">
                <a:solidFill>
                  <a:schemeClr val="accent2"/>
                </a:solidFill>
                <a:hlinkClick r:id="rId9"/>
              </a:rPr>
              <a:t>GS1 Digital Link</a:t>
            </a:r>
          </a:p>
          <a:p>
            <a:r>
              <a:rPr lang="en-US" sz="1400" dirty="0">
                <a:solidFill>
                  <a:schemeClr val="accent5"/>
                </a:solidFill>
              </a:rPr>
              <a:t>RFID side: the GS1 Tag Data Standard (TDS) defines the EPC URN, the conversion rules (TDT) and the tag encoding.</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GS1 DIGITAL LINK</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One Code, Many Uses</a:t>
            </a:r>
            <a:endParaRPr lang="en-US" sz="3600" dirty="0"/>
          </a:p>
        </p:txBody>
      </p:sp>
      <p:sp>
        <p:nvSpPr>
          <p:cNvPr id="5" name="Shape 2"/>
          <p:cNvSpPr/>
          <p:nvPr/>
        </p:nvSpPr>
        <p:spPr>
          <a:xfrm>
            <a:off x="548640" y="1783080"/>
            <a:ext cx="3749040" cy="3749040"/>
          </a:xfrm>
          <a:prstGeom prst="roundRect">
            <a:avLst>
              <a:gd name="adj" fmla="val 2927"/>
            </a:avLst>
          </a:prstGeom>
          <a:solidFill>
            <a:schemeClr val="bg1"/>
          </a:solidFill>
          <a:ln w="12700">
            <a:solidFill>
              <a:schemeClr val="accent6"/>
            </a:solidFill>
            <a:prstDash val="solid"/>
          </a:ln>
        </p:spPr>
      </p:sp>
      <p:sp>
        <p:nvSpPr>
          <p:cNvPr id="7" name="Text 3"/>
          <p:cNvSpPr txBox="1"/>
          <p:nvPr/>
        </p:nvSpPr>
        <p:spPr>
          <a:xfrm>
            <a:off x="548640" y="5138928"/>
            <a:ext cx="3749040" cy="274320"/>
          </a:xfrm>
          <a:prstGeom prst="rect">
            <a:avLst/>
          </a:prstGeom>
          <a:noFill/>
          <a:ln/>
        </p:spPr>
        <p:txBody>
          <a:bodyPr wrap="square" lIns="0" tIns="0" rIns="0" bIns="0" rtlCol="0" anchor="ctr"/>
          <a:lstStyle/>
          <a:p>
            <a:pPr marL="0" indent="0" algn="ctr">
              <a:buNone/>
            </a:pPr>
            <a:r>
              <a:rPr lang="en-US" sz="1200" dirty="0">
                <a:solidFill>
                  <a:schemeClr val="accent5"/>
                </a:solidFill>
              </a:rPr>
              <a:t>Scan me: a live product passport</a:t>
            </a:r>
            <a:endParaRPr lang="en-US" sz="1200" dirty="0"/>
          </a:p>
        </p:txBody>
      </p:sp>
      <p:sp>
        <p:nvSpPr>
          <p:cNvPr id="8" name="It is a web address"/>
          <p:cNvSpPr/>
          <p:nvPr/>
        </p:nvSpPr>
        <p:spPr>
          <a:xfrm>
            <a:off x="4663440" y="1783080"/>
            <a:ext cx="6976872" cy="1097280"/>
          </a:xfrm>
          <a:prstGeom prst="roundRect">
            <a:avLst>
              <a:gd name="adj" fmla="val 10000"/>
            </a:avLst>
          </a:prstGeom>
          <a:solidFill>
            <a:schemeClr val="bg2"/>
          </a:solidFill>
          <a:ln/>
        </p:spPr>
      </p:sp>
      <p:sp>
        <p:nvSpPr>
          <p:cNvPr id="9" name="Shape 5"/>
          <p:cNvSpPr/>
          <p:nvPr/>
        </p:nvSpPr>
        <p:spPr>
          <a:xfrm>
            <a:off x="4892040" y="1984248"/>
            <a:ext cx="694944" cy="694944"/>
          </a:xfrm>
          <a:prstGeom prst="ellipse">
            <a:avLst/>
          </a:prstGeom>
          <a:solidFill>
            <a:schemeClr val="accent1"/>
          </a:solidFill>
          <a:ln/>
        </p:spPr>
      </p:sp>
      <p:pic>
        <p:nvPicPr>
          <p:cNvPr id="10" name="Image 1" descr="preencoded.png"/>
          <p:cNvPicPr>
            <a:picLocks noChangeAspect="1"/>
          </p:cNvPicPr>
          <p:nvPr/>
        </p:nvPicPr>
        <p:blipFill>
          <a:blip r:embed="rId3"/>
          <a:stretch>
            <a:fillRect/>
          </a:stretch>
        </p:blipFill>
        <p:spPr>
          <a:xfrm>
            <a:off x="5072725" y="2164933"/>
            <a:ext cx="333573" cy="333573"/>
          </a:xfrm>
          <a:prstGeom prst="rect">
            <a:avLst/>
          </a:prstGeom>
        </p:spPr>
      </p:pic>
      <p:sp>
        <p:nvSpPr>
          <p:cNvPr id="11" name="Text 6"/>
          <p:cNvSpPr txBox="1"/>
          <p:nvPr/>
        </p:nvSpPr>
        <p:spPr>
          <a:xfrm>
            <a:off x="5852160" y="1965960"/>
            <a:ext cx="5577840" cy="411480"/>
          </a:xfrm>
          <a:prstGeom prst="rect">
            <a:avLst/>
          </a:prstGeom>
          <a:noFill/>
          <a:ln/>
        </p:spPr>
        <p:txBody>
          <a:bodyPr wrap="square" lIns="0" tIns="0" rIns="0" bIns="0" rtlCol="0" anchor="ctr"/>
          <a:lstStyle/>
          <a:p>
            <a:pPr marL="0" indent="0">
              <a:buNone/>
            </a:pPr>
            <a:r>
              <a:rPr lang="en-US" sz="2000" b="1" dirty="0">
                <a:solidFill>
                  <a:schemeClr val="tx1"/>
                </a:solidFill>
              </a:rPr>
              <a:t>It is a web address</a:t>
            </a:r>
            <a:endParaRPr lang="en-US" sz="2000" dirty="0"/>
          </a:p>
        </p:txBody>
      </p:sp>
      <p:sp>
        <p:nvSpPr>
          <p:cNvPr id="12" name="Text 7"/>
          <p:cNvSpPr txBox="1"/>
          <p:nvPr/>
        </p:nvSpPr>
        <p:spPr>
          <a:xfrm>
            <a:off x="5852160" y="2377440"/>
            <a:ext cx="5577840" cy="320040"/>
          </a:xfrm>
          <a:prstGeom prst="rect">
            <a:avLst/>
          </a:prstGeom>
          <a:noFill/>
          <a:ln/>
        </p:spPr>
        <p:txBody>
          <a:bodyPr wrap="square" lIns="0" tIns="0" rIns="0" bIns="0" rtlCol="0" anchor="ctr"/>
          <a:lstStyle/>
          <a:p>
            <a:pPr marL="0" indent="0">
              <a:buNone/>
            </a:pPr>
            <a:r>
              <a:rPr lang="en-US" sz="1500" dirty="0">
                <a:solidFill>
                  <a:schemeClr val="accent5"/>
                </a:solidFill>
              </a:rPr>
              <a:t>The ID and a link to the web in one string</a:t>
            </a:r>
            <a:endParaRPr lang="en-US" sz="1500" dirty="0"/>
          </a:p>
        </p:txBody>
      </p:sp>
      <p:sp>
        <p:nvSpPr>
          <p:cNvPr id="13" name="One scan, many uses"/>
          <p:cNvSpPr/>
          <p:nvPr/>
        </p:nvSpPr>
        <p:spPr>
          <a:xfrm>
            <a:off x="4663440" y="3063240"/>
            <a:ext cx="6976872" cy="1097280"/>
          </a:xfrm>
          <a:prstGeom prst="roundRect">
            <a:avLst>
              <a:gd name="adj" fmla="val 10000"/>
            </a:avLst>
          </a:prstGeom>
          <a:solidFill>
            <a:schemeClr val="bg2"/>
          </a:solidFill>
          <a:ln/>
        </p:spPr>
      </p:sp>
      <p:sp>
        <p:nvSpPr>
          <p:cNvPr id="14" name="Shape 9"/>
          <p:cNvSpPr/>
          <p:nvPr/>
        </p:nvSpPr>
        <p:spPr>
          <a:xfrm>
            <a:off x="4892040" y="3264408"/>
            <a:ext cx="694944" cy="694944"/>
          </a:xfrm>
          <a:prstGeom prst="ellipse">
            <a:avLst/>
          </a:prstGeom>
          <a:solidFill>
            <a:schemeClr val="accent1"/>
          </a:solidFill>
          <a:ln/>
        </p:spPr>
      </p:sp>
      <p:pic>
        <p:nvPicPr>
          <p:cNvPr id="15" name="Image 2" descr="preencoded.png"/>
          <p:cNvPicPr>
            <a:picLocks noChangeAspect="1"/>
          </p:cNvPicPr>
          <p:nvPr/>
        </p:nvPicPr>
        <p:blipFill>
          <a:blip r:embed="rId4"/>
          <a:stretch>
            <a:fillRect/>
          </a:stretch>
        </p:blipFill>
        <p:spPr>
          <a:xfrm>
            <a:off x="5072725" y="3445093"/>
            <a:ext cx="333573" cy="333573"/>
          </a:xfrm>
          <a:prstGeom prst="rect">
            <a:avLst/>
          </a:prstGeom>
        </p:spPr>
      </p:pic>
      <p:sp>
        <p:nvSpPr>
          <p:cNvPr id="16" name="Text 10"/>
          <p:cNvSpPr txBox="1"/>
          <p:nvPr/>
        </p:nvSpPr>
        <p:spPr>
          <a:xfrm>
            <a:off x="5852160" y="3246120"/>
            <a:ext cx="5577840" cy="411480"/>
          </a:xfrm>
          <a:prstGeom prst="rect">
            <a:avLst/>
          </a:prstGeom>
          <a:noFill/>
          <a:ln/>
        </p:spPr>
        <p:txBody>
          <a:bodyPr wrap="square" lIns="0" tIns="0" rIns="0" bIns="0" rtlCol="0" anchor="ctr"/>
          <a:lstStyle/>
          <a:p>
            <a:pPr marL="0" indent="0">
              <a:buNone/>
            </a:pPr>
            <a:r>
              <a:rPr lang="en-US" sz="2000" b="1" dirty="0">
                <a:solidFill>
                  <a:schemeClr val="tx1"/>
                </a:solidFill>
              </a:rPr>
              <a:t>One scan, many uses</a:t>
            </a:r>
            <a:endParaRPr lang="en-US" sz="2000" dirty="0"/>
          </a:p>
        </p:txBody>
      </p:sp>
      <p:sp>
        <p:nvSpPr>
          <p:cNvPr id="17" name="Text 11"/>
          <p:cNvSpPr txBox="1"/>
          <p:nvPr/>
        </p:nvSpPr>
        <p:spPr>
          <a:xfrm>
            <a:off x="5852160" y="3657600"/>
            <a:ext cx="5577840" cy="320040"/>
          </a:xfrm>
          <a:prstGeom prst="rect">
            <a:avLst/>
          </a:prstGeom>
          <a:noFill/>
          <a:ln/>
        </p:spPr>
        <p:txBody>
          <a:bodyPr wrap="square" lIns="0" tIns="0" rIns="0" bIns="0" rtlCol="0" anchor="ctr"/>
          <a:lstStyle/>
          <a:p>
            <a:pPr marL="0" indent="0">
              <a:buNone/>
            </a:pPr>
            <a:r>
              <a:rPr lang="en-US" sz="1500" dirty="0">
                <a:solidFill>
                  <a:schemeClr val="accent5"/>
                </a:solidFill>
              </a:rPr>
              <a:t>Checkout, recall check, consumer info, product passport</a:t>
            </a:r>
            <a:endParaRPr lang="en-US" sz="1500" dirty="0"/>
          </a:p>
        </p:txBody>
      </p:sp>
      <p:sp>
        <p:nvSpPr>
          <p:cNvPr id="18" name="A resolver picks the page"/>
          <p:cNvSpPr/>
          <p:nvPr/>
        </p:nvSpPr>
        <p:spPr>
          <a:xfrm>
            <a:off x="4663440" y="4343400"/>
            <a:ext cx="6976872" cy="1097280"/>
          </a:xfrm>
          <a:prstGeom prst="roundRect">
            <a:avLst>
              <a:gd name="adj" fmla="val 10000"/>
            </a:avLst>
          </a:prstGeom>
          <a:solidFill>
            <a:schemeClr val="bg2"/>
          </a:solidFill>
          <a:ln/>
        </p:spPr>
      </p:sp>
      <p:sp>
        <p:nvSpPr>
          <p:cNvPr id="19" name="Shape 13"/>
          <p:cNvSpPr/>
          <p:nvPr/>
        </p:nvSpPr>
        <p:spPr>
          <a:xfrm>
            <a:off x="4892040" y="4544568"/>
            <a:ext cx="694944" cy="694944"/>
          </a:xfrm>
          <a:prstGeom prst="ellipse">
            <a:avLst/>
          </a:prstGeom>
          <a:solidFill>
            <a:schemeClr val="accent3"/>
          </a:solidFill>
          <a:ln/>
        </p:spPr>
      </p:sp>
      <p:pic>
        <p:nvPicPr>
          <p:cNvPr id="20" name="Image 3" descr="preencoded.png"/>
          <p:cNvPicPr>
            <a:picLocks noChangeAspect="1"/>
          </p:cNvPicPr>
          <p:nvPr/>
        </p:nvPicPr>
        <p:blipFill>
          <a:blip r:embed="rId5"/>
          <a:stretch>
            <a:fillRect/>
          </a:stretch>
        </p:blipFill>
        <p:spPr>
          <a:xfrm>
            <a:off x="5072725" y="4725253"/>
            <a:ext cx="333573" cy="333573"/>
          </a:xfrm>
          <a:prstGeom prst="rect">
            <a:avLst/>
          </a:prstGeom>
        </p:spPr>
      </p:pic>
      <p:sp>
        <p:nvSpPr>
          <p:cNvPr id="21" name="Text 14"/>
          <p:cNvSpPr txBox="1"/>
          <p:nvPr/>
        </p:nvSpPr>
        <p:spPr>
          <a:xfrm>
            <a:off x="5852160" y="4526280"/>
            <a:ext cx="5577840" cy="411480"/>
          </a:xfrm>
          <a:prstGeom prst="rect">
            <a:avLst/>
          </a:prstGeom>
          <a:noFill/>
          <a:ln/>
        </p:spPr>
        <p:txBody>
          <a:bodyPr wrap="square" lIns="0" tIns="0" rIns="0" bIns="0" rtlCol="0" anchor="ctr"/>
          <a:lstStyle/>
          <a:p>
            <a:pPr marL="0" indent="0">
              <a:buNone/>
            </a:pPr>
            <a:r>
              <a:rPr lang="en-US" sz="2000" b="1" dirty="0">
                <a:solidFill>
                  <a:schemeClr val="tx1"/>
                </a:solidFill>
              </a:rPr>
              <a:t>A resolver picks the page</a:t>
            </a:r>
            <a:endParaRPr lang="en-US" sz="2000" dirty="0"/>
          </a:p>
        </p:txBody>
      </p:sp>
      <p:sp>
        <p:nvSpPr>
          <p:cNvPr id="22" name="Text 15"/>
          <p:cNvSpPr txBox="1"/>
          <p:nvPr/>
        </p:nvSpPr>
        <p:spPr>
          <a:xfrm>
            <a:off x="5852160" y="4937760"/>
            <a:ext cx="5577840" cy="320040"/>
          </a:xfrm>
          <a:prstGeom prst="rect">
            <a:avLst/>
          </a:prstGeom>
          <a:noFill/>
          <a:ln/>
        </p:spPr>
        <p:txBody>
          <a:bodyPr wrap="square" lIns="0" tIns="0" rIns="0" bIns="0" rtlCol="0" anchor="ctr"/>
          <a:lstStyle/>
          <a:p>
            <a:pPr marL="0" indent="0">
              <a:buNone/>
            </a:pPr>
            <a:r>
              <a:rPr lang="en-US" sz="1500" dirty="0">
                <a:solidFill>
                  <a:schemeClr val="accent5"/>
                </a:solidFill>
              </a:rPr>
              <a:t>This code opens a live passport (more in week 9)</a:t>
            </a:r>
            <a:endParaRPr lang="en-US" sz="1500" dirty="0"/>
          </a:p>
        </p:txBody>
      </p:sp>
      <p:sp>
        <p:nvSpPr>
          <p:cNvPr id="25"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
        <p:nvSpPr>
          <p:cNvPr id="4" name="TextBox 3">
            <a:extLst>
              <a:ext uri="{FF2B5EF4-FFF2-40B4-BE49-F238E27FC236}">
                <a16:creationId xmlns:a16="http://schemas.microsoft.com/office/drawing/2014/main" id="{3232CF3C-F794-6D8D-6285-C70BE65D8AEE}"/>
              </a:ext>
            </a:extLst>
          </p:cNvPr>
          <p:cNvSpPr txBox="1"/>
          <p:nvPr/>
        </p:nvSpPr>
        <p:spPr>
          <a:xfrm>
            <a:off x="395721" y="5570620"/>
            <a:ext cx="4111318" cy="292388"/>
          </a:xfrm>
          <a:prstGeom prst="rect">
            <a:avLst/>
          </a:prstGeom>
          <a:noFill/>
        </p:spPr>
        <p:txBody>
          <a:bodyPr wrap="none" rtlCol="0">
            <a:spAutoFit/>
          </a:bodyPr>
          <a:lstStyle/>
          <a:p>
            <a:r>
              <a:rPr lang="en-GB" sz="1300" dirty="0">
                <a:hlinkClick r:id="rId6"/>
              </a:rPr>
              <a:t>https://id.epc.is/01/09521000001428/21/WJ-2024-00142</a:t>
            </a:r>
            <a:endParaRPr lang="en-GB" sz="1300" dirty="0"/>
          </a:p>
        </p:txBody>
      </p:sp>
      <p:pic>
        <p:nvPicPr>
          <p:cNvPr id="26" name="Picture 25" descr="QR code: https://id.epc.is/01/09521000001428/21/WJ-2024-00142">
            <a:extLst>
              <a:ext uri="{FF2B5EF4-FFF2-40B4-BE49-F238E27FC236}">
                <a16:creationId xmlns:a16="http://schemas.microsoft.com/office/drawing/2014/main" id="{9DCA6533-297E-3752-C192-2EEB8C313886}"/>
              </a:ext>
            </a:extLst>
          </p:cNvPr>
          <p:cNvPicPr>
            <a:picLocks noChangeAspect="1"/>
          </p:cNvPicPr>
          <p:nvPr/>
        </p:nvPicPr>
        <p:blipFill>
          <a:blip r:embed="rId7"/>
          <a:stretch>
            <a:fillRect/>
          </a:stretch>
        </p:blipFill>
        <p:spPr>
          <a:xfrm>
            <a:off x="795094" y="1893029"/>
            <a:ext cx="3254822" cy="32548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GS1 DIGITAL LINK IN ACTION</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From Scan to Product Passport</a:t>
            </a:r>
            <a:endParaRPr lang="en-US" sz="3600" dirty="0"/>
          </a:p>
        </p:txBody>
      </p:sp>
      <p:sp>
        <p:nvSpPr>
          <p:cNvPr id="5" name="Step 1 QR code on the product"/>
          <p:cNvSpPr/>
          <p:nvPr/>
        </p:nvSpPr>
        <p:spPr>
          <a:xfrm>
            <a:off x="548640" y="1783080"/>
            <a:ext cx="2240280" cy="1737360"/>
          </a:xfrm>
          <a:prstGeom prst="roundRect">
            <a:avLst>
              <a:gd name="adj" fmla="val 6316"/>
            </a:avLst>
          </a:prstGeom>
          <a:solidFill>
            <a:schemeClr val="bg2"/>
          </a:solidFill>
          <a:ln/>
        </p:spPr>
      </p:sp>
      <p:sp>
        <p:nvSpPr>
          <p:cNvPr id="6" name="Shape 3"/>
          <p:cNvSpPr/>
          <p:nvPr/>
        </p:nvSpPr>
        <p:spPr>
          <a:xfrm>
            <a:off x="676656" y="1911096"/>
            <a:ext cx="329184" cy="329184"/>
          </a:xfrm>
          <a:prstGeom prst="ellipse">
            <a:avLst/>
          </a:prstGeom>
          <a:solidFill>
            <a:schemeClr val="accent3"/>
          </a:solidFill>
          <a:ln/>
        </p:spPr>
      </p:sp>
      <p:sp>
        <p:nvSpPr>
          <p:cNvPr id="7" name="Text 4"/>
          <p:cNvSpPr txBox="1"/>
          <p:nvPr/>
        </p:nvSpPr>
        <p:spPr>
          <a:xfrm>
            <a:off x="676656" y="191109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8" name="Shape 5"/>
          <p:cNvSpPr/>
          <p:nvPr/>
        </p:nvSpPr>
        <p:spPr>
          <a:xfrm>
            <a:off x="1376172" y="2039112"/>
            <a:ext cx="585216" cy="585216"/>
          </a:xfrm>
          <a:prstGeom prst="ellipse">
            <a:avLst/>
          </a:prstGeom>
          <a:solidFill>
            <a:schemeClr val="accent1"/>
          </a:solidFill>
          <a:ln/>
        </p:spPr>
      </p:sp>
      <p:pic>
        <p:nvPicPr>
          <p:cNvPr id="9" name="Image 0" descr="preencoded.png"/>
          <p:cNvPicPr>
            <a:picLocks noChangeAspect="1"/>
          </p:cNvPicPr>
          <p:nvPr/>
        </p:nvPicPr>
        <p:blipFill>
          <a:blip r:embed="rId3"/>
          <a:stretch>
            <a:fillRect/>
          </a:stretch>
        </p:blipFill>
        <p:spPr>
          <a:xfrm>
            <a:off x="1528328" y="2191268"/>
            <a:ext cx="280904" cy="280904"/>
          </a:xfrm>
          <a:prstGeom prst="rect">
            <a:avLst/>
          </a:prstGeom>
        </p:spPr>
      </p:pic>
      <p:sp>
        <p:nvSpPr>
          <p:cNvPr id="10" name="Text 6"/>
          <p:cNvSpPr txBox="1"/>
          <p:nvPr/>
        </p:nvSpPr>
        <p:spPr>
          <a:xfrm>
            <a:off x="640080" y="2697480"/>
            <a:ext cx="2057400" cy="329184"/>
          </a:xfrm>
          <a:prstGeom prst="rect">
            <a:avLst/>
          </a:prstGeom>
          <a:noFill/>
          <a:ln/>
        </p:spPr>
        <p:txBody>
          <a:bodyPr wrap="square" lIns="0" tIns="0" rIns="0" bIns="0" rtlCol="0" anchor="ctr"/>
          <a:lstStyle/>
          <a:p>
            <a:pPr marL="0" indent="0" algn="ctr">
              <a:buNone/>
            </a:pPr>
            <a:r>
              <a:rPr lang="en-US" sz="1500" b="1" dirty="0">
                <a:solidFill>
                  <a:schemeClr val="tx1"/>
                </a:solidFill>
              </a:rPr>
              <a:t>QR code on the product</a:t>
            </a:r>
            <a:endParaRPr lang="en-US" sz="1500" dirty="0"/>
          </a:p>
        </p:txBody>
      </p:sp>
      <p:sp>
        <p:nvSpPr>
          <p:cNvPr id="11" name="Text 7"/>
          <p:cNvSpPr txBox="1"/>
          <p:nvPr/>
        </p:nvSpPr>
        <p:spPr>
          <a:xfrm>
            <a:off x="685800" y="3026664"/>
            <a:ext cx="1965960" cy="402336"/>
          </a:xfrm>
          <a:prstGeom prst="rect">
            <a:avLst/>
          </a:prstGeom>
          <a:noFill/>
          <a:ln/>
        </p:spPr>
        <p:txBody>
          <a:bodyPr wrap="square" lIns="0" tIns="0" rIns="0" bIns="0" rtlCol="0" anchor="t"/>
          <a:lstStyle/>
          <a:p>
            <a:pPr marL="0" indent="0" algn="ctr">
              <a:buNone/>
            </a:pPr>
            <a:r>
              <a:rPr lang="en-US" sz="1150" dirty="0">
                <a:solidFill>
                  <a:schemeClr val="accent5"/>
                </a:solidFill>
              </a:rPr>
              <a:t>Holds a GS1 Digital Link</a:t>
            </a:r>
            <a:endParaRPr lang="en-US" sz="1150" dirty="0"/>
          </a:p>
        </p:txBody>
      </p:sp>
      <p:sp>
        <p:nvSpPr>
          <p:cNvPr id="12" name="Step 2 Digital Link Resolver"/>
          <p:cNvSpPr/>
          <p:nvPr/>
        </p:nvSpPr>
        <p:spPr>
          <a:xfrm>
            <a:off x="3493008" y="1783080"/>
            <a:ext cx="2240280" cy="1737360"/>
          </a:xfrm>
          <a:prstGeom prst="roundRect">
            <a:avLst>
              <a:gd name="adj" fmla="val 6316"/>
            </a:avLst>
          </a:prstGeom>
          <a:solidFill>
            <a:schemeClr val="bg2"/>
          </a:solidFill>
          <a:ln/>
        </p:spPr>
      </p:sp>
      <p:sp>
        <p:nvSpPr>
          <p:cNvPr id="13" name="Shape 9"/>
          <p:cNvSpPr/>
          <p:nvPr/>
        </p:nvSpPr>
        <p:spPr>
          <a:xfrm>
            <a:off x="3621024" y="1911096"/>
            <a:ext cx="329184" cy="329184"/>
          </a:xfrm>
          <a:prstGeom prst="ellipse">
            <a:avLst/>
          </a:prstGeom>
          <a:solidFill>
            <a:schemeClr val="accent3"/>
          </a:solidFill>
          <a:ln/>
        </p:spPr>
      </p:sp>
      <p:sp>
        <p:nvSpPr>
          <p:cNvPr id="14" name="Text 10"/>
          <p:cNvSpPr txBox="1"/>
          <p:nvPr/>
        </p:nvSpPr>
        <p:spPr>
          <a:xfrm>
            <a:off x="3621024" y="191109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5" name="Shape 11"/>
          <p:cNvSpPr/>
          <p:nvPr/>
        </p:nvSpPr>
        <p:spPr>
          <a:xfrm>
            <a:off x="4320540" y="2039112"/>
            <a:ext cx="585216" cy="585216"/>
          </a:xfrm>
          <a:prstGeom prst="ellipse">
            <a:avLst/>
          </a:prstGeom>
          <a:solidFill>
            <a:schemeClr val="accent1"/>
          </a:solidFill>
          <a:ln/>
        </p:spPr>
      </p:sp>
      <p:pic>
        <p:nvPicPr>
          <p:cNvPr id="16" name="Image 1" descr="preencoded.png"/>
          <p:cNvPicPr>
            <a:picLocks noChangeAspect="1"/>
          </p:cNvPicPr>
          <p:nvPr/>
        </p:nvPicPr>
        <p:blipFill>
          <a:blip r:embed="rId4"/>
          <a:stretch>
            <a:fillRect/>
          </a:stretch>
        </p:blipFill>
        <p:spPr>
          <a:xfrm>
            <a:off x="4472696" y="2191268"/>
            <a:ext cx="280904" cy="280904"/>
          </a:xfrm>
          <a:prstGeom prst="rect">
            <a:avLst/>
          </a:prstGeom>
        </p:spPr>
      </p:pic>
      <p:sp>
        <p:nvSpPr>
          <p:cNvPr id="17" name="Text 12"/>
          <p:cNvSpPr txBox="1"/>
          <p:nvPr/>
        </p:nvSpPr>
        <p:spPr>
          <a:xfrm>
            <a:off x="3584448" y="2697480"/>
            <a:ext cx="2057400" cy="329184"/>
          </a:xfrm>
          <a:prstGeom prst="rect">
            <a:avLst/>
          </a:prstGeom>
          <a:noFill/>
          <a:ln/>
        </p:spPr>
        <p:txBody>
          <a:bodyPr wrap="square" lIns="0" tIns="0" rIns="0" bIns="0" rtlCol="0" anchor="ctr"/>
          <a:lstStyle/>
          <a:p>
            <a:pPr marL="0" indent="0" algn="ctr">
              <a:buNone/>
            </a:pPr>
            <a:r>
              <a:rPr lang="en-US" sz="1500" b="1" dirty="0">
                <a:solidFill>
                  <a:schemeClr val="tx1"/>
                </a:solidFill>
              </a:rPr>
              <a:t>Digital Link Resolver</a:t>
            </a:r>
            <a:endParaRPr lang="en-US" sz="1500" dirty="0"/>
          </a:p>
        </p:txBody>
      </p:sp>
      <p:sp>
        <p:nvSpPr>
          <p:cNvPr id="18" name="Text 13"/>
          <p:cNvSpPr txBox="1"/>
          <p:nvPr/>
        </p:nvSpPr>
        <p:spPr>
          <a:xfrm>
            <a:off x="3630168" y="3026664"/>
            <a:ext cx="1965960" cy="402336"/>
          </a:xfrm>
          <a:prstGeom prst="rect">
            <a:avLst/>
          </a:prstGeom>
          <a:noFill/>
          <a:ln/>
        </p:spPr>
        <p:txBody>
          <a:bodyPr wrap="square" lIns="0" tIns="0" rIns="0" bIns="0" rtlCol="0" anchor="t"/>
          <a:lstStyle/>
          <a:p>
            <a:pPr marL="0" indent="0" algn="ctr">
              <a:buNone/>
            </a:pPr>
            <a:r>
              <a:rPr lang="en-US" sz="1150" dirty="0">
                <a:solidFill>
                  <a:schemeClr val="accent5"/>
                </a:solidFill>
              </a:rPr>
              <a:t>Reads the GS1 key, picks the right link</a:t>
            </a:r>
            <a:endParaRPr lang="en-US" sz="1150" dirty="0"/>
          </a:p>
        </p:txBody>
      </p:sp>
      <p:sp>
        <p:nvSpPr>
          <p:cNvPr id="19" name="Step 3 Passport page"/>
          <p:cNvSpPr/>
          <p:nvPr/>
        </p:nvSpPr>
        <p:spPr>
          <a:xfrm>
            <a:off x="6437376" y="1783080"/>
            <a:ext cx="2240280" cy="1737360"/>
          </a:xfrm>
          <a:prstGeom prst="roundRect">
            <a:avLst>
              <a:gd name="adj" fmla="val 6316"/>
            </a:avLst>
          </a:prstGeom>
          <a:solidFill>
            <a:schemeClr val="bg2"/>
          </a:solidFill>
          <a:ln/>
        </p:spPr>
      </p:sp>
      <p:sp>
        <p:nvSpPr>
          <p:cNvPr id="20" name="Shape 15"/>
          <p:cNvSpPr/>
          <p:nvPr/>
        </p:nvSpPr>
        <p:spPr>
          <a:xfrm>
            <a:off x="6565392" y="1911096"/>
            <a:ext cx="329184" cy="329184"/>
          </a:xfrm>
          <a:prstGeom prst="ellipse">
            <a:avLst/>
          </a:prstGeom>
          <a:solidFill>
            <a:schemeClr val="accent3"/>
          </a:solidFill>
          <a:ln/>
        </p:spPr>
      </p:sp>
      <p:sp>
        <p:nvSpPr>
          <p:cNvPr id="21" name="Text 16"/>
          <p:cNvSpPr txBox="1"/>
          <p:nvPr/>
        </p:nvSpPr>
        <p:spPr>
          <a:xfrm>
            <a:off x="6565392" y="191109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22" name="Shape 17"/>
          <p:cNvSpPr/>
          <p:nvPr/>
        </p:nvSpPr>
        <p:spPr>
          <a:xfrm>
            <a:off x="7264908" y="2039112"/>
            <a:ext cx="585216" cy="585216"/>
          </a:xfrm>
          <a:prstGeom prst="ellipse">
            <a:avLst/>
          </a:prstGeom>
          <a:solidFill>
            <a:schemeClr val="accent1"/>
          </a:solidFill>
          <a:ln/>
        </p:spPr>
      </p:sp>
      <p:pic>
        <p:nvPicPr>
          <p:cNvPr id="23" name="Image 2" descr="preencoded.png"/>
          <p:cNvPicPr>
            <a:picLocks noChangeAspect="1"/>
          </p:cNvPicPr>
          <p:nvPr/>
        </p:nvPicPr>
        <p:blipFill>
          <a:blip r:embed="rId5"/>
          <a:stretch>
            <a:fillRect/>
          </a:stretch>
        </p:blipFill>
        <p:spPr>
          <a:xfrm>
            <a:off x="7417064" y="2191268"/>
            <a:ext cx="280904" cy="280904"/>
          </a:xfrm>
          <a:prstGeom prst="rect">
            <a:avLst/>
          </a:prstGeom>
        </p:spPr>
      </p:pic>
      <p:sp>
        <p:nvSpPr>
          <p:cNvPr id="24" name="Text 18"/>
          <p:cNvSpPr txBox="1"/>
          <p:nvPr/>
        </p:nvSpPr>
        <p:spPr>
          <a:xfrm>
            <a:off x="6528816" y="2697480"/>
            <a:ext cx="2057400" cy="329184"/>
          </a:xfrm>
          <a:prstGeom prst="rect">
            <a:avLst/>
          </a:prstGeom>
          <a:noFill/>
          <a:ln/>
        </p:spPr>
        <p:txBody>
          <a:bodyPr wrap="square" lIns="0" tIns="0" rIns="0" bIns="0" rtlCol="0" anchor="ctr"/>
          <a:lstStyle/>
          <a:p>
            <a:pPr marL="0" indent="0" algn="ctr">
              <a:buNone/>
            </a:pPr>
            <a:r>
              <a:rPr lang="en-US" sz="1500" b="1" dirty="0">
                <a:solidFill>
                  <a:schemeClr val="tx1"/>
                </a:solidFill>
              </a:rPr>
              <a:t>Passport page</a:t>
            </a:r>
            <a:endParaRPr lang="en-US" sz="1500" dirty="0"/>
          </a:p>
        </p:txBody>
      </p:sp>
      <p:sp>
        <p:nvSpPr>
          <p:cNvPr id="25" name="Text 19"/>
          <p:cNvSpPr txBox="1"/>
          <p:nvPr/>
        </p:nvSpPr>
        <p:spPr>
          <a:xfrm>
            <a:off x="6574536" y="3026664"/>
            <a:ext cx="1965960" cy="402336"/>
          </a:xfrm>
          <a:prstGeom prst="rect">
            <a:avLst/>
          </a:prstGeom>
          <a:noFill/>
          <a:ln/>
        </p:spPr>
        <p:txBody>
          <a:bodyPr wrap="square" lIns="0" tIns="0" rIns="0" bIns="0" rtlCol="0" anchor="t"/>
          <a:lstStyle/>
          <a:p>
            <a:pPr marL="0" indent="0" algn="ctr">
              <a:buNone/>
            </a:pPr>
            <a:r>
              <a:rPr lang="en-US" sz="1150" dirty="0">
                <a:solidFill>
                  <a:schemeClr val="accent5"/>
                </a:solidFill>
              </a:rPr>
              <a:t>Shows what this person may see</a:t>
            </a:r>
            <a:endParaRPr lang="en-US" sz="1150" dirty="0"/>
          </a:p>
        </p:txBody>
      </p:sp>
      <p:sp>
        <p:nvSpPr>
          <p:cNvPr id="26" name="Step 4 OpenEPCIS DPP API"/>
          <p:cNvSpPr/>
          <p:nvPr/>
        </p:nvSpPr>
        <p:spPr>
          <a:xfrm>
            <a:off x="9381744" y="1783080"/>
            <a:ext cx="2240280" cy="1737360"/>
          </a:xfrm>
          <a:prstGeom prst="roundRect">
            <a:avLst>
              <a:gd name="adj" fmla="val 6316"/>
            </a:avLst>
          </a:prstGeom>
          <a:solidFill>
            <a:schemeClr val="accent4"/>
          </a:solidFill>
          <a:ln/>
        </p:spPr>
      </p:sp>
      <p:sp>
        <p:nvSpPr>
          <p:cNvPr id="27" name="Shape 21"/>
          <p:cNvSpPr/>
          <p:nvPr/>
        </p:nvSpPr>
        <p:spPr>
          <a:xfrm>
            <a:off x="9509760" y="1911096"/>
            <a:ext cx="329184" cy="329184"/>
          </a:xfrm>
          <a:prstGeom prst="ellipse">
            <a:avLst/>
          </a:prstGeom>
          <a:solidFill>
            <a:schemeClr val="accent3"/>
          </a:solidFill>
          <a:ln/>
        </p:spPr>
      </p:sp>
      <p:sp>
        <p:nvSpPr>
          <p:cNvPr id="28" name="Text 22"/>
          <p:cNvSpPr txBox="1"/>
          <p:nvPr/>
        </p:nvSpPr>
        <p:spPr>
          <a:xfrm>
            <a:off x="9509760" y="191109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9" name="Shape 23"/>
          <p:cNvSpPr/>
          <p:nvPr/>
        </p:nvSpPr>
        <p:spPr>
          <a:xfrm>
            <a:off x="10209276" y="2039112"/>
            <a:ext cx="585216" cy="585216"/>
          </a:xfrm>
          <a:prstGeom prst="ellipse">
            <a:avLst/>
          </a:prstGeom>
          <a:solidFill>
            <a:srgbClr val="2B6AA6"/>
          </a:solidFill>
          <a:ln/>
        </p:spPr>
      </p:sp>
      <p:pic>
        <p:nvPicPr>
          <p:cNvPr id="30" name="Image 3" descr="preencoded.png"/>
          <p:cNvPicPr>
            <a:picLocks noChangeAspect="1"/>
          </p:cNvPicPr>
          <p:nvPr/>
        </p:nvPicPr>
        <p:blipFill>
          <a:blip r:embed="rId6"/>
          <a:stretch>
            <a:fillRect/>
          </a:stretch>
        </p:blipFill>
        <p:spPr>
          <a:xfrm>
            <a:off x="10361432" y="2191268"/>
            <a:ext cx="280904" cy="280904"/>
          </a:xfrm>
          <a:prstGeom prst="rect">
            <a:avLst/>
          </a:prstGeom>
        </p:spPr>
      </p:pic>
      <p:sp>
        <p:nvSpPr>
          <p:cNvPr id="31" name="Text 24"/>
          <p:cNvSpPr txBox="1"/>
          <p:nvPr/>
        </p:nvSpPr>
        <p:spPr>
          <a:xfrm>
            <a:off x="9473184" y="2697480"/>
            <a:ext cx="2057400" cy="329184"/>
          </a:xfrm>
          <a:prstGeom prst="rect">
            <a:avLst/>
          </a:prstGeom>
          <a:noFill/>
          <a:ln/>
        </p:spPr>
        <p:txBody>
          <a:bodyPr wrap="square" lIns="0" tIns="0" rIns="0" bIns="0" rtlCol="0" anchor="ctr"/>
          <a:lstStyle/>
          <a:p>
            <a:pPr marL="0" indent="0" algn="ctr">
              <a:buNone/>
            </a:pPr>
            <a:r>
              <a:rPr lang="en-US" sz="1500" b="1" dirty="0">
                <a:solidFill>
                  <a:schemeClr val="bg1"/>
                </a:solidFill>
              </a:rPr>
              <a:t>OpenEPCIS DPP API</a:t>
            </a:r>
            <a:endParaRPr lang="en-US" sz="1500" dirty="0"/>
          </a:p>
        </p:txBody>
      </p:sp>
      <p:sp>
        <p:nvSpPr>
          <p:cNvPr id="32" name="Text 25"/>
          <p:cNvSpPr txBox="1"/>
          <p:nvPr/>
        </p:nvSpPr>
        <p:spPr>
          <a:xfrm>
            <a:off x="9518904" y="3026664"/>
            <a:ext cx="1965960" cy="402336"/>
          </a:xfrm>
          <a:prstGeom prst="rect">
            <a:avLst/>
          </a:prstGeom>
          <a:noFill/>
          <a:ln/>
        </p:spPr>
        <p:txBody>
          <a:bodyPr wrap="square" lIns="0" tIns="0" rIns="0" bIns="0" rtlCol="0" anchor="t"/>
          <a:lstStyle/>
          <a:p>
            <a:pPr marL="0" indent="0" algn="ctr">
              <a:buNone/>
            </a:pPr>
            <a:r>
              <a:rPr lang="en-US" sz="1150" dirty="0">
                <a:solidFill>
                  <a:schemeClr val="accent6"/>
                </a:solidFill>
              </a:rPr>
              <a:t>Builds the passport from product data</a:t>
            </a:r>
            <a:endParaRPr lang="en-US" sz="1150" dirty="0"/>
          </a:p>
        </p:txBody>
      </p:sp>
      <p:sp>
        <p:nvSpPr>
          <p:cNvPr id="33" name="Shape 26"/>
          <p:cNvSpPr/>
          <p:nvPr/>
        </p:nvSpPr>
        <p:spPr>
          <a:xfrm>
            <a:off x="2862072" y="2651760"/>
            <a:ext cx="557784" cy="0"/>
          </a:xfrm>
          <a:prstGeom prst="line">
            <a:avLst/>
          </a:prstGeom>
          <a:noFill/>
          <a:ln w="22225">
            <a:solidFill>
              <a:schemeClr val="accent5"/>
            </a:solidFill>
            <a:prstDash val="solid"/>
            <a:tailEnd type="triangle"/>
          </a:ln>
        </p:spPr>
      </p:sp>
      <p:sp>
        <p:nvSpPr>
          <p:cNvPr id="34" name="Text 27"/>
          <p:cNvSpPr txBox="1"/>
          <p:nvPr/>
        </p:nvSpPr>
        <p:spPr>
          <a:xfrm>
            <a:off x="2606040" y="2322576"/>
            <a:ext cx="1069848" cy="256032"/>
          </a:xfrm>
          <a:prstGeom prst="rect">
            <a:avLst/>
          </a:prstGeom>
          <a:noFill/>
          <a:ln/>
        </p:spPr>
        <p:txBody>
          <a:bodyPr wrap="square" lIns="0" tIns="0" rIns="0" bIns="0" rtlCol="0" anchor="ctr"/>
          <a:lstStyle/>
          <a:p>
            <a:pPr marL="0" indent="0" algn="ctr">
              <a:buNone/>
            </a:pPr>
            <a:r>
              <a:rPr lang="en-US" sz="1100" i="1" dirty="0">
                <a:solidFill>
                  <a:schemeClr val="accent5"/>
                </a:solidFill>
              </a:rPr>
              <a:t>scan</a:t>
            </a:r>
            <a:endParaRPr lang="en-US" sz="1100" dirty="0"/>
          </a:p>
        </p:txBody>
      </p:sp>
      <p:sp>
        <p:nvSpPr>
          <p:cNvPr id="35" name="Shape 28"/>
          <p:cNvSpPr/>
          <p:nvPr/>
        </p:nvSpPr>
        <p:spPr>
          <a:xfrm>
            <a:off x="5806440" y="2651760"/>
            <a:ext cx="557784" cy="0"/>
          </a:xfrm>
          <a:prstGeom prst="line">
            <a:avLst/>
          </a:prstGeom>
          <a:noFill/>
          <a:ln w="22225">
            <a:solidFill>
              <a:schemeClr val="accent5"/>
            </a:solidFill>
            <a:prstDash val="solid"/>
            <a:tailEnd type="triangle"/>
          </a:ln>
        </p:spPr>
      </p:sp>
      <p:sp>
        <p:nvSpPr>
          <p:cNvPr id="36" name="Text 29"/>
          <p:cNvSpPr txBox="1"/>
          <p:nvPr/>
        </p:nvSpPr>
        <p:spPr>
          <a:xfrm>
            <a:off x="5550408" y="2322576"/>
            <a:ext cx="1069848" cy="256032"/>
          </a:xfrm>
          <a:prstGeom prst="rect">
            <a:avLst/>
          </a:prstGeom>
          <a:noFill/>
          <a:ln/>
        </p:spPr>
        <p:txBody>
          <a:bodyPr wrap="square" lIns="0" tIns="0" rIns="0" bIns="0" rtlCol="0" anchor="ctr"/>
          <a:lstStyle/>
          <a:p>
            <a:pPr marL="0" indent="0" algn="ctr">
              <a:buNone/>
            </a:pPr>
            <a:r>
              <a:rPr lang="en-US" sz="1100" i="1" dirty="0">
                <a:solidFill>
                  <a:schemeClr val="accent5"/>
                </a:solidFill>
              </a:rPr>
              <a:t>redirect</a:t>
            </a:r>
            <a:endParaRPr lang="en-US" sz="1100" dirty="0"/>
          </a:p>
        </p:txBody>
      </p:sp>
      <p:sp>
        <p:nvSpPr>
          <p:cNvPr id="37" name="Shape 30"/>
          <p:cNvSpPr/>
          <p:nvPr/>
        </p:nvSpPr>
        <p:spPr>
          <a:xfrm>
            <a:off x="8750808" y="2651760"/>
            <a:ext cx="557784" cy="0"/>
          </a:xfrm>
          <a:prstGeom prst="line">
            <a:avLst/>
          </a:prstGeom>
          <a:noFill/>
          <a:ln w="22225">
            <a:solidFill>
              <a:schemeClr val="accent5"/>
            </a:solidFill>
            <a:prstDash val="solid"/>
            <a:tailEnd type="triangle"/>
          </a:ln>
        </p:spPr>
      </p:sp>
      <p:sp>
        <p:nvSpPr>
          <p:cNvPr id="38" name="Text 31"/>
          <p:cNvSpPr txBox="1"/>
          <p:nvPr/>
        </p:nvSpPr>
        <p:spPr>
          <a:xfrm>
            <a:off x="8494776" y="2322576"/>
            <a:ext cx="1069848" cy="256032"/>
          </a:xfrm>
          <a:prstGeom prst="rect">
            <a:avLst/>
          </a:prstGeom>
          <a:noFill/>
          <a:ln/>
        </p:spPr>
        <p:txBody>
          <a:bodyPr wrap="square" lIns="0" tIns="0" rIns="0" bIns="0" rtlCol="0" anchor="ctr"/>
          <a:lstStyle/>
          <a:p>
            <a:pPr marL="0" indent="0" algn="ctr">
              <a:buNone/>
            </a:pPr>
            <a:r>
              <a:rPr lang="en-US" sz="1100" i="1" dirty="0">
                <a:solidFill>
                  <a:schemeClr val="accent5"/>
                </a:solidFill>
              </a:rPr>
              <a:t>get data</a:t>
            </a:r>
            <a:endParaRPr lang="en-US" sz="1100" dirty="0"/>
          </a:p>
        </p:txBody>
      </p:sp>
      <p:sp>
        <p:nvSpPr>
          <p:cNvPr id="39" name="Step 5 EPCIS Repository"/>
          <p:cNvSpPr/>
          <p:nvPr/>
        </p:nvSpPr>
        <p:spPr>
          <a:xfrm>
            <a:off x="9381744" y="4114800"/>
            <a:ext cx="2240280" cy="1737360"/>
          </a:xfrm>
          <a:prstGeom prst="roundRect">
            <a:avLst>
              <a:gd name="adj" fmla="val 6316"/>
            </a:avLst>
          </a:prstGeom>
          <a:solidFill>
            <a:schemeClr val="bg2"/>
          </a:solidFill>
          <a:ln/>
        </p:spPr>
      </p:sp>
      <p:sp>
        <p:nvSpPr>
          <p:cNvPr id="40" name="Shape 33"/>
          <p:cNvSpPr/>
          <p:nvPr/>
        </p:nvSpPr>
        <p:spPr>
          <a:xfrm>
            <a:off x="9509760" y="4242816"/>
            <a:ext cx="329184" cy="329184"/>
          </a:xfrm>
          <a:prstGeom prst="ellipse">
            <a:avLst/>
          </a:prstGeom>
          <a:solidFill>
            <a:schemeClr val="accent3"/>
          </a:solidFill>
          <a:ln/>
        </p:spPr>
      </p:sp>
      <p:sp>
        <p:nvSpPr>
          <p:cNvPr id="41" name="Text 34"/>
          <p:cNvSpPr txBox="1"/>
          <p:nvPr/>
        </p:nvSpPr>
        <p:spPr>
          <a:xfrm>
            <a:off x="9509760" y="424281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42" name="Shape 35"/>
          <p:cNvSpPr/>
          <p:nvPr/>
        </p:nvSpPr>
        <p:spPr>
          <a:xfrm>
            <a:off x="10209276" y="4370832"/>
            <a:ext cx="585216" cy="585216"/>
          </a:xfrm>
          <a:prstGeom prst="ellipse">
            <a:avLst/>
          </a:prstGeom>
          <a:solidFill>
            <a:schemeClr val="accent1"/>
          </a:solidFill>
          <a:ln/>
        </p:spPr>
      </p:sp>
      <p:pic>
        <p:nvPicPr>
          <p:cNvPr id="43" name="Image 4" descr="preencoded.png"/>
          <p:cNvPicPr>
            <a:picLocks noChangeAspect="1"/>
          </p:cNvPicPr>
          <p:nvPr/>
        </p:nvPicPr>
        <p:blipFill>
          <a:blip r:embed="rId7"/>
          <a:stretch>
            <a:fillRect/>
          </a:stretch>
        </p:blipFill>
        <p:spPr>
          <a:xfrm>
            <a:off x="10361432" y="4522988"/>
            <a:ext cx="280904" cy="280904"/>
          </a:xfrm>
          <a:prstGeom prst="rect">
            <a:avLst/>
          </a:prstGeom>
        </p:spPr>
      </p:pic>
      <p:sp>
        <p:nvSpPr>
          <p:cNvPr id="44" name="Text 36"/>
          <p:cNvSpPr txBox="1"/>
          <p:nvPr/>
        </p:nvSpPr>
        <p:spPr>
          <a:xfrm>
            <a:off x="9473184" y="5029200"/>
            <a:ext cx="2057400" cy="329184"/>
          </a:xfrm>
          <a:prstGeom prst="rect">
            <a:avLst/>
          </a:prstGeom>
          <a:noFill/>
          <a:ln/>
        </p:spPr>
        <p:txBody>
          <a:bodyPr wrap="square" lIns="0" tIns="0" rIns="0" bIns="0" rtlCol="0" anchor="ctr"/>
          <a:lstStyle/>
          <a:p>
            <a:pPr marL="0" indent="0" algn="ctr">
              <a:buNone/>
            </a:pPr>
            <a:r>
              <a:rPr lang="en-US" sz="1500" b="1" dirty="0">
                <a:solidFill>
                  <a:schemeClr val="tx1"/>
                </a:solidFill>
              </a:rPr>
              <a:t>EPCIS Repository</a:t>
            </a:r>
            <a:endParaRPr lang="en-US" sz="1500" dirty="0"/>
          </a:p>
        </p:txBody>
      </p:sp>
      <p:sp>
        <p:nvSpPr>
          <p:cNvPr id="45" name="Text 37"/>
          <p:cNvSpPr txBox="1"/>
          <p:nvPr/>
        </p:nvSpPr>
        <p:spPr>
          <a:xfrm>
            <a:off x="9518904" y="5358384"/>
            <a:ext cx="1965960" cy="402336"/>
          </a:xfrm>
          <a:prstGeom prst="rect">
            <a:avLst/>
          </a:prstGeom>
          <a:noFill/>
          <a:ln/>
        </p:spPr>
        <p:txBody>
          <a:bodyPr wrap="square" lIns="0" tIns="0" rIns="0" bIns="0" rtlCol="0" anchor="t"/>
          <a:lstStyle/>
          <a:p>
            <a:pPr marL="0" indent="0" algn="ctr">
              <a:buNone/>
            </a:pPr>
            <a:r>
              <a:rPr lang="en-US" sz="1150" dirty="0">
                <a:solidFill>
                  <a:schemeClr val="accent5"/>
                </a:solidFill>
              </a:rPr>
              <a:t>The product's journey as events</a:t>
            </a:r>
            <a:endParaRPr lang="en-US" sz="1150" dirty="0"/>
          </a:p>
        </p:txBody>
      </p:sp>
      <p:sp>
        <p:nvSpPr>
          <p:cNvPr id="46" name="Shape 38"/>
          <p:cNvSpPr/>
          <p:nvPr/>
        </p:nvSpPr>
        <p:spPr>
          <a:xfrm>
            <a:off x="10501884" y="3575304"/>
            <a:ext cx="0" cy="484632"/>
          </a:xfrm>
          <a:prstGeom prst="line">
            <a:avLst/>
          </a:prstGeom>
          <a:noFill/>
          <a:ln w="22225">
            <a:solidFill>
              <a:schemeClr val="accent3"/>
            </a:solidFill>
            <a:prstDash val="solid"/>
            <a:headEnd type="triangle"/>
          </a:ln>
        </p:spPr>
      </p:sp>
      <p:sp>
        <p:nvSpPr>
          <p:cNvPr id="47" name="Text 39"/>
          <p:cNvSpPr txBox="1"/>
          <p:nvPr/>
        </p:nvSpPr>
        <p:spPr>
          <a:xfrm>
            <a:off x="8901684" y="3648456"/>
            <a:ext cx="1463040" cy="256032"/>
          </a:xfrm>
          <a:prstGeom prst="rect">
            <a:avLst/>
          </a:prstGeom>
          <a:noFill/>
          <a:ln/>
        </p:spPr>
        <p:txBody>
          <a:bodyPr wrap="square" lIns="0" tIns="0" rIns="0" bIns="0" rtlCol="0" anchor="ctr"/>
          <a:lstStyle/>
          <a:p>
            <a:pPr marL="0" indent="0" algn="r">
              <a:buNone/>
            </a:pPr>
            <a:r>
              <a:rPr lang="en-US" sz="1100" i="1" dirty="0">
                <a:solidFill>
                  <a:schemeClr val="accent3"/>
                </a:solidFill>
              </a:rPr>
              <a:t>reads events</a:t>
            </a:r>
            <a:endParaRPr lang="en-US" sz="1100" dirty="0"/>
          </a:p>
        </p:txBody>
      </p:sp>
      <p:sp>
        <p:nvSpPr>
          <p:cNvPr id="48" name="Takeaway 1"/>
          <p:cNvSpPr/>
          <p:nvPr/>
        </p:nvSpPr>
        <p:spPr>
          <a:xfrm>
            <a:off x="548640" y="4151376"/>
            <a:ext cx="8321040" cy="475488"/>
          </a:xfrm>
          <a:prstGeom prst="roundRect">
            <a:avLst>
              <a:gd name="adj" fmla="val 23077"/>
            </a:avLst>
          </a:prstGeom>
          <a:solidFill>
            <a:schemeClr val="bg2"/>
          </a:solidFill>
          <a:ln/>
        </p:spPr>
      </p:sp>
      <p:sp>
        <p:nvSpPr>
          <p:cNvPr id="49" name="Shape 41"/>
          <p:cNvSpPr/>
          <p:nvPr/>
        </p:nvSpPr>
        <p:spPr>
          <a:xfrm>
            <a:off x="658368" y="4215384"/>
            <a:ext cx="347472" cy="347472"/>
          </a:xfrm>
          <a:prstGeom prst="ellipse">
            <a:avLst/>
          </a:prstGeom>
          <a:solidFill>
            <a:schemeClr val="accent1"/>
          </a:solidFill>
          <a:ln/>
        </p:spPr>
      </p:sp>
      <p:pic>
        <p:nvPicPr>
          <p:cNvPr id="50" name="Image 5" descr="preencoded.png"/>
          <p:cNvPicPr>
            <a:picLocks noChangeAspect="1"/>
          </p:cNvPicPr>
          <p:nvPr/>
        </p:nvPicPr>
        <p:blipFill>
          <a:blip r:embed="rId8"/>
          <a:stretch>
            <a:fillRect/>
          </a:stretch>
        </p:blipFill>
        <p:spPr>
          <a:xfrm>
            <a:off x="748711" y="4305727"/>
            <a:ext cx="166787" cy="166787"/>
          </a:xfrm>
          <a:prstGeom prst="rect">
            <a:avLst/>
          </a:prstGeom>
        </p:spPr>
      </p:pic>
      <p:sp>
        <p:nvSpPr>
          <p:cNvPr id="51" name="Text 42"/>
          <p:cNvSpPr txBox="1"/>
          <p:nvPr/>
        </p:nvSpPr>
        <p:spPr>
          <a:xfrm>
            <a:off x="1143000" y="4151376"/>
            <a:ext cx="7635240" cy="475488"/>
          </a:xfrm>
          <a:prstGeom prst="rect">
            <a:avLst/>
          </a:prstGeom>
          <a:noFill/>
          <a:ln/>
        </p:spPr>
        <p:txBody>
          <a:bodyPr wrap="square" lIns="0" tIns="0" rIns="0" bIns="0" rtlCol="0" anchor="ctr"/>
          <a:lstStyle/>
          <a:p>
            <a:pPr marL="0" indent="0">
              <a:buNone/>
            </a:pPr>
            <a:r>
              <a:rPr lang="en-US" sz="1400" dirty="0">
                <a:solidFill>
                  <a:schemeClr val="tx1"/>
                </a:solidFill>
              </a:rPr>
              <a:t>One ID all the way: the GTIN and serial in the QR code are the same ones in the EPCIS events</a:t>
            </a:r>
            <a:endParaRPr lang="en-US" sz="1400" dirty="0"/>
          </a:p>
        </p:txBody>
      </p:sp>
      <p:sp>
        <p:nvSpPr>
          <p:cNvPr id="52" name="Takeaway 2"/>
          <p:cNvSpPr/>
          <p:nvPr/>
        </p:nvSpPr>
        <p:spPr>
          <a:xfrm>
            <a:off x="548640" y="4718304"/>
            <a:ext cx="8321040" cy="475488"/>
          </a:xfrm>
          <a:prstGeom prst="roundRect">
            <a:avLst>
              <a:gd name="adj" fmla="val 23077"/>
            </a:avLst>
          </a:prstGeom>
          <a:solidFill>
            <a:schemeClr val="bg2"/>
          </a:solidFill>
          <a:ln/>
        </p:spPr>
      </p:sp>
      <p:sp>
        <p:nvSpPr>
          <p:cNvPr id="53" name="Shape 44"/>
          <p:cNvSpPr/>
          <p:nvPr/>
        </p:nvSpPr>
        <p:spPr>
          <a:xfrm>
            <a:off x="658368" y="4782312"/>
            <a:ext cx="347472" cy="347472"/>
          </a:xfrm>
          <a:prstGeom prst="ellipse">
            <a:avLst/>
          </a:prstGeom>
          <a:solidFill>
            <a:schemeClr val="accent1"/>
          </a:solidFill>
          <a:ln/>
        </p:spPr>
      </p:sp>
      <p:pic>
        <p:nvPicPr>
          <p:cNvPr id="54" name="Image 6" descr="preencoded.png"/>
          <p:cNvPicPr>
            <a:picLocks noChangeAspect="1"/>
          </p:cNvPicPr>
          <p:nvPr/>
        </p:nvPicPr>
        <p:blipFill>
          <a:blip r:embed="rId9"/>
          <a:stretch>
            <a:fillRect/>
          </a:stretch>
        </p:blipFill>
        <p:spPr>
          <a:xfrm>
            <a:off x="748711" y="4872655"/>
            <a:ext cx="166787" cy="166787"/>
          </a:xfrm>
          <a:prstGeom prst="rect">
            <a:avLst/>
          </a:prstGeom>
        </p:spPr>
      </p:pic>
      <p:sp>
        <p:nvSpPr>
          <p:cNvPr id="55" name="Text 45"/>
          <p:cNvSpPr txBox="1"/>
          <p:nvPr/>
        </p:nvSpPr>
        <p:spPr>
          <a:xfrm>
            <a:off x="1143000" y="4718304"/>
            <a:ext cx="7635240" cy="475488"/>
          </a:xfrm>
          <a:prstGeom prst="rect">
            <a:avLst/>
          </a:prstGeom>
          <a:noFill/>
          <a:ln/>
        </p:spPr>
        <p:txBody>
          <a:bodyPr wrap="square" lIns="0" tIns="0" rIns="0" bIns="0" rtlCol="0" anchor="ctr"/>
          <a:lstStyle/>
          <a:p>
            <a:pPr marL="0" indent="0">
              <a:buNone/>
            </a:pPr>
            <a:r>
              <a:rPr lang="en-US" sz="1400" dirty="0">
                <a:solidFill>
                  <a:schemeClr val="tx1"/>
                </a:solidFill>
              </a:rPr>
              <a:t>Same code, different answers: shoppers, repairers and inspectors each see what they may see</a:t>
            </a:r>
            <a:endParaRPr lang="en-US" sz="1400" dirty="0"/>
          </a:p>
        </p:txBody>
      </p:sp>
      <p:sp>
        <p:nvSpPr>
          <p:cNvPr id="56" name="Takeaway 3"/>
          <p:cNvSpPr/>
          <p:nvPr/>
        </p:nvSpPr>
        <p:spPr>
          <a:xfrm>
            <a:off x="548640" y="5285232"/>
            <a:ext cx="8321040" cy="475488"/>
          </a:xfrm>
          <a:prstGeom prst="roundRect">
            <a:avLst>
              <a:gd name="adj" fmla="val 23077"/>
            </a:avLst>
          </a:prstGeom>
          <a:solidFill>
            <a:schemeClr val="bg2"/>
          </a:solidFill>
          <a:ln/>
        </p:spPr>
      </p:sp>
      <p:sp>
        <p:nvSpPr>
          <p:cNvPr id="57" name="Shape 47"/>
          <p:cNvSpPr/>
          <p:nvPr/>
        </p:nvSpPr>
        <p:spPr>
          <a:xfrm>
            <a:off x="658368" y="5349240"/>
            <a:ext cx="347472" cy="347472"/>
          </a:xfrm>
          <a:prstGeom prst="ellipse">
            <a:avLst/>
          </a:prstGeom>
          <a:solidFill>
            <a:schemeClr val="accent1"/>
          </a:solidFill>
          <a:ln/>
        </p:spPr>
      </p:sp>
      <p:pic>
        <p:nvPicPr>
          <p:cNvPr id="58" name="Image 7" descr="preencoded.png"/>
          <p:cNvPicPr>
            <a:picLocks noChangeAspect="1"/>
          </p:cNvPicPr>
          <p:nvPr/>
        </p:nvPicPr>
        <p:blipFill>
          <a:blip r:embed="rId10"/>
          <a:stretch>
            <a:fillRect/>
          </a:stretch>
        </p:blipFill>
        <p:spPr>
          <a:xfrm>
            <a:off x="748711" y="5439583"/>
            <a:ext cx="166787" cy="166787"/>
          </a:xfrm>
          <a:prstGeom prst="rect">
            <a:avLst/>
          </a:prstGeom>
        </p:spPr>
      </p:pic>
      <p:sp>
        <p:nvSpPr>
          <p:cNvPr id="59" name="Text 48"/>
          <p:cNvSpPr txBox="1"/>
          <p:nvPr/>
        </p:nvSpPr>
        <p:spPr>
          <a:xfrm>
            <a:off x="1143000" y="5285232"/>
            <a:ext cx="7635240" cy="475488"/>
          </a:xfrm>
          <a:prstGeom prst="rect">
            <a:avLst/>
          </a:prstGeom>
          <a:noFill/>
          <a:ln/>
        </p:spPr>
        <p:txBody>
          <a:bodyPr wrap="square" lIns="0" tIns="0" rIns="0" bIns="0" rtlCol="0" anchor="ctr"/>
          <a:lstStyle/>
          <a:p>
            <a:pPr marL="0" indent="0">
              <a:buNone/>
            </a:pPr>
            <a:r>
              <a:rPr lang="en-US" sz="1400" dirty="0">
                <a:solidFill>
                  <a:schemeClr val="tx1"/>
                </a:solidFill>
              </a:rPr>
              <a:t>The resolver is optional: a Digital Link can also open a web page directly</a:t>
            </a:r>
            <a:endParaRPr lang="en-US" sz="14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THE BASICS</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Where the IDs Go in an Event</a:t>
            </a:r>
            <a:endParaRPr lang="en-US" sz="3600" dirty="0"/>
          </a:p>
        </p:txBody>
      </p:sp>
      <p:sp>
        <p:nvSpPr>
          <p:cNvPr id="5" name="Code panel"/>
          <p:cNvSpPr/>
          <p:nvPr/>
        </p:nvSpPr>
        <p:spPr>
          <a:xfrm>
            <a:off x="548640" y="1691640"/>
            <a:ext cx="8503920" cy="3931920"/>
          </a:xfrm>
          <a:prstGeom prst="roundRect">
            <a:avLst>
              <a:gd name="adj" fmla="val 2791"/>
            </a:avLst>
          </a:prstGeom>
          <a:solidFill>
            <a:schemeClr val="accent4"/>
          </a:solidFill>
          <a:ln/>
        </p:spPr>
      </p:sp>
      <p:sp>
        <p:nvSpPr>
          <p:cNvPr id="6" name="Text 3"/>
          <p:cNvSpPr txBox="1"/>
          <p:nvPr/>
        </p:nvSpPr>
        <p:spPr>
          <a:xfrm>
            <a:off x="822960" y="187452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a:t>
            </a:r>
            <a:endParaRPr lang="en-US" sz="1250" dirty="0"/>
          </a:p>
        </p:txBody>
      </p:sp>
      <p:sp>
        <p:nvSpPr>
          <p:cNvPr id="7" name="Text 4"/>
          <p:cNvSpPr txBox="1"/>
          <p:nvPr/>
        </p:nvSpPr>
        <p:spPr>
          <a:xfrm>
            <a:off x="822960" y="214884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"type": "AggregationEvent",</a:t>
            </a:r>
            <a:endParaRPr lang="en-US" sz="1250" dirty="0"/>
          </a:p>
        </p:txBody>
      </p:sp>
      <p:sp>
        <p:nvSpPr>
          <p:cNvPr id="8" name="Text 5"/>
          <p:cNvSpPr txBox="1"/>
          <p:nvPr/>
        </p:nvSpPr>
        <p:spPr>
          <a:xfrm>
            <a:off x="822960" y="242316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"eventTime": "2026-10-20T09:30:00+02:00",</a:t>
            </a:r>
            <a:endParaRPr lang="en-US" sz="1250" dirty="0"/>
          </a:p>
        </p:txBody>
      </p:sp>
      <p:sp>
        <p:nvSpPr>
          <p:cNvPr id="9" name="Text 6"/>
          <p:cNvSpPr txBox="1"/>
          <p:nvPr/>
        </p:nvSpPr>
        <p:spPr>
          <a:xfrm>
            <a:off x="822960" y="269748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"eventTimeZoneOffset": "+02:00",</a:t>
            </a:r>
            <a:endParaRPr lang="en-US" sz="1250" dirty="0"/>
          </a:p>
        </p:txBody>
      </p:sp>
      <p:sp>
        <p:nvSpPr>
          <p:cNvPr id="10" name="Text 7"/>
          <p:cNvSpPr txBox="1"/>
          <p:nvPr/>
        </p:nvSpPr>
        <p:spPr>
          <a:xfrm>
            <a:off x="822960" y="2971800"/>
            <a:ext cx="8138160" cy="274320"/>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"parentID": "https://id.gs1.org/00/095201230000000011",</a:t>
            </a:r>
            <a:endParaRPr lang="en-US" sz="1250" dirty="0"/>
          </a:p>
        </p:txBody>
      </p:sp>
      <p:sp>
        <p:nvSpPr>
          <p:cNvPr id="11" name="Shape 8"/>
          <p:cNvSpPr/>
          <p:nvPr/>
        </p:nvSpPr>
        <p:spPr>
          <a:xfrm>
            <a:off x="9326880" y="2990088"/>
            <a:ext cx="1463040" cy="237744"/>
          </a:xfrm>
          <a:prstGeom prst="roundRect">
            <a:avLst>
              <a:gd name="adj" fmla="val 30769"/>
            </a:avLst>
          </a:prstGeom>
          <a:solidFill>
            <a:schemeClr val="accent1"/>
          </a:solidFill>
          <a:ln/>
        </p:spPr>
      </p:sp>
      <p:sp>
        <p:nvSpPr>
          <p:cNvPr id="12" name="Text 9"/>
          <p:cNvSpPr txBox="1"/>
          <p:nvPr/>
        </p:nvSpPr>
        <p:spPr>
          <a:xfrm>
            <a:off x="9326880" y="2990088"/>
            <a:ext cx="1463040" cy="237744"/>
          </a:xfrm>
          <a:prstGeom prst="rect">
            <a:avLst/>
          </a:prstGeom>
          <a:noFill/>
          <a:ln/>
        </p:spPr>
        <p:txBody>
          <a:bodyPr wrap="square" lIns="0" tIns="0" rIns="0" bIns="0" rtlCol="0" anchor="ctr"/>
          <a:lstStyle/>
          <a:p>
            <a:pPr marL="0" indent="0" algn="ctr">
              <a:buNone/>
            </a:pPr>
            <a:r>
              <a:rPr lang="en-US" sz="1400" b="1" dirty="0">
                <a:solidFill>
                  <a:schemeClr val="bg1"/>
                </a:solidFill>
              </a:rPr>
              <a:t>Pallet</a:t>
            </a:r>
            <a:endParaRPr lang="en-US" sz="1400" dirty="0"/>
          </a:p>
        </p:txBody>
      </p:sp>
      <p:sp>
        <p:nvSpPr>
          <p:cNvPr id="13" name="Text 10"/>
          <p:cNvSpPr txBox="1"/>
          <p:nvPr/>
        </p:nvSpPr>
        <p:spPr>
          <a:xfrm>
            <a:off x="822960" y="324612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"childEPCs": [</a:t>
            </a:r>
            <a:endParaRPr lang="en-US" sz="1250" dirty="0"/>
          </a:p>
        </p:txBody>
      </p:sp>
      <p:sp>
        <p:nvSpPr>
          <p:cNvPr id="14" name="Text 11"/>
          <p:cNvSpPr txBox="1"/>
          <p:nvPr/>
        </p:nvSpPr>
        <p:spPr>
          <a:xfrm>
            <a:off x="822960" y="3520440"/>
            <a:ext cx="8138160" cy="274320"/>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"https://id.gs1.org/01/09520123456788/21/1001",</a:t>
            </a:r>
            <a:endParaRPr lang="en-US" sz="1250" dirty="0"/>
          </a:p>
        </p:txBody>
      </p:sp>
      <p:sp>
        <p:nvSpPr>
          <p:cNvPr id="15" name="Shape 12"/>
          <p:cNvSpPr/>
          <p:nvPr/>
        </p:nvSpPr>
        <p:spPr>
          <a:xfrm>
            <a:off x="9326880" y="3538728"/>
            <a:ext cx="1463040" cy="512064"/>
          </a:xfrm>
          <a:prstGeom prst="roundRect">
            <a:avLst>
              <a:gd name="adj" fmla="val 14286"/>
            </a:avLst>
          </a:prstGeom>
          <a:solidFill>
            <a:schemeClr val="accent1"/>
          </a:solidFill>
          <a:ln/>
        </p:spPr>
      </p:sp>
      <p:sp>
        <p:nvSpPr>
          <p:cNvPr id="16" name="Text 13"/>
          <p:cNvSpPr txBox="1"/>
          <p:nvPr/>
        </p:nvSpPr>
        <p:spPr>
          <a:xfrm>
            <a:off x="9326880" y="3538728"/>
            <a:ext cx="1463040" cy="512064"/>
          </a:xfrm>
          <a:prstGeom prst="rect">
            <a:avLst/>
          </a:prstGeom>
          <a:noFill/>
          <a:ln/>
        </p:spPr>
        <p:txBody>
          <a:bodyPr wrap="square" lIns="0" tIns="0" rIns="0" bIns="0" rtlCol="0" anchor="ctr"/>
          <a:lstStyle/>
          <a:p>
            <a:pPr marL="0" indent="0" algn="ctr">
              <a:buNone/>
            </a:pPr>
            <a:r>
              <a:rPr lang="en-US" sz="1400" b="1" dirty="0">
                <a:solidFill>
                  <a:schemeClr val="bg1"/>
                </a:solidFill>
              </a:rPr>
              <a:t>Items</a:t>
            </a:r>
            <a:endParaRPr lang="en-US" sz="1400" dirty="0"/>
          </a:p>
        </p:txBody>
      </p:sp>
      <p:sp>
        <p:nvSpPr>
          <p:cNvPr id="17" name="Text 14"/>
          <p:cNvSpPr txBox="1"/>
          <p:nvPr/>
        </p:nvSpPr>
        <p:spPr>
          <a:xfrm>
            <a:off x="822960" y="3794760"/>
            <a:ext cx="8138160" cy="274320"/>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"https://id.gs1.org/01/09520123456788/21/1002"</a:t>
            </a:r>
            <a:endParaRPr lang="en-US" sz="1250" dirty="0"/>
          </a:p>
        </p:txBody>
      </p:sp>
      <p:sp>
        <p:nvSpPr>
          <p:cNvPr id="18" name="Text 15"/>
          <p:cNvSpPr txBox="1"/>
          <p:nvPr/>
        </p:nvSpPr>
        <p:spPr>
          <a:xfrm>
            <a:off x="822960" y="406908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a:t>
            </a:r>
            <a:endParaRPr lang="en-US" sz="1250" dirty="0"/>
          </a:p>
        </p:txBody>
      </p:sp>
      <p:sp>
        <p:nvSpPr>
          <p:cNvPr id="19" name="Text 16"/>
          <p:cNvSpPr txBox="1"/>
          <p:nvPr/>
        </p:nvSpPr>
        <p:spPr>
          <a:xfrm>
            <a:off x="822960" y="434340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"action": "ADD",</a:t>
            </a:r>
            <a:endParaRPr lang="en-US" sz="1250" dirty="0"/>
          </a:p>
        </p:txBody>
      </p:sp>
      <p:sp>
        <p:nvSpPr>
          <p:cNvPr id="20" name="Text 17"/>
          <p:cNvSpPr txBox="1"/>
          <p:nvPr/>
        </p:nvSpPr>
        <p:spPr>
          <a:xfrm>
            <a:off x="822960" y="461772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"bizStep": "packing",</a:t>
            </a:r>
            <a:endParaRPr lang="en-US" sz="1250" dirty="0"/>
          </a:p>
        </p:txBody>
      </p:sp>
      <p:sp>
        <p:nvSpPr>
          <p:cNvPr id="21" name="Text 18"/>
          <p:cNvSpPr txBox="1"/>
          <p:nvPr/>
        </p:nvSpPr>
        <p:spPr>
          <a:xfrm>
            <a:off x="822960" y="4892040"/>
            <a:ext cx="8138160" cy="274320"/>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"readPoint": { "id": "https://id.gs1.org/414/9520123456788" }</a:t>
            </a:r>
            <a:endParaRPr lang="en-US" sz="1250" dirty="0"/>
          </a:p>
        </p:txBody>
      </p:sp>
      <p:sp>
        <p:nvSpPr>
          <p:cNvPr id="22" name="Shape 19"/>
          <p:cNvSpPr/>
          <p:nvPr/>
        </p:nvSpPr>
        <p:spPr>
          <a:xfrm>
            <a:off x="9326880" y="4910328"/>
            <a:ext cx="1463040" cy="237744"/>
          </a:xfrm>
          <a:prstGeom prst="roundRect">
            <a:avLst>
              <a:gd name="adj" fmla="val 30769"/>
            </a:avLst>
          </a:prstGeom>
          <a:solidFill>
            <a:schemeClr val="accent1"/>
          </a:solidFill>
          <a:ln/>
        </p:spPr>
      </p:sp>
      <p:sp>
        <p:nvSpPr>
          <p:cNvPr id="23" name="Text 20"/>
          <p:cNvSpPr txBox="1"/>
          <p:nvPr/>
        </p:nvSpPr>
        <p:spPr>
          <a:xfrm>
            <a:off x="9326880" y="4910328"/>
            <a:ext cx="1463040" cy="237744"/>
          </a:xfrm>
          <a:prstGeom prst="rect">
            <a:avLst/>
          </a:prstGeom>
          <a:noFill/>
          <a:ln/>
        </p:spPr>
        <p:txBody>
          <a:bodyPr wrap="square" lIns="0" tIns="0" rIns="0" bIns="0" rtlCol="0" anchor="ctr"/>
          <a:lstStyle/>
          <a:p>
            <a:pPr marL="0" indent="0" algn="ctr">
              <a:buNone/>
            </a:pPr>
            <a:r>
              <a:rPr lang="en-US" sz="1400" b="1" dirty="0">
                <a:solidFill>
                  <a:schemeClr val="bg1"/>
                </a:solidFill>
              </a:rPr>
              <a:t>Place</a:t>
            </a:r>
            <a:endParaRPr lang="en-US" sz="1400" dirty="0"/>
          </a:p>
        </p:txBody>
      </p:sp>
      <p:sp>
        <p:nvSpPr>
          <p:cNvPr id="24" name="Text 21"/>
          <p:cNvSpPr txBox="1"/>
          <p:nvPr/>
        </p:nvSpPr>
        <p:spPr>
          <a:xfrm>
            <a:off x="822960" y="5166360"/>
            <a:ext cx="8138160" cy="274320"/>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a:t>
            </a:r>
            <a:endParaRPr lang="en-US" sz="1250" dirty="0"/>
          </a:p>
        </p:txBody>
      </p:sp>
      <p:sp>
        <p:nvSpPr>
          <p:cNvPr id="25" name="Text 22"/>
          <p:cNvSpPr txBox="1"/>
          <p:nvPr/>
        </p:nvSpPr>
        <p:spPr>
          <a:xfrm>
            <a:off x="548640" y="5760720"/>
            <a:ext cx="10515600" cy="274320"/>
          </a:xfrm>
          <a:prstGeom prst="rect">
            <a:avLst/>
          </a:prstGeom>
          <a:noFill/>
          <a:ln/>
        </p:spPr>
        <p:txBody>
          <a:bodyPr wrap="square" lIns="0" tIns="0" rIns="0" bIns="0" rtlCol="0" anchor="ctr"/>
          <a:lstStyle/>
          <a:p>
            <a:pPr marL="0" indent="0">
              <a:buNone/>
            </a:pPr>
            <a:r>
              <a:rPr lang="en-US" sz="1100" i="1" dirty="0">
                <a:solidFill>
                  <a:schemeClr val="accent5"/>
                </a:solidFill>
              </a:rPr>
              <a:t>Simplified excerpt of an EPCIS 2.0 JSON event. The full version passed the OpenEPCIS validation service.</a:t>
            </a:r>
            <a:endParaRPr lang="en-US" sz="11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IDENTIFIER AGNOSTIC</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Any Identifier Fits in an Event</a:t>
            </a:r>
            <a:endParaRPr lang="en-US" sz="3600" dirty="0"/>
          </a:p>
        </p:txBody>
      </p:sp>
      <p:sp>
        <p:nvSpPr>
          <p:cNvPr id="201" name="Text 22"/>
          <p:cNvSpPr txBox="1"/>
          <p:nvPr/>
        </p:nvSpPr>
        <p:spPr>
          <a:xfrm>
            <a:off x="548640" y="1371600"/>
            <a:ext cx="11064240" cy="274320"/>
          </a:xfrm>
          <a:prstGeom prst="rect">
            <a:avLst/>
          </a:prstGeom>
          <a:noFill/>
          <a:ln/>
        </p:spPr>
        <p:txBody>
          <a:bodyPr wrap="square" lIns="0" tIns="0" rIns="0" bIns="0" rtlCol="0" anchor="ctr"/>
          <a:lstStyle/>
          <a:p>
            <a:pPr marL="0" indent="0">
              <a:buNone/>
            </a:pPr>
            <a:r>
              <a:rPr lang="en-US" sz="1200" i="1" dirty="0">
                <a:solidFill>
                  <a:schemeClr val="accent5"/>
                </a:solidFill>
              </a:rPr>
              <a:t>A GS1 Digital Link is a GS1 key written as a web address. ISO/IEC 18975 applies the same idea to any identifier.</a:t>
            </a:r>
            <a:endParaRPr lang="en-US" sz="1200" dirty="0"/>
          </a:p>
        </p:txBody>
      </p:sp>
      <p:sp>
        <p:nvSpPr>
          <p:cNvPr id="202" name="Code panel"/>
          <p:cNvSpPr/>
          <p:nvPr/>
        </p:nvSpPr>
        <p:spPr>
          <a:xfrm>
            <a:off x="548640" y="1783080"/>
            <a:ext cx="7955279" cy="3694176"/>
          </a:xfrm>
          <a:prstGeom prst="roundRect">
            <a:avLst>
              <a:gd name="adj" fmla="val 2791"/>
            </a:avLst>
          </a:prstGeom>
          <a:solidFill>
            <a:schemeClr val="accent4"/>
          </a:solidFill>
          <a:ln/>
        </p:spPr>
      </p:sp>
      <p:sp>
        <p:nvSpPr>
          <p:cNvPr id="203" name="Text 4"/>
          <p:cNvSpPr txBox="1"/>
          <p:nvPr/>
        </p:nvSpPr>
        <p:spPr>
          <a:xfrm>
            <a:off x="822960" y="1965960"/>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a:t>
            </a:r>
            <a:endParaRPr lang="en-US" sz="1250" dirty="0"/>
          </a:p>
        </p:txBody>
      </p:sp>
      <p:sp>
        <p:nvSpPr>
          <p:cNvPr id="204" name="Text 4"/>
          <p:cNvSpPr txBox="1"/>
          <p:nvPr/>
        </p:nvSpPr>
        <p:spPr>
          <a:xfrm>
            <a:off x="822960" y="2221991"/>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"type": "TransformationEvent",</a:t>
            </a:r>
            <a:endParaRPr lang="en-US" sz="1250" dirty="0"/>
          </a:p>
        </p:txBody>
      </p:sp>
      <p:sp>
        <p:nvSpPr>
          <p:cNvPr id="205" name="Text 4"/>
          <p:cNvSpPr txBox="1"/>
          <p:nvPr/>
        </p:nvSpPr>
        <p:spPr>
          <a:xfrm>
            <a:off x="822960" y="2478024"/>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"bizStep": "commissioning",</a:t>
            </a:r>
            <a:endParaRPr lang="en-US" sz="1250" dirty="0"/>
          </a:p>
        </p:txBody>
      </p:sp>
      <p:sp>
        <p:nvSpPr>
          <p:cNvPr id="206" name="Text 4"/>
          <p:cNvSpPr txBox="1"/>
          <p:nvPr/>
        </p:nvSpPr>
        <p:spPr>
          <a:xfrm>
            <a:off x="822960" y="2734056"/>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"inputQuantityList": [ {</a:t>
            </a:r>
            <a:endParaRPr lang="en-US" sz="1250" dirty="0"/>
          </a:p>
        </p:txBody>
      </p:sp>
      <p:sp>
        <p:nvSpPr>
          <p:cNvPr id="207" name="Text 7"/>
          <p:cNvSpPr txBox="1"/>
          <p:nvPr/>
        </p:nvSpPr>
        <p:spPr>
          <a:xfrm>
            <a:off x="822960" y="2990088"/>
            <a:ext cx="7589520" cy="256032"/>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"epcClass": "https://id.example.com/mat/700123/lot/B2026-1021",</a:t>
            </a:r>
            <a:endParaRPr lang="en-US" sz="1250" dirty="0"/>
          </a:p>
        </p:txBody>
      </p:sp>
      <p:sp>
        <p:nvSpPr>
          <p:cNvPr id="208" name="Shape 8"/>
          <p:cNvSpPr/>
          <p:nvPr/>
        </p:nvSpPr>
        <p:spPr>
          <a:xfrm>
            <a:off x="8686800" y="3008376"/>
            <a:ext cx="2926080" cy="237744"/>
          </a:xfrm>
          <a:prstGeom prst="roundRect">
            <a:avLst>
              <a:gd name="adj" fmla="val 30769"/>
            </a:avLst>
          </a:prstGeom>
          <a:solidFill>
            <a:schemeClr val="accent1"/>
          </a:solidFill>
          <a:ln/>
        </p:spPr>
      </p:sp>
      <p:sp>
        <p:nvSpPr>
          <p:cNvPr id="209" name="Text 9"/>
          <p:cNvSpPr txBox="1"/>
          <p:nvPr/>
        </p:nvSpPr>
        <p:spPr>
          <a:xfrm>
            <a:off x="8686800" y="3008376"/>
            <a:ext cx="2926080" cy="237744"/>
          </a:xfrm>
          <a:prstGeom prst="rect">
            <a:avLst/>
          </a:prstGeom>
          <a:noFill/>
          <a:ln/>
        </p:spPr>
        <p:txBody>
          <a:bodyPr wrap="square" lIns="0" tIns="0" rIns="0" bIns="0" rtlCol="0" anchor="ctr"/>
          <a:lstStyle/>
          <a:p>
            <a:pPr marL="0" indent="0" algn="ctr">
              <a:buNone/>
            </a:pPr>
            <a:r>
              <a:rPr lang="en-US" sz="1400" b="1" dirty="0">
                <a:solidFill>
                  <a:schemeClr val="bg1"/>
                </a:solidFill>
              </a:rPr>
              <a:t>ERP: material + batch</a:t>
            </a:r>
            <a:endParaRPr lang="en-US" sz="1400" dirty="0"/>
          </a:p>
        </p:txBody>
      </p:sp>
      <p:sp>
        <p:nvSpPr>
          <p:cNvPr id="210" name="Text 4"/>
          <p:cNvSpPr txBox="1"/>
          <p:nvPr/>
        </p:nvSpPr>
        <p:spPr>
          <a:xfrm>
            <a:off x="822960" y="3246120"/>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"quantity": 250, "uom": "KGM" } ],</a:t>
            </a:r>
            <a:endParaRPr lang="en-US" sz="1250" dirty="0"/>
          </a:p>
        </p:txBody>
      </p:sp>
      <p:sp>
        <p:nvSpPr>
          <p:cNvPr id="211" name="Text 4"/>
          <p:cNvSpPr txBox="1"/>
          <p:nvPr/>
        </p:nvSpPr>
        <p:spPr>
          <a:xfrm>
            <a:off x="822960" y="3502152"/>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"outputEPCList": [</a:t>
            </a:r>
            <a:endParaRPr lang="en-US" sz="1250" dirty="0"/>
          </a:p>
        </p:txBody>
      </p:sp>
      <p:sp>
        <p:nvSpPr>
          <p:cNvPr id="212" name="Text 7"/>
          <p:cNvSpPr txBox="1"/>
          <p:nvPr/>
        </p:nvSpPr>
        <p:spPr>
          <a:xfrm>
            <a:off x="822960" y="3758184"/>
            <a:ext cx="7589520" cy="256032"/>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"https://id.gs1.org/01/09520123456788/21/1001",</a:t>
            </a:r>
            <a:endParaRPr lang="en-US" sz="1250" dirty="0"/>
          </a:p>
        </p:txBody>
      </p:sp>
      <p:sp>
        <p:nvSpPr>
          <p:cNvPr id="213" name="Shape 8"/>
          <p:cNvSpPr/>
          <p:nvPr/>
        </p:nvSpPr>
        <p:spPr>
          <a:xfrm>
            <a:off x="8686800" y="3776472"/>
            <a:ext cx="2926080" cy="237744"/>
          </a:xfrm>
          <a:prstGeom prst="roundRect">
            <a:avLst>
              <a:gd name="adj" fmla="val 30769"/>
            </a:avLst>
          </a:prstGeom>
          <a:solidFill>
            <a:schemeClr val="accent1"/>
          </a:solidFill>
          <a:ln/>
        </p:spPr>
      </p:sp>
      <p:sp>
        <p:nvSpPr>
          <p:cNvPr id="214" name="Text 9"/>
          <p:cNvSpPr txBox="1"/>
          <p:nvPr/>
        </p:nvSpPr>
        <p:spPr>
          <a:xfrm>
            <a:off x="8686800" y="3776472"/>
            <a:ext cx="2926080" cy="237744"/>
          </a:xfrm>
          <a:prstGeom prst="rect">
            <a:avLst/>
          </a:prstGeom>
          <a:noFill/>
          <a:ln/>
        </p:spPr>
        <p:txBody>
          <a:bodyPr wrap="square" lIns="0" tIns="0" rIns="0" bIns="0" rtlCol="0" anchor="ctr"/>
          <a:lstStyle/>
          <a:p>
            <a:pPr marL="0" indent="0" algn="ctr">
              <a:buNone/>
            </a:pPr>
            <a:r>
              <a:rPr lang="en-US" sz="1400" b="1" dirty="0">
                <a:solidFill>
                  <a:schemeClr val="bg1"/>
                </a:solidFill>
              </a:rPr>
              <a:t>GS1: finished items</a:t>
            </a:r>
            <a:endParaRPr lang="en-US" sz="1400" dirty="0"/>
          </a:p>
        </p:txBody>
      </p:sp>
      <p:sp>
        <p:nvSpPr>
          <p:cNvPr id="215" name="Text 7"/>
          <p:cNvSpPr txBox="1"/>
          <p:nvPr/>
        </p:nvSpPr>
        <p:spPr>
          <a:xfrm>
            <a:off x="822960" y="4014216"/>
            <a:ext cx="7589520" cy="256032"/>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"https://id.gs1.org/01/09520123456788/21/1002" ],</a:t>
            </a:r>
            <a:endParaRPr lang="en-US" sz="1250" dirty="0"/>
          </a:p>
        </p:txBody>
      </p:sp>
      <p:sp>
        <p:nvSpPr>
          <p:cNvPr id="216" name="Text 7"/>
          <p:cNvSpPr txBox="1"/>
          <p:nvPr/>
        </p:nvSpPr>
        <p:spPr>
          <a:xfrm>
            <a:off x="822960" y="4270248"/>
            <a:ext cx="7589520" cy="256032"/>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"readPoint": { "id": "https://id.example.com/site/cologne/line/3" },</a:t>
            </a:r>
            <a:endParaRPr lang="en-US" sz="1250" dirty="0"/>
          </a:p>
        </p:txBody>
      </p:sp>
      <p:sp>
        <p:nvSpPr>
          <p:cNvPr id="217" name="Shape 8"/>
          <p:cNvSpPr/>
          <p:nvPr/>
        </p:nvSpPr>
        <p:spPr>
          <a:xfrm>
            <a:off x="8686800" y="4288536"/>
            <a:ext cx="2926080" cy="237744"/>
          </a:xfrm>
          <a:prstGeom prst="roundRect">
            <a:avLst>
              <a:gd name="adj" fmla="val 30769"/>
            </a:avLst>
          </a:prstGeom>
          <a:solidFill>
            <a:schemeClr val="accent1"/>
          </a:solidFill>
          <a:ln/>
        </p:spPr>
      </p:sp>
      <p:sp>
        <p:nvSpPr>
          <p:cNvPr id="218" name="Text 9"/>
          <p:cNvSpPr txBox="1"/>
          <p:nvPr/>
        </p:nvSpPr>
        <p:spPr>
          <a:xfrm>
            <a:off x="8686800" y="4288536"/>
            <a:ext cx="2926080" cy="237744"/>
          </a:xfrm>
          <a:prstGeom prst="rect">
            <a:avLst/>
          </a:prstGeom>
          <a:noFill/>
          <a:ln/>
        </p:spPr>
        <p:txBody>
          <a:bodyPr wrap="square" lIns="0" tIns="0" rIns="0" bIns="0" rtlCol="0" anchor="ctr"/>
          <a:lstStyle/>
          <a:p>
            <a:pPr marL="0" indent="0" algn="ctr">
              <a:buNone/>
            </a:pPr>
            <a:r>
              <a:rPr lang="en-US" sz="1400" b="1" dirty="0">
                <a:solidFill>
                  <a:schemeClr val="bg1"/>
                </a:solidFill>
              </a:rPr>
              <a:t>MES: production line</a:t>
            </a:r>
            <a:endParaRPr lang="en-US" sz="1400" dirty="0"/>
          </a:p>
        </p:txBody>
      </p:sp>
      <p:sp>
        <p:nvSpPr>
          <p:cNvPr id="219" name="Text 4"/>
          <p:cNvSpPr txBox="1"/>
          <p:nvPr/>
        </p:nvSpPr>
        <p:spPr>
          <a:xfrm>
            <a:off x="822960" y="4526280"/>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  "bizTransactionList": [ { "type": "prodorder",</a:t>
            </a:r>
            <a:endParaRPr lang="en-US" sz="1250" dirty="0"/>
          </a:p>
        </p:txBody>
      </p:sp>
      <p:sp>
        <p:nvSpPr>
          <p:cNvPr id="220" name="Text 7"/>
          <p:cNvSpPr txBox="1"/>
          <p:nvPr/>
        </p:nvSpPr>
        <p:spPr>
          <a:xfrm>
            <a:off x="822960" y="4782312"/>
            <a:ext cx="7589520" cy="256032"/>
          </a:xfrm>
          <a:prstGeom prst="rect">
            <a:avLst/>
          </a:prstGeom>
          <a:noFill/>
          <a:ln/>
        </p:spPr>
        <p:txBody>
          <a:bodyPr wrap="square" lIns="0" tIns="0" rIns="0" bIns="0" rtlCol="0" anchor="ctr"/>
          <a:lstStyle/>
          <a:p>
            <a:pPr marL="0" indent="0">
              <a:buNone/>
            </a:pPr>
            <a:r>
              <a:rPr lang="en-US" sz="1250" b="1" dirty="0">
                <a:solidFill>
                  <a:schemeClr val="bg1"/>
                </a:solidFill>
                <a:latin typeface="Courier New" pitchFamily="34" charset="0"/>
                <a:ea typeface="Courier New" pitchFamily="34" charset="-122"/>
                <a:cs typeface="Courier New" pitchFamily="34" charset="-120"/>
              </a:rPr>
              <a:t>    "bizTransaction": "https://erp.example.com/prodorder/1000123" } ]</a:t>
            </a:r>
            <a:endParaRPr lang="en-US" sz="1250" dirty="0"/>
          </a:p>
        </p:txBody>
      </p:sp>
      <p:sp>
        <p:nvSpPr>
          <p:cNvPr id="221" name="Shape 8"/>
          <p:cNvSpPr/>
          <p:nvPr/>
        </p:nvSpPr>
        <p:spPr>
          <a:xfrm>
            <a:off x="8686800" y="4800600"/>
            <a:ext cx="2926080" cy="237744"/>
          </a:xfrm>
          <a:prstGeom prst="roundRect">
            <a:avLst>
              <a:gd name="adj" fmla="val 30769"/>
            </a:avLst>
          </a:prstGeom>
          <a:solidFill>
            <a:schemeClr val="accent1"/>
          </a:solidFill>
          <a:ln/>
        </p:spPr>
      </p:sp>
      <p:sp>
        <p:nvSpPr>
          <p:cNvPr id="222" name="Text 9"/>
          <p:cNvSpPr txBox="1"/>
          <p:nvPr/>
        </p:nvSpPr>
        <p:spPr>
          <a:xfrm>
            <a:off x="8686800" y="4800600"/>
            <a:ext cx="2926080" cy="237744"/>
          </a:xfrm>
          <a:prstGeom prst="rect">
            <a:avLst/>
          </a:prstGeom>
          <a:noFill/>
          <a:ln/>
        </p:spPr>
        <p:txBody>
          <a:bodyPr wrap="square" lIns="0" tIns="0" rIns="0" bIns="0" rtlCol="0" anchor="ctr"/>
          <a:lstStyle/>
          <a:p>
            <a:pPr marL="0" indent="0" algn="ctr">
              <a:buNone/>
            </a:pPr>
            <a:r>
              <a:rPr lang="en-US" sz="1400" b="1" dirty="0">
                <a:solidFill>
                  <a:schemeClr val="bg1"/>
                </a:solidFill>
              </a:rPr>
              <a:t>ERP: production order</a:t>
            </a:r>
            <a:endParaRPr lang="en-US" sz="1400" dirty="0"/>
          </a:p>
        </p:txBody>
      </p:sp>
      <p:sp>
        <p:nvSpPr>
          <p:cNvPr id="223" name="Text 4"/>
          <p:cNvSpPr txBox="1"/>
          <p:nvPr/>
        </p:nvSpPr>
        <p:spPr>
          <a:xfrm>
            <a:off x="822960" y="5038344"/>
            <a:ext cx="7589520" cy="256032"/>
          </a:xfrm>
          <a:prstGeom prst="rect">
            <a:avLst/>
          </a:prstGeom>
          <a:noFill/>
          <a:ln/>
        </p:spPr>
        <p:txBody>
          <a:bodyPr wrap="square" lIns="0" tIns="0" rIns="0" bIns="0" rtlCol="0" anchor="ctr"/>
          <a:lstStyle/>
          <a:p>
            <a:pPr marL="0" indent="0">
              <a:buNone/>
            </a:pPr>
            <a:r>
              <a:rPr lang="en-US" sz="1250" dirty="0">
                <a:solidFill>
                  <a:schemeClr val="accent6"/>
                </a:solidFill>
                <a:latin typeface="Courier New" pitchFamily="34" charset="0"/>
                <a:ea typeface="Courier New" pitchFamily="34" charset="-122"/>
                <a:cs typeface="Courier New" pitchFamily="34" charset="-120"/>
              </a:rPr>
              <a:t>}</a:t>
            </a:r>
            <a:endParaRPr lang="en-US" sz="1250" dirty="0"/>
          </a:p>
        </p:txBody>
      </p:sp>
      <p:sp>
        <p:nvSpPr>
          <p:cNvPr id="224" name="Text 22"/>
          <p:cNvSpPr txBox="1"/>
          <p:nvPr/>
        </p:nvSpPr>
        <p:spPr>
          <a:xfrm>
            <a:off x="548640" y="5669280"/>
            <a:ext cx="10515600" cy="457200"/>
          </a:xfrm>
          <a:prstGeom prst="rect">
            <a:avLst/>
          </a:prstGeom>
          <a:noFill/>
          <a:ln/>
        </p:spPr>
        <p:txBody>
          <a:bodyPr wrap="square" lIns="0" tIns="0" rIns="0" bIns="0" rtlCol="0" anchor="ctr"/>
          <a:lstStyle/>
          <a:p>
            <a:pPr marL="0" indent="0">
              <a:buNone/>
            </a:pPr>
            <a:r>
              <a:rPr lang="en-US" sz="1100" i="1" dirty="0">
                <a:solidFill>
                  <a:schemeClr val="accent5"/>
                </a:solidFill>
              </a:rPr>
              <a:t>Rules for your own IDs: your own domain, stable paths, resolvable where possible.</a:t>
            </a:r>
          </a:p>
          <a:p>
            <a:r>
              <a:rPr lang="en-US" sz="1100" i="1" dirty="0">
                <a:solidFill>
                  <a:schemeClr val="accent5"/>
                </a:solidFill>
              </a:rPr>
              <a:t>Simplified EPCIS 2.0 event. The full version passed the OpenEPCIS validation service.</a:t>
            </a:r>
            <a:endParaRPr lang="en-US" sz="11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LIVE DEMO</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Convert an ID, Then Use It</a:t>
            </a:r>
            <a:endParaRPr lang="en-US" sz="3600" dirty="0"/>
          </a:p>
        </p:txBody>
      </p:sp>
      <p:sp>
        <p:nvSpPr>
          <p:cNvPr id="5" name="Demo step 1"/>
          <p:cNvSpPr/>
          <p:nvPr/>
        </p:nvSpPr>
        <p:spPr>
          <a:xfrm>
            <a:off x="548640" y="1783080"/>
            <a:ext cx="6035040" cy="1051560"/>
          </a:xfrm>
          <a:prstGeom prst="roundRect">
            <a:avLst>
              <a:gd name="adj" fmla="val 10435"/>
            </a:avLst>
          </a:prstGeom>
          <a:solidFill>
            <a:schemeClr val="bg2"/>
          </a:solidFill>
          <a:ln/>
        </p:spPr>
      </p:sp>
      <p:sp>
        <p:nvSpPr>
          <p:cNvPr id="6" name="Shape 3"/>
          <p:cNvSpPr/>
          <p:nvPr/>
        </p:nvSpPr>
        <p:spPr>
          <a:xfrm>
            <a:off x="777240" y="1965960"/>
            <a:ext cx="685800" cy="685800"/>
          </a:xfrm>
          <a:prstGeom prst="ellipse">
            <a:avLst/>
          </a:prstGeom>
          <a:solidFill>
            <a:schemeClr val="accent3"/>
          </a:solidFill>
          <a:ln/>
        </p:spPr>
      </p:sp>
      <p:pic>
        <p:nvPicPr>
          <p:cNvPr id="7" name="Image 0" descr="preencoded.png"/>
          <p:cNvPicPr>
            <a:picLocks noChangeAspect="1"/>
          </p:cNvPicPr>
          <p:nvPr/>
        </p:nvPicPr>
        <p:blipFill>
          <a:blip r:embed="rId3"/>
          <a:stretch>
            <a:fillRect/>
          </a:stretch>
        </p:blipFill>
        <p:spPr>
          <a:xfrm>
            <a:off x="955548" y="2144268"/>
            <a:ext cx="329184" cy="329184"/>
          </a:xfrm>
          <a:prstGeom prst="rect">
            <a:avLst/>
          </a:prstGeom>
        </p:spPr>
      </p:pic>
      <p:sp>
        <p:nvSpPr>
          <p:cNvPr id="8" name="Text 4"/>
          <p:cNvSpPr txBox="1"/>
          <p:nvPr/>
        </p:nvSpPr>
        <p:spPr>
          <a:xfrm>
            <a:off x="1691640" y="193852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1.  URN to Digital Link</a:t>
            </a:r>
            <a:endParaRPr lang="en-US" sz="2000" dirty="0"/>
          </a:p>
        </p:txBody>
      </p:sp>
      <p:sp>
        <p:nvSpPr>
          <p:cNvPr id="9" name="Text 5"/>
          <p:cNvSpPr txBox="1"/>
          <p:nvPr/>
        </p:nvSpPr>
        <p:spPr>
          <a:xfrm>
            <a:off x="1691640" y="2350008"/>
            <a:ext cx="475488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4" tooltip="https://tools.openepcis.io/ui/format-converter">
                  <a:extLst>
                    <a:ext uri="{A12FA001-AC4F-418D-AE19-62706E023703}">
                      <ahyp:hlinkClr xmlns:ahyp="http://schemas.microsoft.com/office/drawing/2018/hyperlinkcolor" val="tx"/>
                    </a:ext>
                  </a:extLst>
                </a:hlinkClick>
              </a:rPr>
              <a:t>Format Converter</a:t>
            </a:r>
            <a:endParaRPr lang="en-US" sz="1500" dirty="0"/>
          </a:p>
        </p:txBody>
      </p:sp>
      <p:sp>
        <p:nvSpPr>
          <p:cNvPr id="10" name="Demo step 2"/>
          <p:cNvSpPr/>
          <p:nvPr/>
        </p:nvSpPr>
        <p:spPr>
          <a:xfrm>
            <a:off x="548640" y="3017520"/>
            <a:ext cx="6035040" cy="1051560"/>
          </a:xfrm>
          <a:prstGeom prst="roundRect">
            <a:avLst>
              <a:gd name="adj" fmla="val 10435"/>
            </a:avLst>
          </a:prstGeom>
          <a:solidFill>
            <a:schemeClr val="bg2"/>
          </a:solidFill>
          <a:ln/>
        </p:spPr>
      </p:sp>
      <p:sp>
        <p:nvSpPr>
          <p:cNvPr id="11" name="Shape 7"/>
          <p:cNvSpPr/>
          <p:nvPr/>
        </p:nvSpPr>
        <p:spPr>
          <a:xfrm>
            <a:off x="777240" y="3200400"/>
            <a:ext cx="685800" cy="685800"/>
          </a:xfrm>
          <a:prstGeom prst="ellipse">
            <a:avLst/>
          </a:prstGeom>
          <a:solidFill>
            <a:schemeClr val="accent3"/>
          </a:solidFill>
          <a:ln/>
        </p:spPr>
      </p:sp>
      <p:pic>
        <p:nvPicPr>
          <p:cNvPr id="12" name="Image 1" descr="preencoded.png"/>
          <p:cNvPicPr>
            <a:picLocks noChangeAspect="1"/>
          </p:cNvPicPr>
          <p:nvPr/>
        </p:nvPicPr>
        <p:blipFill>
          <a:blip r:embed="rId5"/>
          <a:stretch>
            <a:fillRect/>
          </a:stretch>
        </p:blipFill>
        <p:spPr>
          <a:xfrm>
            <a:off x="955548" y="3378708"/>
            <a:ext cx="329184" cy="329184"/>
          </a:xfrm>
          <a:prstGeom prst="rect">
            <a:avLst/>
          </a:prstGeom>
        </p:spPr>
      </p:pic>
      <p:sp>
        <p:nvSpPr>
          <p:cNvPr id="13" name="Text 8"/>
          <p:cNvSpPr txBox="1"/>
          <p:nvPr/>
        </p:nvSpPr>
        <p:spPr>
          <a:xfrm>
            <a:off x="1691640" y="317296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2.  And back again</a:t>
            </a:r>
            <a:endParaRPr lang="en-US" sz="2000" dirty="0"/>
          </a:p>
        </p:txBody>
      </p:sp>
      <p:sp>
        <p:nvSpPr>
          <p:cNvPr id="14" name="Text 9"/>
          <p:cNvSpPr txBox="1"/>
          <p:nvPr/>
        </p:nvSpPr>
        <p:spPr>
          <a:xfrm>
            <a:off x="1691640" y="3584448"/>
            <a:ext cx="475488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4" tooltip="https://tools.openepcis.io/ui/format-converter">
                  <a:extLst>
                    <a:ext uri="{A12FA001-AC4F-418D-AE19-62706E023703}">
                      <ahyp:hlinkClr xmlns:ahyp="http://schemas.microsoft.com/office/drawing/2018/hyperlinkcolor" val="tx"/>
                    </a:ext>
                  </a:extLst>
                </a:hlinkClick>
              </a:rPr>
              <a:t>Format Converter</a:t>
            </a:r>
            <a:endParaRPr lang="en-US" sz="1500" dirty="0"/>
          </a:p>
        </p:txBody>
      </p:sp>
      <p:sp>
        <p:nvSpPr>
          <p:cNvPr id="15" name="Demo step 3"/>
          <p:cNvSpPr/>
          <p:nvPr/>
        </p:nvSpPr>
        <p:spPr>
          <a:xfrm>
            <a:off x="548640" y="4251960"/>
            <a:ext cx="6035040" cy="1051560"/>
          </a:xfrm>
          <a:prstGeom prst="roundRect">
            <a:avLst>
              <a:gd name="adj" fmla="val 10435"/>
            </a:avLst>
          </a:prstGeom>
          <a:solidFill>
            <a:schemeClr val="bg2"/>
          </a:solidFill>
          <a:ln/>
        </p:spPr>
      </p:sp>
      <p:sp>
        <p:nvSpPr>
          <p:cNvPr id="16" name="Shape 11"/>
          <p:cNvSpPr/>
          <p:nvPr/>
        </p:nvSpPr>
        <p:spPr>
          <a:xfrm>
            <a:off x="777240" y="4434840"/>
            <a:ext cx="685800" cy="685800"/>
          </a:xfrm>
          <a:prstGeom prst="ellipse">
            <a:avLst/>
          </a:prstGeom>
          <a:solidFill>
            <a:schemeClr val="accent3"/>
          </a:solidFill>
          <a:ln/>
        </p:spPr>
      </p:sp>
      <p:pic>
        <p:nvPicPr>
          <p:cNvPr id="17" name="Image 2" descr="preencoded.png"/>
          <p:cNvPicPr>
            <a:picLocks noChangeAspect="1"/>
          </p:cNvPicPr>
          <p:nvPr/>
        </p:nvPicPr>
        <p:blipFill>
          <a:blip r:embed="rId6"/>
          <a:stretch>
            <a:fillRect/>
          </a:stretch>
        </p:blipFill>
        <p:spPr>
          <a:xfrm>
            <a:off x="955548" y="4613148"/>
            <a:ext cx="329184" cy="329184"/>
          </a:xfrm>
          <a:prstGeom prst="rect">
            <a:avLst/>
          </a:prstGeom>
        </p:spPr>
      </p:pic>
      <p:sp>
        <p:nvSpPr>
          <p:cNvPr id="18" name="Text 12"/>
          <p:cNvSpPr txBox="1"/>
          <p:nvPr/>
        </p:nvSpPr>
        <p:spPr>
          <a:xfrm>
            <a:off x="1691640" y="4407408"/>
            <a:ext cx="4754880" cy="411480"/>
          </a:xfrm>
          <a:prstGeom prst="rect">
            <a:avLst/>
          </a:prstGeom>
          <a:noFill/>
          <a:ln/>
        </p:spPr>
        <p:txBody>
          <a:bodyPr wrap="square" lIns="0" tIns="0" rIns="0" bIns="0" rtlCol="0" anchor="ctr"/>
          <a:lstStyle/>
          <a:p>
            <a:pPr marL="0" indent="0">
              <a:buNone/>
            </a:pPr>
            <a:r>
              <a:rPr lang="en-US" sz="2000" b="1" dirty="0">
                <a:solidFill>
                  <a:schemeClr val="tx1"/>
                </a:solidFill>
              </a:rPr>
              <a:t>3.  Use the IDs in an event</a:t>
            </a:r>
            <a:endParaRPr lang="en-US" sz="2000" dirty="0"/>
          </a:p>
        </p:txBody>
      </p:sp>
      <p:sp>
        <p:nvSpPr>
          <p:cNvPr id="19" name="Text 13"/>
          <p:cNvSpPr txBox="1"/>
          <p:nvPr/>
        </p:nvSpPr>
        <p:spPr>
          <a:xfrm>
            <a:off x="1691640" y="4818888"/>
            <a:ext cx="4754880" cy="320040"/>
          </a:xfrm>
          <a:prstGeom prst="rect">
            <a:avLst/>
          </a:prstGeom>
          <a:noFill/>
          <a:ln/>
        </p:spPr>
        <p:txBody>
          <a:bodyPr wrap="square" lIns="0" tIns="0" rIns="0" bIns="0" rtlCol="0" anchor="ctr"/>
          <a:lstStyle/>
          <a:p>
            <a:pPr marL="0" indent="0">
              <a:buNone/>
            </a:pPr>
            <a:r>
              <a:rPr lang="en-US" sz="1500" u="sng" dirty="0">
                <a:solidFill>
                  <a:schemeClr val="accent2"/>
                </a:solidFill>
                <a:hlinkClick r:id="rId7" tooltip="https://tools.openepcis.io/ui/event-data-designer">
                  <a:extLst>
                    <a:ext uri="{A12FA001-AC4F-418D-AE19-62706E023703}">
                      <ahyp:hlinkClr xmlns:ahyp="http://schemas.microsoft.com/office/drawing/2018/hyperlinkcolor" val="tx"/>
                    </a:ext>
                  </a:extLst>
                </a:hlinkClick>
              </a:rPr>
              <a:t>Event Data Designer</a:t>
            </a:r>
            <a:endParaRPr lang="en-US" sz="1500" dirty="0"/>
          </a:p>
        </p:txBody>
      </p:sp>
      <p:sp>
        <p:nvSpPr>
          <p:cNvPr id="20" name="Shape 14"/>
          <p:cNvSpPr/>
          <p:nvPr/>
        </p:nvSpPr>
        <p:spPr>
          <a:xfrm>
            <a:off x="7086600" y="1783080"/>
            <a:ext cx="4553712" cy="3520440"/>
          </a:xfrm>
          <a:prstGeom prst="roundRect">
            <a:avLst>
              <a:gd name="adj" fmla="val 3117"/>
            </a:avLst>
          </a:prstGeom>
          <a:solidFill>
            <a:schemeClr val="bg1"/>
          </a:solidFill>
          <a:ln w="12700">
            <a:solidFill>
              <a:schemeClr val="accent6"/>
            </a:solidFill>
            <a:prstDash val="solid"/>
          </a:ln>
          <a:effectLst>
            <a:outerShdw blurRad="101600" dist="38100" dir="5400000" algn="bl" rotWithShape="0">
              <a:srgbClr val="1B2430">
                <a:alpha val="12000"/>
              </a:srgbClr>
            </a:outerShdw>
          </a:effectLst>
        </p:spPr>
      </p:sp>
      <p:sp>
        <p:nvSpPr>
          <p:cNvPr id="21" name="Shape 15"/>
          <p:cNvSpPr/>
          <p:nvPr/>
        </p:nvSpPr>
        <p:spPr>
          <a:xfrm>
            <a:off x="7315200" y="1984248"/>
            <a:ext cx="137160" cy="137160"/>
          </a:xfrm>
          <a:prstGeom prst="ellipse">
            <a:avLst/>
          </a:prstGeom>
          <a:solidFill>
            <a:srgbClr val="F2B8C0"/>
          </a:solidFill>
          <a:ln/>
        </p:spPr>
      </p:sp>
      <p:sp>
        <p:nvSpPr>
          <p:cNvPr id="22" name="Shape 16"/>
          <p:cNvSpPr/>
          <p:nvPr/>
        </p:nvSpPr>
        <p:spPr>
          <a:xfrm>
            <a:off x="7543800" y="1984248"/>
            <a:ext cx="137160" cy="137160"/>
          </a:xfrm>
          <a:prstGeom prst="ellipse">
            <a:avLst/>
          </a:prstGeom>
          <a:solidFill>
            <a:srgbClr val="C9D6E3"/>
          </a:solidFill>
          <a:ln/>
        </p:spPr>
      </p:sp>
      <p:sp>
        <p:nvSpPr>
          <p:cNvPr id="23" name="Shape 17"/>
          <p:cNvSpPr/>
          <p:nvPr/>
        </p:nvSpPr>
        <p:spPr>
          <a:xfrm>
            <a:off x="7772400" y="1984248"/>
            <a:ext cx="137160" cy="137160"/>
          </a:xfrm>
          <a:prstGeom prst="ellipse">
            <a:avLst/>
          </a:prstGeom>
          <a:solidFill>
            <a:srgbClr val="C9D6E3"/>
          </a:solidFill>
          <a:ln/>
        </p:spPr>
      </p:sp>
      <p:sp>
        <p:nvSpPr>
          <p:cNvPr id="24" name="Shape 18"/>
          <p:cNvSpPr/>
          <p:nvPr/>
        </p:nvSpPr>
        <p:spPr>
          <a:xfrm>
            <a:off x="8092440" y="1911096"/>
            <a:ext cx="3319272" cy="292608"/>
          </a:xfrm>
          <a:prstGeom prst="roundRect">
            <a:avLst>
              <a:gd name="adj" fmla="val 25000"/>
            </a:avLst>
          </a:prstGeom>
          <a:solidFill>
            <a:schemeClr val="bg2"/>
          </a:solidFill>
          <a:ln/>
        </p:spPr>
      </p:sp>
      <p:sp>
        <p:nvSpPr>
          <p:cNvPr id="25" name="Text 19"/>
          <p:cNvSpPr txBox="1"/>
          <p:nvPr/>
        </p:nvSpPr>
        <p:spPr>
          <a:xfrm>
            <a:off x="8229600" y="1911096"/>
            <a:ext cx="3090672" cy="292608"/>
          </a:xfrm>
          <a:prstGeom prst="rect">
            <a:avLst/>
          </a:prstGeom>
          <a:noFill/>
          <a:ln/>
        </p:spPr>
        <p:txBody>
          <a:bodyPr wrap="square" lIns="0" tIns="0" rIns="0" bIns="0" rtlCol="0" anchor="ctr"/>
          <a:lstStyle/>
          <a:p>
            <a:pPr marL="0" indent="0">
              <a:buNone/>
            </a:pPr>
            <a:r>
              <a:rPr lang="en-US" sz="1200" u="sng" dirty="0">
                <a:solidFill>
                  <a:schemeClr val="accent2"/>
                </a:solidFill>
                <a:hlinkClick r:id="rId4" tooltip="https://tools.openepcis.io/ui/format-converter">
                  <a:extLst>
                    <a:ext uri="{A12FA001-AC4F-418D-AE19-62706E023703}">
                      <ahyp:hlinkClr xmlns:ahyp="http://schemas.microsoft.com/office/drawing/2018/hyperlinkcolor" val="tx"/>
                    </a:ext>
                  </a:extLst>
                </a:hlinkClick>
              </a:rPr>
              <a:t>tools.openepcis.io/ui/format-converter</a:t>
            </a:r>
            <a:endParaRPr lang="en-US" sz="1200" dirty="0"/>
          </a:p>
        </p:txBody>
      </p:sp>
      <p:sp>
        <p:nvSpPr>
          <p:cNvPr id="26" name="Shape 20"/>
          <p:cNvSpPr/>
          <p:nvPr/>
        </p:nvSpPr>
        <p:spPr>
          <a:xfrm>
            <a:off x="8769096" y="2743200"/>
            <a:ext cx="1188720" cy="1188720"/>
          </a:xfrm>
          <a:prstGeom prst="ellipse">
            <a:avLst/>
          </a:prstGeom>
          <a:solidFill>
            <a:schemeClr val="accent1"/>
          </a:solidFill>
          <a:ln/>
        </p:spPr>
      </p:sp>
      <p:pic>
        <p:nvPicPr>
          <p:cNvPr id="27" name="Image 3" descr="preencoded.png"/>
          <p:cNvPicPr>
            <a:picLocks noChangeAspect="1"/>
          </p:cNvPicPr>
          <p:nvPr/>
        </p:nvPicPr>
        <p:blipFill>
          <a:blip r:embed="rId8"/>
          <a:stretch>
            <a:fillRect/>
          </a:stretch>
        </p:blipFill>
        <p:spPr>
          <a:xfrm>
            <a:off x="9078163" y="3052267"/>
            <a:ext cx="570586" cy="570586"/>
          </a:xfrm>
          <a:prstGeom prst="rect">
            <a:avLst/>
          </a:prstGeom>
        </p:spPr>
      </p:pic>
      <p:sp>
        <p:nvSpPr>
          <p:cNvPr id="28" name="Text 21"/>
          <p:cNvSpPr txBox="1"/>
          <p:nvPr/>
        </p:nvSpPr>
        <p:spPr>
          <a:xfrm>
            <a:off x="7086600" y="4114800"/>
            <a:ext cx="4553712" cy="41148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Open the tools live</a:t>
            </a:r>
            <a:endParaRPr lang="en-US" sz="2000" dirty="0"/>
          </a:p>
        </p:txBody>
      </p:sp>
      <p:sp>
        <p:nvSpPr>
          <p:cNvPr id="29" name="Text 22"/>
          <p:cNvSpPr txBox="1"/>
          <p:nvPr/>
        </p:nvSpPr>
        <p:spPr>
          <a:xfrm>
            <a:off x="7086600" y="4526280"/>
            <a:ext cx="4553712" cy="320040"/>
          </a:xfrm>
          <a:prstGeom prst="rect">
            <a:avLst/>
          </a:prstGeom>
          <a:noFill/>
          <a:ln/>
        </p:spPr>
        <p:txBody>
          <a:bodyPr wrap="square" lIns="0" tIns="0" rIns="0" bIns="0" rtlCol="0" anchor="ctr"/>
          <a:lstStyle/>
          <a:p>
            <a:pPr marL="0" indent="0" algn="ctr">
              <a:buNone/>
            </a:pPr>
            <a:r>
              <a:rPr lang="en-US" sz="1400" dirty="0">
                <a:solidFill>
                  <a:schemeClr val="accent5"/>
                </a:solidFill>
              </a:rPr>
              <a:t>Click a link on the left to jump straight in</a:t>
            </a:r>
            <a:endParaRPr lang="en-US" sz="1400" dirty="0"/>
          </a:p>
        </p:txBody>
      </p:sp>
      <p:sp>
        <p:nvSpPr>
          <p:cNvPr id="30" name="Text 23"/>
          <p:cNvSpPr txBox="1"/>
          <p:nvPr/>
        </p:nvSpPr>
        <p:spPr>
          <a:xfrm>
            <a:off x="7086600" y="5532120"/>
            <a:ext cx="4553712" cy="320040"/>
          </a:xfrm>
          <a:prstGeom prst="rect">
            <a:avLst/>
          </a:prstGeom>
          <a:noFill/>
          <a:ln/>
        </p:spPr>
        <p:txBody>
          <a:bodyPr wrap="square" lIns="0" tIns="0" rIns="0" bIns="0" rtlCol="0" anchor="ctr"/>
          <a:lstStyle/>
          <a:p>
            <a:pPr marL="0" indent="0" algn="ctr">
              <a:buNone/>
            </a:pPr>
            <a:r>
              <a:rPr lang="en-US" sz="1300" dirty="0">
                <a:solidFill>
                  <a:schemeClr val="accent5"/>
                </a:solidFill>
              </a:rPr>
              <a:t>Developers:  </a:t>
            </a:r>
            <a:r>
              <a:rPr lang="en-US" sz="1300" u="sng" dirty="0">
                <a:solidFill>
                  <a:schemeClr val="accent2"/>
                </a:solidFill>
                <a:hlinkClick r:id="rId9" tooltip="https://tools.openepcis.io/q/swagger-ui/#/Identifier%20Converter">
                  <a:extLst>
                    <a:ext uri="{A12FA001-AC4F-418D-AE19-62706E023703}">
                      <ahyp:hlinkClr xmlns:ahyp="http://schemas.microsoft.com/office/drawing/2018/hyperlinkcolor" val="tx"/>
                    </a:ext>
                  </a:extLst>
                </a:hlinkClick>
              </a:rPr>
              <a:t>Identifier API</a:t>
            </a:r>
            <a:r>
              <a:rPr lang="en-US" sz="1300" dirty="0">
                <a:solidFill>
                  <a:schemeClr val="accent6"/>
                </a:solidFill>
              </a:rPr>
              <a:t>   |   </a:t>
            </a:r>
            <a:r>
              <a:rPr lang="en-US" sz="1300" u="sng" dirty="0">
                <a:solidFill>
                  <a:schemeClr val="accent2"/>
                </a:solidFill>
                <a:hlinkClick r:id="rId10" tooltip="https://openepcis.io/docs/identifier-converter">
                  <a:extLst>
                    <a:ext uri="{A12FA001-AC4F-418D-AE19-62706E023703}">
                      <ahyp:hlinkClr xmlns:ahyp="http://schemas.microsoft.com/office/drawing/2018/hyperlinkcolor" val="tx"/>
                    </a:ext>
                  </a:extLst>
                </a:hlinkClick>
              </a:rPr>
              <a:t>Docs</a:t>
            </a:r>
            <a:endParaRPr lang="en-US" sz="13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384048"/>
            <a:ext cx="9144000" cy="274320"/>
          </a:xfrm>
          <a:prstGeom prst="rect">
            <a:avLst/>
          </a:prstGeom>
          <a:noFill/>
          <a:ln/>
        </p:spPr>
        <p:txBody>
          <a:bodyPr wrap="square" lIns="0" tIns="0" rIns="0" bIns="0" rtlCol="0" anchor="ctr"/>
          <a:lstStyle/>
          <a:p>
            <a:pPr marL="0" indent="0">
              <a:buNone/>
            </a:pPr>
            <a:r>
              <a:rPr lang="en-US" sz="1100" b="1" kern="0" spc="300" dirty="0">
                <a:solidFill>
                  <a:schemeClr val="accent3"/>
                </a:solidFill>
              </a:rPr>
              <a:t>WHAT'S NEXT</a:t>
            </a:r>
            <a:endParaRPr lang="en-US" sz="1100" dirty="0"/>
          </a:p>
        </p:txBody>
      </p:sp>
      <p:sp>
        <p:nvSpPr>
          <p:cNvPr id="3" name="Text 1"/>
          <p:cNvSpPr>
            <a:spLocks noGrp="1"/>
          </p:cNvSpPr>
          <p:nvPr>
            <p:ph type="title" idx="104" hasCustomPrompt="1"/>
          </p:nvPr>
        </p:nvSpPr>
        <p:spPr>
          <a:xfrm>
            <a:off x="548640" y="685800"/>
            <a:ext cx="11064240" cy="731520"/>
          </a:xfrm>
          <a:prstGeom prst="rect">
            <a:avLst/>
          </a:prstGeom>
          <a:noFill/>
          <a:ln/>
        </p:spPr>
        <p:txBody>
          <a:bodyPr wrap="square" lIns="0" tIns="0" rIns="0" bIns="0" rtlCol="0" anchor="ctr"/>
          <a:lstStyle/>
          <a:p>
            <a:pPr marL="0" indent="0" algn="l">
              <a:buNone/>
            </a:pPr>
            <a:r>
              <a:rPr lang="en-US" sz="3600" b="1" dirty="0">
                <a:solidFill>
                  <a:schemeClr val="tx2"/>
                </a:solidFill>
              </a:rPr>
              <a:t>Coming Up in the Series</a:t>
            </a:r>
            <a:endParaRPr lang="en-US" sz="3600" dirty="0"/>
          </a:p>
        </p:txBody>
      </p:sp>
      <p:sp>
        <p:nvSpPr>
          <p:cNvPr id="5" name="Week 3"/>
          <p:cNvSpPr/>
          <p:nvPr/>
        </p:nvSpPr>
        <p:spPr>
          <a:xfrm>
            <a:off x="548640" y="1783080"/>
            <a:ext cx="2633472" cy="1463040"/>
          </a:xfrm>
          <a:prstGeom prst="roundRect">
            <a:avLst>
              <a:gd name="adj" fmla="val 7500"/>
            </a:avLst>
          </a:prstGeom>
          <a:solidFill>
            <a:schemeClr val="accent1"/>
          </a:solidFill>
          <a:ln/>
        </p:spPr>
      </p:sp>
      <p:sp>
        <p:nvSpPr>
          <p:cNvPr id="6" name="Text 3"/>
          <p:cNvSpPr txBox="1"/>
          <p:nvPr/>
        </p:nvSpPr>
        <p:spPr>
          <a:xfrm>
            <a:off x="822960" y="1984248"/>
            <a:ext cx="2084832" cy="274320"/>
          </a:xfrm>
          <a:prstGeom prst="rect">
            <a:avLst/>
          </a:prstGeom>
          <a:noFill/>
          <a:ln/>
        </p:spPr>
        <p:txBody>
          <a:bodyPr wrap="square" lIns="0" tIns="0" rIns="0" bIns="0" rtlCol="0" anchor="ctr"/>
          <a:lstStyle/>
          <a:p>
            <a:pPr marL="0" indent="0">
              <a:buNone/>
            </a:pPr>
            <a:r>
              <a:rPr lang="en-US" sz="1100" b="1" kern="0" spc="200" dirty="0">
                <a:solidFill>
                  <a:srgbClr val="9DB9E8"/>
                </a:solidFill>
              </a:rPr>
              <a:t>NEXT WEEK</a:t>
            </a:r>
            <a:endParaRPr lang="en-US" sz="1100" dirty="0"/>
          </a:p>
        </p:txBody>
      </p:sp>
      <p:sp>
        <p:nvSpPr>
          <p:cNvPr id="7" name="Text 4"/>
          <p:cNvSpPr txBox="1"/>
          <p:nvPr/>
        </p:nvSpPr>
        <p:spPr>
          <a:xfrm>
            <a:off x="822960" y="2286000"/>
            <a:ext cx="2176272" cy="777240"/>
          </a:xfrm>
          <a:prstGeom prst="rect">
            <a:avLst/>
          </a:prstGeom>
          <a:noFill/>
          <a:ln/>
        </p:spPr>
        <p:txBody>
          <a:bodyPr wrap="square" lIns="0" tIns="0" rIns="0" bIns="0" rtlCol="0" anchor="t"/>
          <a:lstStyle/>
          <a:p>
            <a:pPr marL="0" indent="0">
              <a:buNone/>
            </a:pPr>
            <a:r>
              <a:rPr lang="en-US" sz="1600" b="1" dirty="0">
                <a:solidFill>
                  <a:schemeClr val="bg1"/>
                </a:solidFill>
              </a:rPr>
              <a:t>The five event types</a:t>
            </a:r>
            <a:endParaRPr lang="en-US" sz="1600" dirty="0"/>
          </a:p>
        </p:txBody>
      </p:sp>
      <p:sp>
        <p:nvSpPr>
          <p:cNvPr id="8" name="Week 4"/>
          <p:cNvSpPr/>
          <p:nvPr/>
        </p:nvSpPr>
        <p:spPr>
          <a:xfrm>
            <a:off x="3364992" y="1783080"/>
            <a:ext cx="2633472" cy="1463040"/>
          </a:xfrm>
          <a:prstGeom prst="roundRect">
            <a:avLst>
              <a:gd name="adj" fmla="val 7500"/>
            </a:avLst>
          </a:prstGeom>
          <a:solidFill>
            <a:schemeClr val="bg2"/>
          </a:solidFill>
          <a:ln/>
        </p:spPr>
      </p:sp>
      <p:sp>
        <p:nvSpPr>
          <p:cNvPr id="9" name="Text 6"/>
          <p:cNvSpPr txBox="1"/>
          <p:nvPr/>
        </p:nvSpPr>
        <p:spPr>
          <a:xfrm>
            <a:off x="3639312" y="198424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4</a:t>
            </a:r>
            <a:endParaRPr lang="en-US" sz="1100" dirty="0"/>
          </a:p>
        </p:txBody>
      </p:sp>
      <p:sp>
        <p:nvSpPr>
          <p:cNvPr id="10" name="Text 7"/>
          <p:cNvSpPr txBox="1"/>
          <p:nvPr/>
        </p:nvSpPr>
        <p:spPr>
          <a:xfrm>
            <a:off x="3639312" y="2286000"/>
            <a:ext cx="2176272" cy="777240"/>
          </a:xfrm>
          <a:prstGeom prst="rect">
            <a:avLst/>
          </a:prstGeom>
          <a:noFill/>
          <a:ln/>
        </p:spPr>
        <p:txBody>
          <a:bodyPr wrap="square" lIns="0" tIns="0" rIns="0" bIns="0" rtlCol="0" anchor="t"/>
          <a:lstStyle/>
          <a:p>
            <a:pPr marL="0" indent="0">
              <a:buNone/>
            </a:pPr>
            <a:r>
              <a:rPr lang="en-US" sz="1600" b="1" dirty="0">
                <a:solidFill>
                  <a:schemeClr val="tx1"/>
                </a:solidFill>
              </a:rPr>
              <a:t>CBV and master data</a:t>
            </a:r>
            <a:endParaRPr lang="en-US" sz="1600" dirty="0"/>
          </a:p>
        </p:txBody>
      </p:sp>
      <p:sp>
        <p:nvSpPr>
          <p:cNvPr id="11" name="Week 5"/>
          <p:cNvSpPr/>
          <p:nvPr/>
        </p:nvSpPr>
        <p:spPr>
          <a:xfrm>
            <a:off x="6181344" y="1783080"/>
            <a:ext cx="2633472" cy="1463040"/>
          </a:xfrm>
          <a:prstGeom prst="roundRect">
            <a:avLst>
              <a:gd name="adj" fmla="val 7500"/>
            </a:avLst>
          </a:prstGeom>
          <a:solidFill>
            <a:schemeClr val="bg2"/>
          </a:solidFill>
          <a:ln/>
        </p:spPr>
      </p:sp>
      <p:sp>
        <p:nvSpPr>
          <p:cNvPr id="12" name="Text 9"/>
          <p:cNvSpPr txBox="1"/>
          <p:nvPr/>
        </p:nvSpPr>
        <p:spPr>
          <a:xfrm>
            <a:off x="6455664" y="198424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5</a:t>
            </a:r>
            <a:endParaRPr lang="en-US" sz="1100" dirty="0"/>
          </a:p>
        </p:txBody>
      </p:sp>
      <p:sp>
        <p:nvSpPr>
          <p:cNvPr id="13" name="Text 10"/>
          <p:cNvSpPr txBox="1"/>
          <p:nvPr/>
        </p:nvSpPr>
        <p:spPr>
          <a:xfrm>
            <a:off x="6455664" y="2286000"/>
            <a:ext cx="2176272" cy="777240"/>
          </a:xfrm>
          <a:prstGeom prst="rect">
            <a:avLst/>
          </a:prstGeom>
          <a:noFill/>
          <a:ln/>
        </p:spPr>
        <p:txBody>
          <a:bodyPr wrap="square" lIns="0" tIns="0" rIns="0" bIns="0" rtlCol="0" anchor="t"/>
          <a:lstStyle/>
          <a:p>
            <a:pPr marL="0" indent="0">
              <a:buNone/>
            </a:pPr>
            <a:r>
              <a:rPr lang="en-US" sz="1600" b="1" dirty="0">
                <a:solidFill>
                  <a:schemeClr val="tx1"/>
                </a:solidFill>
              </a:rPr>
              <a:t>XML or JSON? One event, two formats</a:t>
            </a:r>
            <a:endParaRPr lang="en-US" sz="1600" dirty="0"/>
          </a:p>
        </p:txBody>
      </p:sp>
      <p:sp>
        <p:nvSpPr>
          <p:cNvPr id="14" name="Week 6"/>
          <p:cNvSpPr/>
          <p:nvPr/>
        </p:nvSpPr>
        <p:spPr>
          <a:xfrm>
            <a:off x="8997696" y="1783080"/>
            <a:ext cx="2633472" cy="1463040"/>
          </a:xfrm>
          <a:prstGeom prst="roundRect">
            <a:avLst>
              <a:gd name="adj" fmla="val 7500"/>
            </a:avLst>
          </a:prstGeom>
          <a:solidFill>
            <a:schemeClr val="bg2"/>
          </a:solidFill>
          <a:ln/>
        </p:spPr>
      </p:sp>
      <p:sp>
        <p:nvSpPr>
          <p:cNvPr id="15" name="Text 12"/>
          <p:cNvSpPr txBox="1"/>
          <p:nvPr/>
        </p:nvSpPr>
        <p:spPr>
          <a:xfrm>
            <a:off x="9272016" y="198424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6</a:t>
            </a:r>
            <a:endParaRPr lang="en-US" sz="1100" dirty="0"/>
          </a:p>
        </p:txBody>
      </p:sp>
      <p:sp>
        <p:nvSpPr>
          <p:cNvPr id="16" name="Text 13"/>
          <p:cNvSpPr txBox="1"/>
          <p:nvPr/>
        </p:nvSpPr>
        <p:spPr>
          <a:xfrm>
            <a:off x="9272016" y="2286000"/>
            <a:ext cx="2176272" cy="777240"/>
          </a:xfrm>
          <a:prstGeom prst="rect">
            <a:avLst/>
          </a:prstGeom>
          <a:noFill/>
          <a:ln/>
        </p:spPr>
        <p:txBody>
          <a:bodyPr wrap="square" lIns="0" tIns="0" rIns="0" bIns="0" rtlCol="0" anchor="t"/>
          <a:lstStyle/>
          <a:p>
            <a:pPr marL="0" indent="0">
              <a:buNone/>
            </a:pPr>
            <a:r>
              <a:rPr lang="en-US" sz="1600" b="1" dirty="0">
                <a:solidFill>
                  <a:schemeClr val="tx1"/>
                </a:solidFill>
              </a:rPr>
              <a:t>Validation and partner profiles</a:t>
            </a:r>
            <a:endParaRPr lang="en-US" sz="1600" dirty="0"/>
          </a:p>
        </p:txBody>
      </p:sp>
      <p:sp>
        <p:nvSpPr>
          <p:cNvPr id="17" name="Week 7"/>
          <p:cNvSpPr/>
          <p:nvPr/>
        </p:nvSpPr>
        <p:spPr>
          <a:xfrm>
            <a:off x="548640" y="3520440"/>
            <a:ext cx="2633472" cy="1463040"/>
          </a:xfrm>
          <a:prstGeom prst="roundRect">
            <a:avLst>
              <a:gd name="adj" fmla="val 7500"/>
            </a:avLst>
          </a:prstGeom>
          <a:solidFill>
            <a:schemeClr val="bg2"/>
          </a:solidFill>
          <a:ln/>
        </p:spPr>
      </p:sp>
      <p:sp>
        <p:nvSpPr>
          <p:cNvPr id="18" name="Text 15"/>
          <p:cNvSpPr txBox="1"/>
          <p:nvPr/>
        </p:nvSpPr>
        <p:spPr>
          <a:xfrm>
            <a:off x="822960" y="372160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7</a:t>
            </a:r>
            <a:endParaRPr lang="en-US" sz="1100" dirty="0"/>
          </a:p>
        </p:txBody>
      </p:sp>
      <p:sp>
        <p:nvSpPr>
          <p:cNvPr id="19" name="Text 16"/>
          <p:cNvSpPr txBox="1"/>
          <p:nvPr/>
        </p:nvSpPr>
        <p:spPr>
          <a:xfrm>
            <a:off x="822960" y="4023360"/>
            <a:ext cx="2176272" cy="777240"/>
          </a:xfrm>
          <a:prstGeom prst="rect">
            <a:avLst/>
          </a:prstGeom>
          <a:noFill/>
          <a:ln/>
        </p:spPr>
        <p:txBody>
          <a:bodyPr wrap="square" lIns="0" tIns="0" rIns="0" bIns="0" rtlCol="0" anchor="t"/>
          <a:lstStyle/>
          <a:p>
            <a:pPr marL="0" indent="0">
              <a:buNone/>
            </a:pPr>
            <a:r>
              <a:rPr lang="en-US" sz="1600" b="1" dirty="0">
                <a:solidFill>
                  <a:schemeClr val="tx1"/>
                </a:solidFill>
              </a:rPr>
              <a:t>Event hash and duplicates</a:t>
            </a:r>
            <a:endParaRPr lang="en-US" sz="1600" dirty="0"/>
          </a:p>
        </p:txBody>
      </p:sp>
      <p:sp>
        <p:nvSpPr>
          <p:cNvPr id="20" name="Week 8"/>
          <p:cNvSpPr/>
          <p:nvPr/>
        </p:nvSpPr>
        <p:spPr>
          <a:xfrm>
            <a:off x="3364992" y="3520440"/>
            <a:ext cx="2633472" cy="1463040"/>
          </a:xfrm>
          <a:prstGeom prst="roundRect">
            <a:avLst>
              <a:gd name="adj" fmla="val 7500"/>
            </a:avLst>
          </a:prstGeom>
          <a:solidFill>
            <a:schemeClr val="bg2"/>
          </a:solidFill>
          <a:ln/>
        </p:spPr>
      </p:sp>
      <p:sp>
        <p:nvSpPr>
          <p:cNvPr id="21" name="Text 18"/>
          <p:cNvSpPr txBox="1"/>
          <p:nvPr/>
        </p:nvSpPr>
        <p:spPr>
          <a:xfrm>
            <a:off x="3639312" y="372160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8</a:t>
            </a:r>
            <a:endParaRPr lang="en-US" sz="1100" dirty="0"/>
          </a:p>
        </p:txBody>
      </p:sp>
      <p:sp>
        <p:nvSpPr>
          <p:cNvPr id="22" name="Text 19"/>
          <p:cNvSpPr txBox="1"/>
          <p:nvPr/>
        </p:nvSpPr>
        <p:spPr>
          <a:xfrm>
            <a:off x="3639312" y="4023360"/>
            <a:ext cx="2176272" cy="777240"/>
          </a:xfrm>
          <a:prstGeom prst="rect">
            <a:avLst/>
          </a:prstGeom>
          <a:noFill/>
          <a:ln/>
        </p:spPr>
        <p:txBody>
          <a:bodyPr wrap="square" lIns="0" tIns="0" rIns="0" bIns="0" rtlCol="0" anchor="t"/>
          <a:lstStyle/>
          <a:p>
            <a:pPr marL="0" indent="0">
              <a:buNone/>
            </a:pPr>
            <a:r>
              <a:rPr lang="en-US" sz="1600" b="1" dirty="0">
                <a:solidFill>
                  <a:schemeClr val="tx1"/>
                </a:solidFill>
              </a:rPr>
              <a:t>From test data to a working system</a:t>
            </a:r>
            <a:endParaRPr lang="en-US" sz="1600" dirty="0"/>
          </a:p>
        </p:txBody>
      </p:sp>
      <p:sp>
        <p:nvSpPr>
          <p:cNvPr id="23" name="Week 9"/>
          <p:cNvSpPr/>
          <p:nvPr/>
        </p:nvSpPr>
        <p:spPr>
          <a:xfrm>
            <a:off x="6181344" y="3520440"/>
            <a:ext cx="2633472" cy="1463040"/>
          </a:xfrm>
          <a:prstGeom prst="roundRect">
            <a:avLst>
              <a:gd name="adj" fmla="val 7500"/>
            </a:avLst>
          </a:prstGeom>
          <a:solidFill>
            <a:schemeClr val="bg2"/>
          </a:solidFill>
          <a:ln/>
        </p:spPr>
      </p:sp>
      <p:sp>
        <p:nvSpPr>
          <p:cNvPr id="24" name="Text 21"/>
          <p:cNvSpPr txBox="1"/>
          <p:nvPr/>
        </p:nvSpPr>
        <p:spPr>
          <a:xfrm>
            <a:off x="6455664" y="372160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9</a:t>
            </a:r>
            <a:endParaRPr lang="en-US" sz="1100" dirty="0"/>
          </a:p>
        </p:txBody>
      </p:sp>
      <p:sp>
        <p:nvSpPr>
          <p:cNvPr id="25" name="Text 22"/>
          <p:cNvSpPr txBox="1"/>
          <p:nvPr/>
        </p:nvSpPr>
        <p:spPr>
          <a:xfrm>
            <a:off x="6455664" y="4023360"/>
            <a:ext cx="2176272" cy="777240"/>
          </a:xfrm>
          <a:prstGeom prst="rect">
            <a:avLst/>
          </a:prstGeom>
          <a:noFill/>
          <a:ln/>
        </p:spPr>
        <p:txBody>
          <a:bodyPr wrap="square" lIns="0" tIns="0" rIns="0" bIns="0" rtlCol="0" anchor="t"/>
          <a:lstStyle/>
          <a:p>
            <a:pPr marL="0" indent="0">
              <a:buNone/>
            </a:pPr>
            <a:r>
              <a:rPr lang="en-US" sz="1600" b="1" dirty="0">
                <a:solidFill>
                  <a:schemeClr val="tx1"/>
                </a:solidFill>
              </a:rPr>
              <a:t>EPCIS and the Digital Product Passport</a:t>
            </a:r>
            <a:endParaRPr lang="en-US" sz="1600" dirty="0"/>
          </a:p>
        </p:txBody>
      </p:sp>
      <p:sp>
        <p:nvSpPr>
          <p:cNvPr id="26" name="Week 10"/>
          <p:cNvSpPr/>
          <p:nvPr/>
        </p:nvSpPr>
        <p:spPr>
          <a:xfrm>
            <a:off x="8997696" y="3520440"/>
            <a:ext cx="2633472" cy="1463040"/>
          </a:xfrm>
          <a:prstGeom prst="roundRect">
            <a:avLst>
              <a:gd name="adj" fmla="val 7500"/>
            </a:avLst>
          </a:prstGeom>
          <a:solidFill>
            <a:schemeClr val="bg2"/>
          </a:solidFill>
          <a:ln/>
        </p:spPr>
      </p:sp>
      <p:sp>
        <p:nvSpPr>
          <p:cNvPr id="27" name="Text 24"/>
          <p:cNvSpPr txBox="1"/>
          <p:nvPr/>
        </p:nvSpPr>
        <p:spPr>
          <a:xfrm>
            <a:off x="9272016" y="3721608"/>
            <a:ext cx="2084832" cy="274320"/>
          </a:xfrm>
          <a:prstGeom prst="rect">
            <a:avLst/>
          </a:prstGeom>
          <a:noFill/>
          <a:ln/>
        </p:spPr>
        <p:txBody>
          <a:bodyPr wrap="square" lIns="0" tIns="0" rIns="0" bIns="0" rtlCol="0" anchor="ctr"/>
          <a:lstStyle/>
          <a:p>
            <a:pPr marL="0" indent="0">
              <a:buNone/>
            </a:pPr>
            <a:r>
              <a:rPr lang="en-US" sz="1100" b="1" kern="0" spc="200" dirty="0">
                <a:solidFill>
                  <a:schemeClr val="accent3"/>
                </a:solidFill>
              </a:rPr>
              <a:t>WEEK 10</a:t>
            </a:r>
            <a:endParaRPr lang="en-US" sz="1100" dirty="0"/>
          </a:p>
        </p:txBody>
      </p:sp>
      <p:sp>
        <p:nvSpPr>
          <p:cNvPr id="28" name="Text 25"/>
          <p:cNvSpPr txBox="1"/>
          <p:nvPr/>
        </p:nvSpPr>
        <p:spPr>
          <a:xfrm>
            <a:off x="9272016" y="4023360"/>
            <a:ext cx="2176272" cy="777240"/>
          </a:xfrm>
          <a:prstGeom prst="rect">
            <a:avLst/>
          </a:prstGeom>
          <a:noFill/>
          <a:ln/>
        </p:spPr>
        <p:txBody>
          <a:bodyPr wrap="square" lIns="0" tIns="0" rIns="0" bIns="0" rtlCol="0" anchor="t"/>
          <a:lstStyle/>
          <a:p>
            <a:pPr marL="0" indent="0">
              <a:buNone/>
            </a:pPr>
            <a:r>
              <a:rPr lang="en-US" sz="1600" b="1" dirty="0">
                <a:solidFill>
                  <a:schemeClr val="tx1"/>
                </a:solidFill>
              </a:rPr>
              <a:t>What's new in EPCIS 2.1</a:t>
            </a:r>
            <a:endParaRPr lang="en-US" sz="1600" dirty="0"/>
          </a:p>
        </p:txBody>
      </p:sp>
      <p:sp>
        <p:nvSpPr>
          <p:cNvPr id="4" name="Slide Number Placeholder 0"/>
          <p:cNvSpPr>
            <a:spLocks noGrp="1"/>
          </p:cNvSpPr>
          <p:nvPr>
            <p:ph type="sldNum" sz="quarter" idx="4294967295"/>
          </p:nvPr>
        </p:nvSpPr>
        <p:spPr>
          <a:xfrm>
            <a:off x="11183112" y="384048"/>
            <a:ext cx="45720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822960"/>
            <a:ext cx="8229600" cy="91440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Thanks for Watching</a:t>
            </a:r>
            <a:endParaRPr lang="en-US" sz="4400" dirty="0"/>
          </a:p>
        </p:txBody>
      </p:sp>
      <p:sp>
        <p:nvSpPr>
          <p:cNvPr id="3" name="Text 1"/>
          <p:cNvSpPr txBox="1"/>
          <p:nvPr/>
        </p:nvSpPr>
        <p:spPr>
          <a:xfrm>
            <a:off x="731520" y="1737360"/>
            <a:ext cx="7315200" cy="457200"/>
          </a:xfrm>
          <a:prstGeom prst="rect">
            <a:avLst/>
          </a:prstGeom>
          <a:noFill/>
          <a:ln/>
        </p:spPr>
        <p:txBody>
          <a:bodyPr wrap="square" lIns="0" tIns="0" rIns="0" bIns="0" rtlCol="0" anchor="ctr"/>
          <a:lstStyle/>
          <a:p>
            <a:pPr marL="0" indent="0">
              <a:buNone/>
            </a:pPr>
            <a:r>
              <a:rPr lang="en-US" sz="2000" dirty="0">
                <a:solidFill>
                  <a:schemeClr val="accent6"/>
                </a:solidFill>
              </a:rPr>
              <a:t>Try the tools, follow the series, and get in touch</a:t>
            </a:r>
            <a:endParaRPr lang="en-US" sz="2000" dirty="0"/>
          </a:p>
        </p:txBody>
      </p:sp>
      <p:sp>
        <p:nvSpPr>
          <p:cNvPr id="4" name="Shape 2"/>
          <p:cNvSpPr/>
          <p:nvPr/>
        </p:nvSpPr>
        <p:spPr>
          <a:xfrm>
            <a:off x="731520" y="2606040"/>
            <a:ext cx="502920" cy="502920"/>
          </a:xfrm>
          <a:prstGeom prst="ellipse">
            <a:avLst/>
          </a:prstGeom>
          <a:solidFill>
            <a:srgbClr val="2B6AA6"/>
          </a:solidFill>
          <a:ln/>
        </p:spPr>
      </p:sp>
      <p:pic>
        <p:nvPicPr>
          <p:cNvPr id="5" name="Image 0" descr="preencoded.png"/>
          <p:cNvPicPr>
            <a:picLocks noChangeAspect="1"/>
          </p:cNvPicPr>
          <p:nvPr/>
        </p:nvPicPr>
        <p:blipFill>
          <a:blip r:embed="rId3"/>
          <a:stretch>
            <a:fillRect/>
          </a:stretch>
        </p:blipFill>
        <p:spPr>
          <a:xfrm>
            <a:off x="862279" y="2736799"/>
            <a:ext cx="241402" cy="241402"/>
          </a:xfrm>
          <a:prstGeom prst="rect">
            <a:avLst/>
          </a:prstGeom>
        </p:spPr>
      </p:pic>
      <p:sp>
        <p:nvSpPr>
          <p:cNvPr id="6" name="Text 3"/>
          <p:cNvSpPr txBox="1"/>
          <p:nvPr/>
        </p:nvSpPr>
        <p:spPr>
          <a:xfrm>
            <a:off x="1463040" y="26060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Try the tools</a:t>
            </a:r>
            <a:endParaRPr lang="en-US" sz="1700" dirty="0"/>
          </a:p>
        </p:txBody>
      </p:sp>
      <p:sp>
        <p:nvSpPr>
          <p:cNvPr id="7" name="Text 4"/>
          <p:cNvSpPr txBox="1"/>
          <p:nvPr/>
        </p:nvSpPr>
        <p:spPr>
          <a:xfrm>
            <a:off x="3566160" y="26060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tools.openepcis.io</a:t>
            </a:r>
            <a:endParaRPr lang="en-US" sz="1700" dirty="0"/>
          </a:p>
        </p:txBody>
      </p:sp>
      <p:sp>
        <p:nvSpPr>
          <p:cNvPr id="8" name="Link tools.openepcis.io">
            <a:hlinkClick r:id="rId4" tooltip="https://tools.openepcis.io/ui/"/>
          </p:cNvPr>
          <p:cNvSpPr/>
          <p:nvPr/>
        </p:nvSpPr>
        <p:spPr>
          <a:xfrm>
            <a:off x="3566160" y="2606040"/>
            <a:ext cx="2926080" cy="502920"/>
          </a:xfrm>
          <a:prstGeom prst="rect">
            <a:avLst/>
          </a:prstGeom>
          <a:solidFill>
            <a:schemeClr val="accent4">
              <a:alpha val="0"/>
            </a:schemeClr>
          </a:solidFill>
          <a:ln/>
        </p:spPr>
      </p:sp>
      <p:sp>
        <p:nvSpPr>
          <p:cNvPr id="9" name="Shape 6"/>
          <p:cNvSpPr/>
          <p:nvPr/>
        </p:nvSpPr>
        <p:spPr>
          <a:xfrm>
            <a:off x="731520" y="3291840"/>
            <a:ext cx="502920" cy="502920"/>
          </a:xfrm>
          <a:prstGeom prst="ellipse">
            <a:avLst/>
          </a:prstGeom>
          <a:solidFill>
            <a:srgbClr val="2B6AA6"/>
          </a:solidFill>
          <a:ln/>
        </p:spPr>
      </p:sp>
      <p:pic>
        <p:nvPicPr>
          <p:cNvPr id="10" name="Image 1" descr="preencoded.png"/>
          <p:cNvPicPr>
            <a:picLocks noChangeAspect="1"/>
          </p:cNvPicPr>
          <p:nvPr/>
        </p:nvPicPr>
        <p:blipFill>
          <a:blip r:embed="rId5"/>
          <a:stretch>
            <a:fillRect/>
          </a:stretch>
        </p:blipFill>
        <p:spPr>
          <a:xfrm>
            <a:off x="862279" y="3422599"/>
            <a:ext cx="241402" cy="241402"/>
          </a:xfrm>
          <a:prstGeom prst="rect">
            <a:avLst/>
          </a:prstGeom>
        </p:spPr>
      </p:pic>
      <p:sp>
        <p:nvSpPr>
          <p:cNvPr id="11" name="Text 7"/>
          <p:cNvSpPr txBox="1"/>
          <p:nvPr/>
        </p:nvSpPr>
        <p:spPr>
          <a:xfrm>
            <a:off x="1463040" y="32918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GitHub projects</a:t>
            </a:r>
            <a:endParaRPr lang="en-US" sz="1700" dirty="0"/>
          </a:p>
        </p:txBody>
      </p:sp>
      <p:sp>
        <p:nvSpPr>
          <p:cNvPr id="12" name="Text 8"/>
          <p:cNvSpPr txBox="1"/>
          <p:nvPr/>
        </p:nvSpPr>
        <p:spPr>
          <a:xfrm>
            <a:off x="3566160" y="32918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github.com/openepcis</a:t>
            </a:r>
            <a:endParaRPr lang="en-US" sz="1700" dirty="0"/>
          </a:p>
        </p:txBody>
      </p:sp>
      <p:sp>
        <p:nvSpPr>
          <p:cNvPr id="13" name="Link github.com/openepcis">
            <a:hlinkClick r:id="rId6" tooltip="https://github.com/openepcis"/>
          </p:cNvPr>
          <p:cNvSpPr/>
          <p:nvPr/>
        </p:nvSpPr>
        <p:spPr>
          <a:xfrm>
            <a:off x="3566160" y="3291840"/>
            <a:ext cx="2926080" cy="502920"/>
          </a:xfrm>
          <a:prstGeom prst="rect">
            <a:avLst/>
          </a:prstGeom>
          <a:solidFill>
            <a:schemeClr val="accent4">
              <a:alpha val="0"/>
            </a:schemeClr>
          </a:solidFill>
          <a:ln/>
        </p:spPr>
      </p:sp>
      <p:sp>
        <p:nvSpPr>
          <p:cNvPr id="14" name="Shape 10"/>
          <p:cNvSpPr/>
          <p:nvPr/>
        </p:nvSpPr>
        <p:spPr>
          <a:xfrm>
            <a:off x="731520" y="3977640"/>
            <a:ext cx="502920" cy="502920"/>
          </a:xfrm>
          <a:prstGeom prst="ellipse">
            <a:avLst/>
          </a:prstGeom>
          <a:solidFill>
            <a:srgbClr val="2B6AA6"/>
          </a:solidFill>
          <a:ln/>
        </p:spPr>
      </p:sp>
      <p:pic>
        <p:nvPicPr>
          <p:cNvPr id="15" name="Image 2" descr="preencoded.png"/>
          <p:cNvPicPr>
            <a:picLocks noChangeAspect="1"/>
          </p:cNvPicPr>
          <p:nvPr/>
        </p:nvPicPr>
        <p:blipFill>
          <a:blip r:embed="rId7"/>
          <a:stretch>
            <a:fillRect/>
          </a:stretch>
        </p:blipFill>
        <p:spPr>
          <a:xfrm>
            <a:off x="862279" y="4108399"/>
            <a:ext cx="241402" cy="241402"/>
          </a:xfrm>
          <a:prstGeom prst="rect">
            <a:avLst/>
          </a:prstGeom>
        </p:spPr>
      </p:pic>
      <p:sp>
        <p:nvSpPr>
          <p:cNvPr id="16" name="Text 11"/>
          <p:cNvSpPr txBox="1"/>
          <p:nvPr/>
        </p:nvSpPr>
        <p:spPr>
          <a:xfrm>
            <a:off x="1463040" y="39776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Follow us</a:t>
            </a:r>
            <a:endParaRPr lang="en-US" sz="1700" dirty="0"/>
          </a:p>
        </p:txBody>
      </p:sp>
      <p:sp>
        <p:nvSpPr>
          <p:cNvPr id="17" name="Text 12"/>
          <p:cNvSpPr txBox="1"/>
          <p:nvPr/>
        </p:nvSpPr>
        <p:spPr>
          <a:xfrm>
            <a:off x="3566160" y="39776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linkedin.com/company/benelog</a:t>
            </a:r>
            <a:endParaRPr lang="en-US" sz="1700" dirty="0"/>
          </a:p>
        </p:txBody>
      </p:sp>
      <p:sp>
        <p:nvSpPr>
          <p:cNvPr id="18" name="Link linkedin.com/company/benelog">
            <a:hlinkClick r:id="rId8" tooltip="https://www.linkedin.com/company/benelog"/>
          </p:cNvPr>
          <p:cNvSpPr/>
          <p:nvPr/>
        </p:nvSpPr>
        <p:spPr>
          <a:xfrm>
            <a:off x="3566160" y="3977640"/>
            <a:ext cx="4114800" cy="502920"/>
          </a:xfrm>
          <a:prstGeom prst="rect">
            <a:avLst/>
          </a:prstGeom>
          <a:solidFill>
            <a:schemeClr val="accent4">
              <a:alpha val="0"/>
            </a:schemeClr>
          </a:solidFill>
          <a:ln/>
        </p:spPr>
      </p:sp>
      <p:sp>
        <p:nvSpPr>
          <p:cNvPr id="19" name="Shape 14"/>
          <p:cNvSpPr/>
          <p:nvPr/>
        </p:nvSpPr>
        <p:spPr>
          <a:xfrm>
            <a:off x="731520" y="4663440"/>
            <a:ext cx="502920" cy="502920"/>
          </a:xfrm>
          <a:prstGeom prst="ellipse">
            <a:avLst/>
          </a:prstGeom>
          <a:solidFill>
            <a:srgbClr val="2B6AA6"/>
          </a:solidFill>
          <a:ln/>
        </p:spPr>
      </p:sp>
      <p:pic>
        <p:nvPicPr>
          <p:cNvPr id="20" name="Image 3" descr="preencoded.png"/>
          <p:cNvPicPr>
            <a:picLocks noChangeAspect="1"/>
          </p:cNvPicPr>
          <p:nvPr/>
        </p:nvPicPr>
        <p:blipFill>
          <a:blip r:embed="rId9"/>
          <a:stretch>
            <a:fillRect/>
          </a:stretch>
        </p:blipFill>
        <p:spPr>
          <a:xfrm>
            <a:off x="862279" y="4794199"/>
            <a:ext cx="241402" cy="241402"/>
          </a:xfrm>
          <a:prstGeom prst="rect">
            <a:avLst/>
          </a:prstGeom>
        </p:spPr>
      </p:pic>
      <p:sp>
        <p:nvSpPr>
          <p:cNvPr id="21" name="Text 15"/>
          <p:cNvSpPr txBox="1"/>
          <p:nvPr/>
        </p:nvSpPr>
        <p:spPr>
          <a:xfrm>
            <a:off x="1463040" y="46634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Learn more</a:t>
            </a:r>
            <a:endParaRPr lang="en-US" sz="1700" dirty="0"/>
          </a:p>
        </p:txBody>
      </p:sp>
      <p:sp>
        <p:nvSpPr>
          <p:cNvPr id="22" name="Text 16"/>
          <p:cNvSpPr txBox="1"/>
          <p:nvPr/>
        </p:nvSpPr>
        <p:spPr>
          <a:xfrm>
            <a:off x="3566160" y="46634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openepcis.io</a:t>
            </a:r>
            <a:endParaRPr lang="en-US" sz="1700" dirty="0"/>
          </a:p>
        </p:txBody>
      </p:sp>
      <p:sp>
        <p:nvSpPr>
          <p:cNvPr id="23" name="Link openepcis.io">
            <a:hlinkClick r:id="rId10" tooltip="https://openepcis.io"/>
          </p:cNvPr>
          <p:cNvSpPr/>
          <p:nvPr/>
        </p:nvSpPr>
        <p:spPr>
          <a:xfrm>
            <a:off x="3566160" y="4663440"/>
            <a:ext cx="2926080" cy="502920"/>
          </a:xfrm>
          <a:prstGeom prst="rect">
            <a:avLst/>
          </a:prstGeom>
          <a:solidFill>
            <a:schemeClr val="accent4">
              <a:alpha val="0"/>
            </a:schemeClr>
          </a:solidFill>
          <a:ln/>
        </p:spPr>
      </p:sp>
      <p:sp>
        <p:nvSpPr>
          <p:cNvPr id="24" name="Shape 18"/>
          <p:cNvSpPr/>
          <p:nvPr/>
        </p:nvSpPr>
        <p:spPr>
          <a:xfrm>
            <a:off x="731520" y="5349240"/>
            <a:ext cx="502920" cy="502920"/>
          </a:xfrm>
          <a:prstGeom prst="ellipse">
            <a:avLst/>
          </a:prstGeom>
          <a:solidFill>
            <a:srgbClr val="2B6AA6"/>
          </a:solidFill>
          <a:ln/>
        </p:spPr>
      </p:sp>
      <p:pic>
        <p:nvPicPr>
          <p:cNvPr id="25" name="Image 4" descr="preencoded.png"/>
          <p:cNvPicPr>
            <a:picLocks noChangeAspect="1"/>
          </p:cNvPicPr>
          <p:nvPr/>
        </p:nvPicPr>
        <p:blipFill>
          <a:blip r:embed="rId11"/>
          <a:stretch>
            <a:fillRect/>
          </a:stretch>
        </p:blipFill>
        <p:spPr>
          <a:xfrm>
            <a:off x="862279" y="5479999"/>
            <a:ext cx="241402" cy="241402"/>
          </a:xfrm>
          <a:prstGeom prst="rect">
            <a:avLst/>
          </a:prstGeom>
        </p:spPr>
      </p:pic>
      <p:sp>
        <p:nvSpPr>
          <p:cNvPr id="26" name="Text 19"/>
          <p:cNvSpPr txBox="1"/>
          <p:nvPr/>
        </p:nvSpPr>
        <p:spPr>
          <a:xfrm>
            <a:off x="1463040" y="5349240"/>
            <a:ext cx="2103120" cy="502920"/>
          </a:xfrm>
          <a:prstGeom prst="rect">
            <a:avLst/>
          </a:prstGeom>
          <a:noFill/>
          <a:ln/>
        </p:spPr>
        <p:txBody>
          <a:bodyPr wrap="square" lIns="0" tIns="0" rIns="0" bIns="0" rtlCol="0" anchor="ctr"/>
          <a:lstStyle/>
          <a:p>
            <a:pPr marL="0" indent="0">
              <a:buNone/>
            </a:pPr>
            <a:r>
              <a:rPr lang="en-US" sz="1700" dirty="0">
                <a:solidFill>
                  <a:schemeClr val="accent6"/>
                </a:solidFill>
              </a:rPr>
              <a:t>Work with us</a:t>
            </a:r>
            <a:endParaRPr lang="en-US" sz="1700" dirty="0"/>
          </a:p>
        </p:txBody>
      </p:sp>
      <p:sp>
        <p:nvSpPr>
          <p:cNvPr id="27" name="Text 20"/>
          <p:cNvSpPr txBox="1"/>
          <p:nvPr/>
        </p:nvSpPr>
        <p:spPr>
          <a:xfrm>
            <a:off x="3566160" y="5349240"/>
            <a:ext cx="4114800" cy="502920"/>
          </a:xfrm>
          <a:prstGeom prst="rect">
            <a:avLst/>
          </a:prstGeom>
          <a:noFill/>
          <a:ln/>
        </p:spPr>
        <p:txBody>
          <a:bodyPr wrap="square" lIns="0" tIns="0" rIns="0" bIns="0" rtlCol="0" anchor="ctr"/>
          <a:lstStyle/>
          <a:p>
            <a:pPr marL="0" indent="0">
              <a:buNone/>
            </a:pPr>
            <a:r>
              <a:rPr lang="en-US" sz="1700" b="1" dirty="0">
                <a:solidFill>
                  <a:schemeClr val="bg1"/>
                </a:solidFill>
              </a:rPr>
              <a:t>benelog.com</a:t>
            </a:r>
            <a:endParaRPr lang="en-US" sz="1700" dirty="0"/>
          </a:p>
        </p:txBody>
      </p:sp>
      <p:sp>
        <p:nvSpPr>
          <p:cNvPr id="28" name="Link benelog.com">
            <a:hlinkClick r:id="rId12" tooltip="https://benelog.com"/>
          </p:cNvPr>
          <p:cNvSpPr/>
          <p:nvPr/>
        </p:nvSpPr>
        <p:spPr>
          <a:xfrm>
            <a:off x="3566160" y="5349240"/>
            <a:ext cx="2926080" cy="502920"/>
          </a:xfrm>
          <a:prstGeom prst="rect">
            <a:avLst/>
          </a:prstGeom>
          <a:solidFill>
            <a:schemeClr val="accent4">
              <a:alpha val="0"/>
            </a:schemeClr>
          </a:solidFill>
          <a:ln/>
        </p:spPr>
      </p:sp>
      <p:sp>
        <p:nvSpPr>
          <p:cNvPr id="29" name="Text 22"/>
          <p:cNvSpPr txBox="1"/>
          <p:nvPr/>
        </p:nvSpPr>
        <p:spPr>
          <a:xfrm>
            <a:off x="731520" y="6035040"/>
            <a:ext cx="7315200" cy="365760"/>
          </a:xfrm>
          <a:prstGeom prst="rect">
            <a:avLst/>
          </a:prstGeom>
          <a:noFill/>
          <a:ln/>
        </p:spPr>
        <p:txBody>
          <a:bodyPr wrap="square" lIns="0" tIns="0" rIns="0" bIns="0" rtlCol="0" anchor="ctr"/>
          <a:lstStyle/>
          <a:p>
            <a:pPr marL="0" indent="0">
              <a:buNone/>
            </a:pPr>
            <a:r>
              <a:rPr lang="en-US" sz="1500" i="1" dirty="0">
                <a:solidFill>
                  <a:srgbClr val="9DB9E8"/>
                </a:solidFill>
              </a:rPr>
              <a:t>Questions or topic ideas? Leave a comment below.</a:t>
            </a:r>
            <a:endParaRPr lang="en-US" sz="1500" dirty="0"/>
          </a:p>
        </p:txBody>
      </p:sp>
      <p:pic>
        <p:nvPicPr>
          <p:cNvPr id="30" name="Image 5" descr="/private/tmp/claude-502/-Users-aravinda-baligab-Downloads-EPCIS-Context-Issue/2683edc8-9c8b-4839-95e0-e04f849e6f42/scratchpad/deck/img/openepcis-logo-dark.png"/>
          <p:cNvPicPr>
            <a:picLocks noChangeAspect="1"/>
          </p:cNvPicPr>
          <p:nvPr/>
        </p:nvPicPr>
        <p:blipFill>
          <a:blip r:embed="rId13"/>
          <a:stretch>
            <a:fillRect/>
          </a:stretch>
        </p:blipFill>
        <p:spPr>
          <a:xfrm>
            <a:off x="8229600" y="5760720"/>
            <a:ext cx="1399032" cy="594360"/>
          </a:xfrm>
          <a:prstGeom prst="rect">
            <a:avLst/>
          </a:prstGeom>
        </p:spPr>
      </p:pic>
      <p:pic>
        <p:nvPicPr>
          <p:cNvPr id="31" name="Image 6" descr="/private/tmp/claude-502/-Users-aravinda-baligab-Downloads-EPCIS-Context-Issue/2683edc8-9c8b-4839-95e0-e04f849e6f42/scratchpad/deck/img/benelog-logo-dark.png"/>
          <p:cNvPicPr>
            <a:picLocks noChangeAspect="1"/>
          </p:cNvPicPr>
          <p:nvPr/>
        </p:nvPicPr>
        <p:blipFill>
          <a:blip r:embed="rId14"/>
          <a:stretch>
            <a:fillRect/>
          </a:stretch>
        </p:blipFill>
        <p:spPr>
          <a:xfrm>
            <a:off x="10012680" y="5951487"/>
            <a:ext cx="1563624" cy="320040"/>
          </a:xfrm>
          <a:prstGeom prst="rect">
            <a:avLst/>
          </a:prstGeom>
        </p:spPr>
      </p:pic>
    </p:spTree>
  </p:cSld>
  <p:clrMapOvr>
    <a:masterClrMapping/>
  </p:clrMapOvr>
</p:sld>
</file>

<file path=ppt/theme/theme1.xml><?xml version="1.0" encoding="utf-8"?>
<a:theme xmlns:a="http://schemas.openxmlformats.org/drawingml/2006/main" name="OpenEPCIS Series">
  <a:themeElements>
    <a:clrScheme name="OpenEPCIS Series">
      <a:dk1>
        <a:srgbClr val="1B2430"/>
      </a:dk1>
      <a:lt1>
        <a:srgbClr val="FFFFFF"/>
      </a:lt1>
      <a:dk2>
        <a:srgbClr val="0B4A86"/>
      </a:dk2>
      <a:lt2>
        <a:srgbClr val="EEF3F8"/>
      </a:lt2>
      <a:accent1>
        <a:srgbClr val="0B4A86"/>
      </a:accent1>
      <a:accent2>
        <a:srgbClr val="2B6AA6"/>
      </a:accent2>
      <a:accent3>
        <a:srgbClr val="A60A2B"/>
      </a:accent3>
      <a:accent4>
        <a:srgbClr val="0E1A2B"/>
      </a:accent4>
      <a:accent5>
        <a:srgbClr val="6B7785"/>
      </a:accent5>
      <a:accent6>
        <a:srgbClr val="C9D6E3"/>
      </a:accent6>
      <a:hlink>
        <a:srgbClr val="2B6AA6"/>
      </a:hlink>
      <a:folHlink>
        <a:srgbClr val="2B6AA6"/>
      </a:folHlink>
    </a:clrScheme>
    <a:fontScheme name="OpenEPCIS Seri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3487</Words>
  <Application>Microsoft Macintosh PowerPoint</Application>
  <PresentationFormat>Widescreen</PresentationFormat>
  <Paragraphs>325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OpenEPCIS Series</vt:lpstr>
      <vt:lpstr>PowerPoint Presentation</vt:lpstr>
      <vt:lpstr>Agenda</vt:lpstr>
      <vt:lpstr>Which item, location or pallet, exactly?</vt:lpstr>
      <vt:lpstr>Four GS1 Keys You Will Meet in EPCIS</vt:lpstr>
      <vt:lpstr>Inside a GTIN-14</vt:lpstr>
      <vt:lpstr>Product, Batch or Single Item?</vt:lpstr>
      <vt:lpstr>One ID, Two Ways to Write It</vt:lpstr>
      <vt:lpstr>Same ID, Different Data Carriers</vt:lpstr>
      <vt:lpstr>One Code, Many Uses</vt:lpstr>
      <vt:lpstr>From Scan to Product Passport</vt:lpstr>
      <vt:lpstr>Where the IDs Go in an Event</vt:lpstr>
      <vt:lpstr>Any Identifier Fits in an Event</vt:lpstr>
      <vt:lpstr>Convert an ID, Then Use It</vt:lpstr>
      <vt:lpstr>Coming Up in the Series</vt:lpstr>
      <vt:lpstr>PowerPoint Presentation</vt:lpstr>
    </vt:vector>
  </TitlesOfParts>
  <Company>benelog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Identifiers and GS1 Digital Link</dc:title>
  <dc:subject>PptxGenJS Presentation</dc:subject>
  <dc:creator>OpenEPCIS</dc:creator>
  <cp:lastModifiedBy>Aravinda Bantwal Baliga</cp:lastModifiedBy>
  <cp:revision>35</cp:revision>
  <dcterms:created xsi:type="dcterms:W3CDTF">2026-10-15T08:18:28Z</dcterms:created>
  <dcterms:modified xsi:type="dcterms:W3CDTF">2026-10-21T10:42:07Z</dcterms:modified>
</cp:coreProperties>
</file>