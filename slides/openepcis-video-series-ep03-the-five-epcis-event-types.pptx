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479"/>
    <p:restoredTop sz="76089"/>
  </p:normalViewPr>
  <p:slideViewPr>
    <p:cSldViewPr snapToGrid="0" snapToObjects="1">
      <p:cViewPr varScale="1">
        <p:scale>
          <a:sx n="121" d="100"/>
          <a:sy n="121" d="100"/>
        </p:scale>
        <p:origin x="1616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8777864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/>
              <a:t>• Welcome back to Episode 3 of the OpenEPCIS series.</a:t>
            </a:r>
            <a:r>
              <a:rPr lang="de-DE" dirty="0"/>
              <a:t> My </a:t>
            </a:r>
            <a:r>
              <a:rPr lang="de-DE" dirty="0" err="1"/>
              <a:t>name</a:t>
            </a:r>
            <a:r>
              <a:rPr lang="de-DE" dirty="0"/>
              <a:t> </a:t>
            </a:r>
            <a:r>
              <a:rPr lang="de-DE" dirty="0" err="1"/>
              <a:t>is</a:t>
            </a:r>
            <a:r>
              <a:rPr lang="de-DE" dirty="0"/>
              <a:t> Aravinda and </a:t>
            </a:r>
            <a:r>
              <a:rPr lang="de-DE" dirty="0" err="1"/>
              <a:t>with</a:t>
            </a:r>
            <a:r>
              <a:rPr lang="de-DE" dirty="0"/>
              <a:t> </a:t>
            </a:r>
            <a:r>
              <a:rPr lang="de-DE" dirty="0" err="1"/>
              <a:t>me</a:t>
            </a:r>
            <a:r>
              <a:rPr lang="de-DE" dirty="0"/>
              <a:t> </a:t>
            </a:r>
            <a:r>
              <a:rPr lang="de-DE" dirty="0" err="1"/>
              <a:t>is</a:t>
            </a:r>
            <a:r>
              <a:rPr lang="de-DE" dirty="0"/>
              <a:t> Sven who </a:t>
            </a:r>
            <a:r>
              <a:rPr lang="de-DE" dirty="0" err="1"/>
              <a:t>is</a:t>
            </a:r>
            <a:r>
              <a:rPr lang="de-DE" dirty="0"/>
              <a:t> </a:t>
            </a:r>
            <a:r>
              <a:rPr lang="de-DE" dirty="0" err="1"/>
              <a:t>head</a:t>
            </a:r>
            <a:r>
              <a:rPr lang="de-DE" dirty="0"/>
              <a:t> of </a:t>
            </a:r>
            <a:r>
              <a:rPr lang="de-DE" dirty="0" err="1"/>
              <a:t>technology</a:t>
            </a:r>
            <a:r>
              <a:rPr lang="de-DE" dirty="0"/>
              <a:t> at benelog and also </a:t>
            </a:r>
            <a:r>
              <a:rPr lang="de-DE" dirty="0" err="1"/>
              <a:t>co</a:t>
            </a:r>
            <a:r>
              <a:rPr lang="de-DE" dirty="0"/>
              <a:t> </a:t>
            </a:r>
            <a:r>
              <a:rPr lang="de-DE" dirty="0" err="1"/>
              <a:t>chair</a:t>
            </a:r>
            <a:r>
              <a:rPr lang="de-DE" dirty="0"/>
              <a:t> of the GSMP </a:t>
            </a:r>
            <a:r>
              <a:rPr lang="de-DE" dirty="0" err="1"/>
              <a:t>group</a:t>
            </a:r>
            <a:r>
              <a:rPr lang="de-DE" dirty="0"/>
              <a:t> </a:t>
            </a:r>
            <a:r>
              <a:rPr lang="de-DE" dirty="0" err="1"/>
              <a:t>which</a:t>
            </a:r>
            <a:r>
              <a:rPr lang="de-DE" dirty="0"/>
              <a:t> </a:t>
            </a:r>
            <a:r>
              <a:rPr lang="de-DE" dirty="0" err="1"/>
              <a:t>maintains</a:t>
            </a:r>
            <a:r>
              <a:rPr lang="de-DE" dirty="0"/>
              <a:t> EPCIS </a:t>
            </a:r>
            <a:r>
              <a:rPr lang="de-DE" dirty="0" err="1"/>
              <a:t>standard</a:t>
            </a:r>
            <a:r>
              <a:rPr lang="de-DE" dirty="0"/>
              <a:t>.</a:t>
            </a:r>
            <a:endParaRPr dirty="0"/>
          </a:p>
          <a:p>
            <a:endParaRPr dirty="0"/>
          </a:p>
          <a:p>
            <a:r>
              <a:rPr dirty="0"/>
              <a:t>• In Episode 1, we learned what an EPCIS event tells us. In Episode 2, we learned how GS1 identifiers tell us exactly which product or pallet an event is about.</a:t>
            </a:r>
          </a:p>
          <a:p>
            <a:endParaRPr dirty="0"/>
          </a:p>
          <a:p>
            <a:r>
              <a:rPr dirty="0"/>
              <a:t>• Today, we answer the next question: how do we describe what happened to that product?</a:t>
            </a:r>
          </a:p>
          <a:p>
            <a:endParaRPr dirty="0"/>
          </a:p>
          <a:p>
            <a:r>
              <a:rPr dirty="0"/>
              <a:t>• We will follow one simple journey: raw materials become a </a:t>
            </a:r>
            <a:r>
              <a:rPr lang="de-DE" dirty="0" err="1"/>
              <a:t>product</a:t>
            </a:r>
            <a:r>
              <a:rPr dirty="0"/>
              <a:t>, the</a:t>
            </a:r>
            <a:r>
              <a:rPr lang="de-DE" dirty="0"/>
              <a:t> </a:t>
            </a:r>
            <a:r>
              <a:rPr lang="de-DE" dirty="0" err="1"/>
              <a:t>product</a:t>
            </a:r>
            <a:r>
              <a:rPr lang="de-DE" dirty="0"/>
              <a:t> </a:t>
            </a:r>
            <a:r>
              <a:rPr lang="de-DE" dirty="0" err="1"/>
              <a:t>is</a:t>
            </a:r>
            <a:r>
              <a:rPr lang="de-DE" dirty="0"/>
              <a:t> </a:t>
            </a:r>
            <a:r>
              <a:rPr lang="de-DE" dirty="0" err="1"/>
              <a:t>packed</a:t>
            </a:r>
            <a:r>
              <a:rPr lang="de-DE" dirty="0"/>
              <a:t> </a:t>
            </a:r>
            <a:r>
              <a:rPr lang="de-DE" dirty="0" err="1"/>
              <a:t>into</a:t>
            </a:r>
            <a:r>
              <a:rPr lang="de-DE" dirty="0"/>
              <a:t> </a:t>
            </a:r>
            <a:r>
              <a:rPr dirty="0"/>
              <a:t>boxes </a:t>
            </a:r>
            <a:r>
              <a:rPr lang="de-DE" dirty="0"/>
              <a:t>and </a:t>
            </a:r>
            <a:r>
              <a:rPr lang="de-DE" dirty="0" err="1"/>
              <a:t>boxes</a:t>
            </a:r>
            <a:r>
              <a:rPr lang="de-DE" dirty="0"/>
              <a:t> </a:t>
            </a:r>
            <a:r>
              <a:rPr dirty="0"/>
              <a:t>go onto a pallet, a logger is attached, the pallet is linked to an order, and the pallet is shipped.</a:t>
            </a:r>
          </a:p>
          <a:p>
            <a:endParaRPr dirty="0"/>
          </a:p>
          <a:p>
            <a:r>
              <a:rPr dirty="0"/>
              <a:t>• → Bridge: Let's look at today's plan.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/>
              <a:t>• First, we'll quickly recap what every EPCIS event has in common.</a:t>
            </a:r>
          </a:p>
          <a:p>
            <a:endParaRPr dirty="0"/>
          </a:p>
          <a:p>
            <a:r>
              <a:rPr dirty="0"/>
              <a:t>• Then we'll compare the five event types side by side.</a:t>
            </a:r>
          </a:p>
          <a:p>
            <a:endParaRPr dirty="0"/>
          </a:p>
          <a:p>
            <a:r>
              <a:rPr dirty="0"/>
              <a:t>• Next, we'll follow one product through a real-life style example.</a:t>
            </a:r>
          </a:p>
          <a:p>
            <a:endParaRPr dirty="0"/>
          </a:p>
          <a:p>
            <a:r>
              <a:rPr dirty="0"/>
              <a:t>• Finally, we'll build the events in the OpenEPCIS tools.</a:t>
            </a:r>
            <a:endParaRPr lang="de-DE" dirty="0"/>
          </a:p>
          <a:p>
            <a:endParaRPr lang="de-DE" dirty="0"/>
          </a:p>
          <a:p>
            <a:r>
              <a:rPr lang="en-GR" dirty="0"/>
              <a:t>• </a:t>
            </a:r>
            <a:r>
              <a:rPr lang="de-DE" dirty="0"/>
              <a:t>At the end, </a:t>
            </a:r>
            <a:r>
              <a:rPr lang="de-DE" dirty="0" err="1"/>
              <a:t>we</a:t>
            </a:r>
            <a:r>
              <a:rPr lang="de-DE" dirty="0"/>
              <a:t> will also </a:t>
            </a:r>
            <a:r>
              <a:rPr lang="de-DE" dirty="0" err="1"/>
              <a:t>summarise</a:t>
            </a:r>
            <a:r>
              <a:rPr lang="de-DE" dirty="0"/>
              <a:t> the </a:t>
            </a:r>
            <a:r>
              <a:rPr lang="de-DE" dirty="0" err="1"/>
              <a:t>whole</a:t>
            </a:r>
            <a:r>
              <a:rPr lang="de-DE" dirty="0"/>
              <a:t> </a:t>
            </a:r>
            <a:r>
              <a:rPr lang="de-DE" dirty="0" err="1"/>
              <a:t>presentation</a:t>
            </a:r>
            <a:r>
              <a:rPr lang="de-DE" dirty="0"/>
              <a:t> and </a:t>
            </a:r>
            <a:r>
              <a:rPr lang="de-DE" dirty="0" err="1"/>
              <a:t>key</a:t>
            </a:r>
            <a:r>
              <a:rPr lang="de-DE" dirty="0"/>
              <a:t> </a:t>
            </a:r>
            <a:r>
              <a:rPr lang="de-DE" dirty="0" err="1"/>
              <a:t>take</a:t>
            </a:r>
            <a:r>
              <a:rPr lang="de-DE" dirty="0"/>
              <a:t> </a:t>
            </a:r>
            <a:r>
              <a:rPr lang="de-DE" dirty="0" err="1"/>
              <a:t>away</a:t>
            </a:r>
            <a:r>
              <a:rPr lang="de-DE" dirty="0"/>
              <a:t> </a:t>
            </a:r>
            <a:r>
              <a:rPr lang="de-DE" dirty="0" err="1"/>
              <a:t>from</a:t>
            </a:r>
            <a:r>
              <a:rPr lang="de-DE" dirty="0"/>
              <a:t> </a:t>
            </a:r>
            <a:r>
              <a:rPr lang="de-DE" dirty="0" err="1"/>
              <a:t>this</a:t>
            </a:r>
            <a:r>
              <a:rPr lang="de-DE" dirty="0"/>
              <a:t> </a:t>
            </a:r>
            <a:r>
              <a:rPr lang="de-DE" dirty="0" err="1"/>
              <a:t>video</a:t>
            </a:r>
            <a:r>
              <a:rPr lang="de-DE" dirty="0"/>
              <a:t>.</a:t>
            </a:r>
          </a:p>
          <a:p>
            <a:endParaRPr dirty="0"/>
          </a:p>
          <a:p>
            <a:r>
              <a:rPr dirty="0"/>
              <a:t>• The goal is not just to </a:t>
            </a:r>
            <a:r>
              <a:rPr dirty="0" err="1"/>
              <a:t>memorise</a:t>
            </a:r>
            <a:r>
              <a:rPr dirty="0"/>
              <a:t> five names</a:t>
            </a:r>
            <a:r>
              <a:rPr lang="de-DE" dirty="0"/>
              <a:t> </a:t>
            </a:r>
            <a:r>
              <a:rPr lang="de-DE" dirty="0" err="1"/>
              <a:t>rather</a:t>
            </a:r>
            <a:r>
              <a:rPr lang="de-DE" dirty="0"/>
              <a:t> to </a:t>
            </a:r>
            <a:r>
              <a:rPr lang="en-GB" dirty="0"/>
              <a:t>help you pick the right event type for the fact you want to record</a:t>
            </a:r>
            <a:br>
              <a:rPr lang="de-DE" dirty="0"/>
            </a:br>
            <a:br>
              <a:rPr lang="de-DE" dirty="0"/>
            </a:br>
            <a:endParaRPr dirty="0"/>
          </a:p>
          <a:p>
            <a:endParaRPr dirty="0"/>
          </a:p>
          <a:p>
            <a:r>
              <a:rPr dirty="0"/>
              <a:t>• → Bridge: Let's start with the shared event structure</a:t>
            </a:r>
            <a:r>
              <a:rPr lang="de-DE" dirty="0"/>
              <a:t> </a:t>
            </a:r>
            <a:r>
              <a:rPr lang="de-DE" dirty="0" err="1"/>
              <a:t>that</a:t>
            </a:r>
            <a:r>
              <a:rPr lang="de-DE" dirty="0"/>
              <a:t> </a:t>
            </a:r>
            <a:r>
              <a:rPr lang="de-DE" dirty="0" err="1"/>
              <a:t>is</a:t>
            </a:r>
            <a:r>
              <a:rPr lang="de-DE" dirty="0"/>
              <a:t> </a:t>
            </a:r>
            <a:r>
              <a:rPr lang="de-DE" dirty="0" err="1"/>
              <a:t>common</a:t>
            </a:r>
            <a:r>
              <a:rPr lang="de-DE" dirty="0"/>
              <a:t> for all 5 EPCIS </a:t>
            </a:r>
            <a:r>
              <a:rPr lang="de-DE" dirty="0" err="1"/>
              <a:t>event</a:t>
            </a:r>
            <a:r>
              <a:rPr lang="de-DE" dirty="0"/>
              <a:t> </a:t>
            </a:r>
            <a:r>
              <a:rPr lang="de-DE" dirty="0" err="1"/>
              <a:t>types</a:t>
            </a:r>
            <a:r>
              <a:rPr lang="de-DE" dirty="0"/>
              <a:t>.</a:t>
            </a:r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• Quick recap: every EPCIS event answers five questions: What, When, Where, Why and How.</a:t>
            </a:r>
            <a:br>
              <a:rPr lang="en-GB" dirty="0"/>
            </a:br>
            <a:endParaRPr dirty="0"/>
          </a:p>
          <a:p>
            <a:r>
              <a:rPr dirty="0"/>
              <a:t>• What: which product, pallet or quantity are we talking about? We identify it with GS1 IDs.</a:t>
            </a:r>
          </a:p>
          <a:p>
            <a:endParaRPr dirty="0"/>
          </a:p>
          <a:p>
            <a:r>
              <a:rPr dirty="0"/>
              <a:t>• When: </a:t>
            </a:r>
            <a:r>
              <a:rPr dirty="0" err="1"/>
              <a:t>eventTime</a:t>
            </a:r>
            <a:r>
              <a:rPr dirty="0"/>
              <a:t> tells us when it happened, with the relevant time-zone offset.</a:t>
            </a:r>
          </a:p>
          <a:p>
            <a:endParaRPr dirty="0"/>
          </a:p>
          <a:p>
            <a:r>
              <a:rPr dirty="0"/>
              <a:t>• Where: </a:t>
            </a:r>
            <a:r>
              <a:rPr dirty="0" err="1"/>
              <a:t>readPoint</a:t>
            </a:r>
            <a:r>
              <a:rPr dirty="0"/>
              <a:t> is the place where the event happened. </a:t>
            </a:r>
            <a:r>
              <a:rPr dirty="0" err="1"/>
              <a:t>bizLocation</a:t>
            </a:r>
            <a:r>
              <a:rPr dirty="0"/>
              <a:t> is the business location where the objects are expected to be afterwards, when known.</a:t>
            </a:r>
          </a:p>
          <a:p>
            <a:endParaRPr dirty="0"/>
          </a:p>
          <a:p>
            <a:r>
              <a:rPr dirty="0"/>
              <a:t>• Why: </a:t>
            </a:r>
            <a:r>
              <a:rPr dirty="0" err="1"/>
              <a:t>bizStep</a:t>
            </a:r>
            <a:r>
              <a:rPr dirty="0"/>
              <a:t> describes the business activity, and disposition describes the resulting business condition. A transaction can also be referenced here.</a:t>
            </a:r>
          </a:p>
          <a:p>
            <a:endParaRPr dirty="0"/>
          </a:p>
          <a:p>
            <a:r>
              <a:rPr dirty="0"/>
              <a:t>• How: optional sensor data can record information such as temperature.</a:t>
            </a:r>
          </a:p>
          <a:p>
            <a:endParaRPr dirty="0"/>
          </a:p>
          <a:p>
            <a:r>
              <a:rPr lang="en-GB" dirty="0"/>
              <a:t>• Every EPCIS event answers these five questions and all five event types use this same frame.</a:t>
            </a:r>
            <a:br>
              <a:rPr lang="en-GB" dirty="0"/>
            </a:br>
            <a:br>
              <a:rPr lang="en-GB" dirty="0"/>
            </a:br>
            <a:r>
              <a:rPr lang="en-GB" dirty="0"/>
              <a:t>• When, Where, Why and How look the same in every type. The difference is mostly in the What</a:t>
            </a:r>
            <a:br>
              <a:rPr lang="en-GB" dirty="0"/>
            </a:br>
            <a:br>
              <a:rPr lang="en-GB" dirty="0"/>
            </a:br>
            <a:br>
              <a:rPr lang="en-GB" dirty="0"/>
            </a:br>
            <a:endParaRPr lang="en-GB" dirty="0"/>
          </a:p>
          <a:p>
            <a:r>
              <a:rPr dirty="0"/>
              <a:t>→ Bridge: So, what are the five event types?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• </a:t>
            </a:r>
            <a:r>
              <a:rPr lang="en-GB" dirty="0" err="1"/>
              <a:t>ObjectEvent</a:t>
            </a:r>
            <a:r>
              <a:rPr lang="en-GB" dirty="0"/>
              <a:t>: something happened to a thing. For example, a pallet is scanned when it arrives at a shop.</a:t>
            </a:r>
          </a:p>
          <a:p>
            <a:endParaRPr lang="en-GB" dirty="0"/>
          </a:p>
          <a:p>
            <a:r>
              <a:rPr lang="en-GB" dirty="0"/>
              <a:t>• </a:t>
            </a:r>
            <a:r>
              <a:rPr lang="en-GB" dirty="0" err="1"/>
              <a:t>AggregationEvent</a:t>
            </a:r>
            <a:r>
              <a:rPr lang="en-GB" dirty="0"/>
              <a:t>: things are packed together. For example, boxes are placed on a pallet. The pallet is the parent, the boxes are the children.</a:t>
            </a:r>
          </a:p>
          <a:p>
            <a:endParaRPr lang="en-GB" dirty="0"/>
          </a:p>
          <a:p>
            <a:r>
              <a:rPr lang="en-GB" dirty="0"/>
              <a:t>• </a:t>
            </a:r>
            <a:r>
              <a:rPr lang="en-GB" dirty="0" err="1"/>
              <a:t>TransactionEvent</a:t>
            </a:r>
            <a:r>
              <a:rPr lang="en-GB" dirty="0"/>
              <a:t>: things are linked to a business document. For example, a pallet is linked to purchase order 4711.</a:t>
            </a:r>
          </a:p>
          <a:p>
            <a:endParaRPr lang="en-GB" dirty="0"/>
          </a:p>
          <a:p>
            <a:r>
              <a:rPr lang="en-GB" dirty="0"/>
              <a:t>• TransformationEvent: inputs turn into something new. Think of baking a cake: you put in flour, eggs, and sugar, and you get a cake out.</a:t>
            </a:r>
          </a:p>
          <a:p>
            <a:endParaRPr lang="en-GB" dirty="0"/>
          </a:p>
          <a:p>
            <a:r>
              <a:rPr lang="en-GB" dirty="0"/>
              <a:t>• </a:t>
            </a:r>
            <a:r>
              <a:rPr lang="en-GB" dirty="0" err="1"/>
              <a:t>AssociationEvent</a:t>
            </a:r>
            <a:r>
              <a:rPr lang="en-GB" dirty="0"/>
              <a:t>: a device is attached to a thing. For example, a temperature sensor is attached onto a pallet. It travels with the pallet, but it is not part of the delivery. New in EPCIS 2.0.</a:t>
            </a:r>
            <a:br>
              <a:rPr lang="en-GB" dirty="0"/>
            </a:br>
            <a:endParaRPr dirty="0"/>
          </a:p>
          <a:p>
            <a:r>
              <a:rPr dirty="0"/>
              <a:t>• Remember: choose the type based on what you are recording—not just the business activity taking place.</a:t>
            </a:r>
            <a:r>
              <a:rPr lang="de-DE" dirty="0"/>
              <a:t> The </a:t>
            </a:r>
            <a:r>
              <a:rPr lang="de-DE" dirty="0" err="1"/>
              <a:t>business</a:t>
            </a:r>
            <a:r>
              <a:rPr lang="de-DE" dirty="0"/>
              <a:t> </a:t>
            </a:r>
            <a:r>
              <a:rPr lang="de-DE" dirty="0" err="1"/>
              <a:t>activity</a:t>
            </a:r>
            <a:r>
              <a:rPr lang="de-DE" dirty="0"/>
              <a:t> </a:t>
            </a:r>
            <a:r>
              <a:rPr lang="de-DE" dirty="0" err="1"/>
              <a:t>itself</a:t>
            </a:r>
            <a:r>
              <a:rPr lang="de-DE" dirty="0"/>
              <a:t> </a:t>
            </a:r>
            <a:r>
              <a:rPr lang="de-DE" dirty="0" err="1"/>
              <a:t>goes</a:t>
            </a:r>
            <a:r>
              <a:rPr lang="de-DE" dirty="0"/>
              <a:t> in </a:t>
            </a:r>
            <a:r>
              <a:rPr lang="de-DE" dirty="0" err="1"/>
              <a:t>bizStep</a:t>
            </a:r>
            <a:r>
              <a:rPr lang="de-DE" dirty="0"/>
              <a:t> </a:t>
            </a:r>
            <a:r>
              <a:rPr lang="de-DE" dirty="0" err="1"/>
              <a:t>attribute</a:t>
            </a:r>
            <a:r>
              <a:rPr lang="de-DE" dirty="0"/>
              <a:t>.</a:t>
            </a:r>
          </a:p>
          <a:p>
            <a:endParaRPr lang="de-DE" dirty="0"/>
          </a:p>
          <a:p>
            <a:r>
              <a:rPr lang="en-GR" dirty="0"/>
              <a:t>• If any of our listeners want to read or understand more about EPCIS event types please refer to Openepcis.io documentation.</a:t>
            </a:r>
            <a:br>
              <a:rPr lang="de-DE" dirty="0"/>
            </a:br>
            <a:endParaRPr dirty="0"/>
          </a:p>
          <a:p>
            <a:endParaRPr dirty="0"/>
          </a:p>
          <a:p>
            <a:r>
              <a:rPr dirty="0"/>
              <a:t>• → Bridge: A list is hard to remember, so let's follow one product through all five.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/>
              <a:t>• Imagine a manufacturer making a product and sending it to a shop.</a:t>
            </a:r>
          </a:p>
          <a:p>
            <a:endParaRPr dirty="0"/>
          </a:p>
          <a:p>
            <a:r>
              <a:rPr dirty="0"/>
              <a:t>• Step 1: raw materials go in and finished products come out. That's a TransformationEvent.</a:t>
            </a:r>
          </a:p>
          <a:p>
            <a:endParaRPr dirty="0"/>
          </a:p>
          <a:p>
            <a:r>
              <a:rPr dirty="0"/>
              <a:t>• Step 2: boxes of products are packed onto a pallet. That's an AggregationEvent: the boxes are now on the pallet.</a:t>
            </a:r>
          </a:p>
          <a:p>
            <a:endParaRPr dirty="0"/>
          </a:p>
          <a:p>
            <a:r>
              <a:rPr dirty="0"/>
              <a:t>• Step 3: a reusable temperature logger is associated with the pallet. That's an </a:t>
            </a:r>
            <a:r>
              <a:rPr dirty="0" err="1"/>
              <a:t>AssociationEvent</a:t>
            </a:r>
            <a:r>
              <a:rPr dirty="0"/>
              <a:t>; the logger is not cargo inside the pallet.</a:t>
            </a:r>
          </a:p>
          <a:p>
            <a:endParaRPr dirty="0"/>
          </a:p>
          <a:p>
            <a:r>
              <a:rPr dirty="0"/>
              <a:t>• Step 4: at the outbound dock, the pallet is linked to purchase order 4711. That's a TransactionEvent.</a:t>
            </a:r>
          </a:p>
          <a:p>
            <a:endParaRPr dirty="0"/>
          </a:p>
          <a:p>
            <a:r>
              <a:rPr dirty="0"/>
              <a:t>• Step 5: the pallet leaves for the shop. That's an ObjectEvent: we record that the pallet was shipped.</a:t>
            </a:r>
          </a:p>
          <a:p>
            <a:endParaRPr dirty="0"/>
          </a:p>
          <a:p>
            <a:r>
              <a:rPr dirty="0"/>
              <a:t>• One journey can contain different kinds of facts, so it can need different event types.</a:t>
            </a:r>
          </a:p>
          <a:p>
            <a:endParaRPr dirty="0"/>
          </a:p>
          <a:p>
            <a:r>
              <a:rPr dirty="0"/>
              <a:t>• → Bridge: Four types have an action field. Let's explain ADD, OBSERVE and DELETE.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• Four EPCIS event types have a mandatory field called action. Only TransformationEvent does not.</a:t>
            </a:r>
          </a:p>
          <a:p>
            <a:endParaRPr lang="en-GB" dirty="0"/>
          </a:p>
          <a:p>
            <a:r>
              <a:rPr lang="en-GB" dirty="0"/>
              <a:t>• The action tells us what the event does to the things or to their link: does something start, is something confirmed, or does something end?</a:t>
            </a:r>
          </a:p>
          <a:p>
            <a:endParaRPr lang="en-GB" dirty="0"/>
          </a:p>
          <a:p>
            <a:r>
              <a:rPr lang="en-GB" dirty="0"/>
              <a:t>• It has only three allowed values: ADD, OBSERVE and DELETE.</a:t>
            </a:r>
          </a:p>
          <a:p>
            <a:endParaRPr lang="en-GB" dirty="0"/>
          </a:p>
          <a:p>
            <a:r>
              <a:rPr lang="en-GB" dirty="0"/>
              <a:t>• ADD: something is created or added. In our story: boxes go onto the pallet, the logger is attached, and the pallet is linked to order 4711.</a:t>
            </a:r>
          </a:p>
          <a:p>
            <a:endParaRPr lang="en-GB" dirty="0"/>
          </a:p>
          <a:p>
            <a:r>
              <a:rPr lang="en-GB" dirty="0"/>
              <a:t>• OBSERVE: we confirm what already exists, and no link starts or ends. For example, a pallet is scanned at receiving, or a container is shipped from the port.</a:t>
            </a:r>
          </a:p>
          <a:p>
            <a:endParaRPr lang="en-GB" dirty="0"/>
          </a:p>
          <a:p>
            <a:r>
              <a:rPr lang="en-GB" dirty="0"/>
              <a:t>• DELETE: something is removed or ended. Boxes come off the pallet, the logger is removed, or the link to the order is cancelled.</a:t>
            </a:r>
            <a:br>
              <a:rPr lang="en-GB" dirty="0"/>
            </a:br>
            <a:endParaRPr lang="en-GB" dirty="0"/>
          </a:p>
          <a:p>
            <a:r>
              <a:rPr lang="en-GB" dirty="0"/>
              <a:t>• Remember: OBSERVE still records something real, like a scan or a shipment. And DELETE does not mean the product is gone. Unpacking a pallet destroys nothing.</a:t>
            </a:r>
          </a:p>
          <a:p>
            <a:endParaRPr lang="en-GB" dirty="0"/>
          </a:p>
          <a:p>
            <a:r>
              <a:rPr lang="en-GB" dirty="0"/>
              <a:t>• TransformationEvent has no action. Its input and output lists already show what was used and what was made.</a:t>
            </a:r>
          </a:p>
          <a:p>
            <a:endParaRPr lang="en-GB" dirty="0"/>
          </a:p>
          <a:p>
            <a:r>
              <a:rPr dirty="0"/>
              <a:t>• → Bridge: Let's look inside that TransformationEvent.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/>
              <a:t>• This is the production step from our story, shown as EPCIS JSON.</a:t>
            </a:r>
          </a:p>
          <a:p>
            <a:endParaRPr dirty="0"/>
          </a:p>
          <a:p>
            <a:r>
              <a:rPr dirty="0"/>
              <a:t>• The inputs are 120 kilograms of raw material A and 30 kilograms of raw material B.</a:t>
            </a:r>
          </a:p>
          <a:p>
            <a:endParaRPr dirty="0"/>
          </a:p>
          <a:p>
            <a:r>
              <a:rPr dirty="0"/>
              <a:t>• The output is 1,500 units of the finished product batch, LOT2026A.</a:t>
            </a:r>
          </a:p>
          <a:p>
            <a:endParaRPr dirty="0"/>
          </a:p>
          <a:p>
            <a:r>
              <a:rPr dirty="0"/>
              <a:t>• KGM means kilograms. Here, the output quantity is a count of pieces.</a:t>
            </a:r>
          </a:p>
          <a:p>
            <a:endParaRPr dirty="0"/>
          </a:p>
          <a:p>
            <a:r>
              <a:rPr dirty="0"/>
              <a:t>• Notice that there is no action field. The input and output lists describe the transformation directly.</a:t>
            </a:r>
          </a:p>
          <a:p>
            <a:endParaRPr dirty="0"/>
          </a:p>
          <a:p>
            <a:r>
              <a:rPr dirty="0"/>
              <a:t>• The </a:t>
            </a:r>
            <a:r>
              <a:rPr dirty="0" err="1"/>
              <a:t>bizStep</a:t>
            </a:r>
            <a:r>
              <a:rPr dirty="0"/>
              <a:t> describes the business activity</a:t>
            </a:r>
            <a:r>
              <a:rPr lang="de-DE" dirty="0"/>
              <a:t> </a:t>
            </a:r>
            <a:r>
              <a:rPr lang="de-DE" dirty="0" err="1"/>
              <a:t>taken</a:t>
            </a:r>
            <a:r>
              <a:rPr lang="de-DE" dirty="0"/>
              <a:t> </a:t>
            </a:r>
            <a:r>
              <a:rPr lang="de-DE" dirty="0" err="1"/>
              <a:t>from</a:t>
            </a:r>
            <a:r>
              <a:rPr lang="de-DE" dirty="0"/>
              <a:t> GS1 CBV </a:t>
            </a:r>
            <a:r>
              <a:rPr lang="de-DE" dirty="0" err="1"/>
              <a:t>standard</a:t>
            </a:r>
            <a:r>
              <a:rPr lang="de-DE" dirty="0"/>
              <a:t>.</a:t>
            </a:r>
            <a:br>
              <a:rPr lang="de-DE" dirty="0"/>
            </a:br>
            <a:endParaRPr dirty="0"/>
          </a:p>
          <a:p>
            <a:endParaRPr dirty="0"/>
          </a:p>
          <a:p>
            <a:r>
              <a:rPr dirty="0"/>
              <a:t>• → Bridge: Two event types can look similar because both describe a parent and children. Let's compare them.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/>
              <a:t>• AggregationEvent and AssociationEvent look alike: both have a parent and children.</a:t>
            </a:r>
          </a:p>
          <a:p>
            <a:endParaRPr dirty="0"/>
          </a:p>
          <a:p>
            <a:r>
              <a:rPr dirty="0"/>
              <a:t>• Remember our story. In step 2, boxes went onto the pallet. In step 3, a temperature logger was attached to the same pallet.</a:t>
            </a:r>
          </a:p>
          <a:p>
            <a:endParaRPr dirty="0"/>
          </a:p>
          <a:p>
            <a:r>
              <a:rPr dirty="0"/>
              <a:t>• Aggregation records the contents: these boxes are on this pallet. It ends when the boxes are unpacked.</a:t>
            </a:r>
          </a:p>
          <a:p>
            <a:endParaRPr dirty="0"/>
          </a:p>
          <a:p>
            <a:r>
              <a:rPr dirty="0"/>
              <a:t>• Association records something that travels with the pallet but is not part of the delivery: this logger is on this pallet. It ends when the logger is removed.</a:t>
            </a:r>
          </a:p>
          <a:p>
            <a:endParaRPr dirty="0"/>
          </a:p>
          <a:p>
            <a:r>
              <a:rPr dirty="0"/>
              <a:t>• The two links are independent. The boxes can be unpacked while the logger stays on the pallet.</a:t>
            </a:r>
          </a:p>
          <a:p>
            <a:endParaRPr dirty="0"/>
          </a:p>
          <a:p>
            <a:r>
              <a:rPr dirty="0"/>
              <a:t>• Quick test: would the customer count it as part of the delivery? Yes: Aggregation. No: Association.</a:t>
            </a:r>
          </a:p>
          <a:p>
            <a:br>
              <a:rPr lang="de-DE" dirty="0"/>
            </a:br>
            <a:endParaRPr dirty="0"/>
          </a:p>
          <a:p>
            <a:r>
              <a:rPr dirty="0"/>
              <a:t>• → Bridge: Let's turn the idea into a simple checklist.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/>
              <a:t>• This slide puts everything into five questions. Ask them from top to bottom. The first yes gives you the event type.</a:t>
            </a:r>
            <a:endParaRPr lang="de-DE" dirty="0"/>
          </a:p>
          <a:p>
            <a:endParaRPr lang="en-GR" dirty="0"/>
          </a:p>
          <a:p>
            <a:r>
              <a:rPr lang="en-GB" dirty="0"/>
              <a:t>• A quick note before we explain: this checklist is our own simple guide, not an official GS1 rule.</a:t>
            </a:r>
          </a:p>
          <a:p>
            <a:endParaRPr lang="en-GB" dirty="0"/>
          </a:p>
          <a:p>
            <a:r>
              <a:rPr lang="en-GB" dirty="0"/>
              <a:t>• It helps you get started. In real projects, the right type depends on what fact you want to record.</a:t>
            </a:r>
            <a:endParaRPr dirty="0"/>
          </a:p>
          <a:p>
            <a:endParaRPr dirty="0"/>
          </a:p>
          <a:p>
            <a:r>
              <a:rPr dirty="0"/>
              <a:t>• Did inputs turn into a new product? TransformationEvent. In our story, step 1: raw materials became the product.</a:t>
            </a:r>
          </a:p>
          <a:p>
            <a:endParaRPr dirty="0"/>
          </a:p>
          <a:p>
            <a:r>
              <a:rPr dirty="0"/>
              <a:t>• Were things packed into or out of a container? </a:t>
            </a:r>
            <a:r>
              <a:rPr dirty="0" err="1"/>
              <a:t>AggregationEvent</a:t>
            </a:r>
            <a:r>
              <a:rPr dirty="0"/>
              <a:t>. Step 2: boxes went onto the pallet.</a:t>
            </a:r>
          </a:p>
          <a:p>
            <a:endParaRPr dirty="0"/>
          </a:p>
          <a:p>
            <a:r>
              <a:rPr dirty="0"/>
              <a:t>• Was a sensor or asset attached or removed? </a:t>
            </a:r>
            <a:r>
              <a:rPr dirty="0" err="1"/>
              <a:t>AssociationEvent</a:t>
            </a:r>
            <a:r>
              <a:rPr dirty="0"/>
              <a:t>. Step 3: the logger was attached to the pallet.</a:t>
            </a:r>
          </a:p>
          <a:p>
            <a:endParaRPr dirty="0"/>
          </a:p>
          <a:p>
            <a:r>
              <a:rPr dirty="0"/>
              <a:t>• Were things linked to an order or another business document? </a:t>
            </a:r>
            <a:r>
              <a:rPr dirty="0" err="1"/>
              <a:t>TransactionEvent</a:t>
            </a:r>
            <a:r>
              <a:rPr dirty="0"/>
              <a:t>. Step 4: the pallet was linked to order 4711.</a:t>
            </a:r>
          </a:p>
          <a:p>
            <a:endParaRPr dirty="0"/>
          </a:p>
          <a:p>
            <a:r>
              <a:rPr dirty="0"/>
              <a:t>• None of these? Then it is an </a:t>
            </a:r>
            <a:r>
              <a:rPr dirty="0" err="1"/>
              <a:t>ObjectEvent</a:t>
            </a:r>
            <a:r>
              <a:rPr dirty="0"/>
              <a:t>: something was seen, created, shipped or received. Step 5: the pallet was shipped.</a:t>
            </a:r>
          </a:p>
          <a:p>
            <a:endParaRPr dirty="0"/>
          </a:p>
          <a:p>
            <a:r>
              <a:rPr dirty="0"/>
              <a:t>• One moment can need two events. Packing a pallet and linking it to an order are two separate facts.</a:t>
            </a:r>
            <a:br>
              <a:rPr lang="de-DE" dirty="0"/>
            </a:br>
            <a:endParaRPr dirty="0"/>
          </a:p>
          <a:p>
            <a:endParaRPr dirty="0"/>
          </a:p>
          <a:p>
            <a:r>
              <a:rPr dirty="0"/>
              <a:t>• → Bridge: Now let's build the same story in the OpenEPCIS tools.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/>
              <a:t>• Let's build the five events using the OpenEPCIS Event Data Designer.</a:t>
            </a:r>
          </a:p>
          <a:p>
            <a:endParaRPr dirty="0"/>
          </a:p>
          <a:p>
            <a:r>
              <a:rPr dirty="0"/>
              <a:t>• First, choose the event type and enter the event time, identifiers and relevant location and business-step information.</a:t>
            </a:r>
          </a:p>
          <a:p>
            <a:endParaRPr dirty="0"/>
          </a:p>
          <a:p>
            <a:r>
              <a:rPr dirty="0"/>
              <a:t>• For TransformationEvent, show the input and output lists. For </a:t>
            </a:r>
            <a:r>
              <a:rPr dirty="0" err="1"/>
              <a:t>AggregationEvent</a:t>
            </a:r>
            <a:r>
              <a:rPr dirty="0"/>
              <a:t>, show the pallet as parent and the boxes as children.</a:t>
            </a:r>
          </a:p>
          <a:p>
            <a:endParaRPr dirty="0"/>
          </a:p>
          <a:p>
            <a:r>
              <a:rPr dirty="0"/>
              <a:t>• For </a:t>
            </a:r>
            <a:r>
              <a:rPr dirty="0" err="1"/>
              <a:t>AssociationEvent</a:t>
            </a:r>
            <a:r>
              <a:rPr dirty="0"/>
              <a:t>, show the logger-to-pallet relationship. For </a:t>
            </a:r>
            <a:r>
              <a:rPr dirty="0" err="1"/>
              <a:t>TransactionEvent</a:t>
            </a:r>
            <a:r>
              <a:rPr dirty="0"/>
              <a:t>, show the business transaction reference.</a:t>
            </a:r>
          </a:p>
          <a:p>
            <a:endParaRPr dirty="0"/>
          </a:p>
          <a:p>
            <a:r>
              <a:rPr dirty="0"/>
              <a:t>• For </a:t>
            </a:r>
            <a:r>
              <a:rPr dirty="0" err="1"/>
              <a:t>ObjectEvent</a:t>
            </a:r>
            <a:r>
              <a:rPr dirty="0"/>
              <a:t>, show the pallet being observed at receiving.</a:t>
            </a:r>
          </a:p>
          <a:p>
            <a:endParaRPr dirty="0"/>
          </a:p>
          <a:p>
            <a:r>
              <a:rPr dirty="0"/>
              <a:t>• Then show the generated JSON and XML in the Format Converter. Point out the fields that change between event types instead of reading every field aloud.</a:t>
            </a:r>
          </a:p>
          <a:p>
            <a:endParaRPr dirty="0"/>
          </a:p>
          <a:p>
            <a:r>
              <a:rPr dirty="0"/>
              <a:t>• These are illustrative examples. Validation can check supported structure and rules, but it cannot prove that the real-world event actually happened.</a:t>
            </a:r>
          </a:p>
          <a:p>
            <a:endParaRPr dirty="0"/>
          </a:p>
          <a:p>
            <a:r>
              <a:rPr dirty="0"/>
              <a:t>• → Bridge: We've covered the five types. Let's finish with the key takeaway and next episode.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dirty="0" err="1"/>
              <a:t>We</a:t>
            </a:r>
            <a:r>
              <a:rPr lang="de-DE" dirty="0"/>
              <a:t> </a:t>
            </a:r>
            <a:r>
              <a:rPr lang="de-DE" dirty="0" err="1"/>
              <a:t>discussed</a:t>
            </a:r>
            <a:r>
              <a:rPr lang="de-DE" dirty="0"/>
              <a:t> the 5 EPCIS </a:t>
            </a:r>
            <a:r>
              <a:rPr lang="de-DE" dirty="0" err="1"/>
              <a:t>event</a:t>
            </a:r>
            <a:r>
              <a:rPr lang="de-DE" dirty="0"/>
              <a:t> </a:t>
            </a:r>
            <a:r>
              <a:rPr lang="de-DE" dirty="0" err="1"/>
              <a:t>types</a:t>
            </a:r>
            <a:r>
              <a:rPr lang="de-DE" dirty="0"/>
              <a:t> and </a:t>
            </a:r>
            <a:r>
              <a:rPr lang="de-DE" dirty="0" err="1"/>
              <a:t>when</a:t>
            </a:r>
            <a:r>
              <a:rPr lang="de-DE" dirty="0"/>
              <a:t> to </a:t>
            </a:r>
            <a:r>
              <a:rPr lang="de-DE" dirty="0" err="1"/>
              <a:t>use</a:t>
            </a:r>
            <a:r>
              <a:rPr lang="de-DE" dirty="0"/>
              <a:t> </a:t>
            </a:r>
            <a:r>
              <a:rPr lang="de-DE" dirty="0" err="1"/>
              <a:t>what</a:t>
            </a:r>
            <a:r>
              <a:rPr lang="de-DE" dirty="0"/>
              <a:t>:</a:t>
            </a:r>
            <a:br>
              <a:rPr lang="de-DE" dirty="0"/>
            </a:br>
            <a:endParaRPr dirty="0"/>
          </a:p>
          <a:p>
            <a:r>
              <a:rPr dirty="0"/>
              <a:t>• ObjectEvent: something happened to a thing. The pallet was shipped.</a:t>
            </a:r>
          </a:p>
          <a:p>
            <a:endParaRPr dirty="0"/>
          </a:p>
          <a:p>
            <a:r>
              <a:rPr dirty="0"/>
              <a:t>• AggregationEvent: things were packed together. The products went onto the pallet.</a:t>
            </a:r>
          </a:p>
          <a:p>
            <a:endParaRPr dirty="0"/>
          </a:p>
          <a:p>
            <a:r>
              <a:rPr dirty="0"/>
              <a:t>• TransactionEvent: things were linked to a business document. The pallet was linked to order 4711.</a:t>
            </a:r>
          </a:p>
          <a:p>
            <a:endParaRPr dirty="0"/>
          </a:p>
          <a:p>
            <a:r>
              <a:rPr dirty="0"/>
              <a:t>• TransformationEvent: inputs became something new. Raw materials became the product.</a:t>
            </a:r>
          </a:p>
          <a:p>
            <a:endParaRPr dirty="0"/>
          </a:p>
          <a:p>
            <a:r>
              <a:rPr dirty="0"/>
              <a:t>• AssociationEvent: a device or asset was attached. The logger travelled with the pallet.</a:t>
            </a:r>
          </a:p>
          <a:p>
            <a:endParaRPr dirty="0"/>
          </a:p>
          <a:p>
            <a:r>
              <a:rPr dirty="0"/>
              <a:t>• If you take one thing away from this video, let it be this:</a:t>
            </a:r>
          </a:p>
          <a:p>
            <a:endParaRPr dirty="0"/>
          </a:p>
          <a:p>
            <a:r>
              <a:rPr dirty="0"/>
              <a:t>• Every EPCIS event answers the same questions: what, when, where, why and how. The event type tells us what kind of moment it was: something seen, packed, linked, made or attached. Pick the type that fits the moment, and every partner reads it the same way.</a:t>
            </a:r>
          </a:p>
          <a:p>
            <a:endParaRPr dirty="0"/>
          </a:p>
          <a:p>
            <a:r>
              <a:rPr dirty="0"/>
              <a:t>• Choosing the right type is the first step. Partners also need to use the same words, like shipping, receiving and commissioning.</a:t>
            </a:r>
          </a:p>
          <a:p>
            <a:endParaRPr dirty="0"/>
          </a:p>
          <a:p>
            <a:r>
              <a:rPr dirty="0"/>
              <a:t>• That is next episode: CBV and master data, the shared words that let every system read events the same way.</a:t>
            </a:r>
          </a:p>
          <a:p>
            <a:endParaRPr dirty="0"/>
          </a:p>
          <a:p>
            <a:r>
              <a:rPr dirty="0"/>
              <a:t>• Which event type is clearest to you, and which one was most confusing? Tell us in the comments.</a:t>
            </a:r>
          </a:p>
          <a:p>
            <a:endParaRPr dirty="0"/>
          </a:p>
          <a:p>
            <a:r>
              <a:rPr dirty="0"/>
              <a:t>• → Bridge: Thanks for watching. Here is where to find the tools and the series.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/>
              <a:t>• Thanks for watching Episode 3 of the OpenEPCIS series.</a:t>
            </a:r>
          </a:p>
          <a:p>
            <a:endParaRPr dirty="0"/>
          </a:p>
          <a:p>
            <a:r>
              <a:rPr dirty="0"/>
              <a:t>• Try the tools at </a:t>
            </a:r>
            <a:r>
              <a:rPr dirty="0" err="1"/>
              <a:t>tools.openepcis.io</a:t>
            </a:r>
            <a:r>
              <a:rPr dirty="0"/>
              <a:t>, explore the projects on GitHub, and follow Benelog on LinkedIn and YouTube.</a:t>
            </a:r>
          </a:p>
          <a:p>
            <a:endParaRPr dirty="0"/>
          </a:p>
          <a:p>
            <a:r>
              <a:rPr dirty="0"/>
              <a:t>• You can find more information at </a:t>
            </a:r>
            <a:r>
              <a:rPr dirty="0" err="1"/>
              <a:t>openepcis.io</a:t>
            </a:r>
            <a:r>
              <a:rPr dirty="0"/>
              <a:t>. Leave your questions or topic ideas in the comments.</a:t>
            </a:r>
          </a:p>
          <a:p>
            <a:endParaRPr dirty="0"/>
          </a:p>
          <a:p>
            <a:r>
              <a:rPr dirty="0"/>
              <a:t>• Next time: CBV and master data—the shared vocabulary behind EPCIS.</a:t>
            </a:r>
          </a:p>
          <a:p>
            <a:endParaRPr dirty="0"/>
          </a:p>
          <a:p>
            <a:r>
              <a:rPr dirty="0"/>
              <a:t>• See you next week.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private/tmp/claude-502/-Users-aravinda-baligab-Downloads-EPCIS-Context-Issue/84dfbe84-070d-4987-85ce-19686c32e829/scratchpad/ep03/build/img/openepcis-logo-ligh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6199632"/>
            <a:ext cx="905256" cy="384048"/>
          </a:xfrm>
          <a:prstGeom prst="rect">
            <a:avLst/>
          </a:prstGeom>
        </p:spPr>
      </p:pic>
      <p:pic>
        <p:nvPicPr>
          <p:cNvPr id="3" name="Image 1" descr="/private/tmp/claude-502/-Users-aravinda-baligab-Downloads-EPCIS-Context-Issue/84dfbe84-070d-4987-85ce-19686c32e829/scratchpad/ep03/build/img/benelog-logo-ligh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71632" y="6309360"/>
            <a:ext cx="868680" cy="18288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4270248" y="6291072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chemeClr val="accent5"/>
                </a:solidFill>
              </a:rPr>
              <a:t>openepcis.io   |   benelog.com</a:t>
            </a:r>
            <a:endParaRPr lang="en-US" sz="1000" dirty="0"/>
          </a:p>
        </p:txBody>
      </p:sp>
      <p:sp>
        <p:nvSpPr>
          <p:cNvPr id="5" name="Text 1"/>
          <p:cNvSpPr>
            <a:spLocks noGrp="1"/>
          </p:cNvSpPr>
          <p:nvPr>
            <p:ph type="body" idx="103" hasCustomPrompt="1"/>
          </p:nvPr>
        </p:nvSpPr>
        <p:spPr>
          <a:xfrm>
            <a:off x="548640" y="384048"/>
            <a:ext cx="9144000" cy="27432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>
              <a:buNone/>
              <a:defRPr lang="en-US" sz="1100" b="1" kern="0" spc="300" dirty="0">
                <a:solidFill>
                  <a:schemeClr val="accent3"/>
                </a:solidFill>
              </a:defRPr>
            </a:lvl1pPr>
          </a:lstStyle>
          <a:p>
            <a:pPr marL="0" indent="0">
              <a:buNone/>
            </a:pPr>
            <a:r>
              <a:rPr lang="en-US" sz="1100" b="1" kern="0" spc="300" dirty="0">
                <a:solidFill>
                  <a:schemeClr val="accent3"/>
                </a:solidFill>
              </a:rPr>
              <a:t>SECTION</a:t>
            </a:r>
            <a:endParaRPr lang="en-US" sz="1100" dirty="0"/>
          </a:p>
        </p:txBody>
      </p:sp>
      <p:sp>
        <p:nvSpPr>
          <p:cNvPr id="6" name="Text 1"/>
          <p:cNvSpPr>
            <a:spLocks noGrp="1"/>
          </p:cNvSpPr>
          <p:nvPr>
            <p:ph type="title" idx="104" hasCustomPrompt="1"/>
          </p:nvPr>
        </p:nvSpPr>
        <p:spPr>
          <a:xfrm>
            <a:off x="548640" y="685800"/>
            <a:ext cx="1106424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3600" b="1" dirty="0">
                <a:solidFill>
                  <a:schemeClr val="tx2"/>
                </a:solidFill>
              </a:defRPr>
            </a:lvl1pPr>
          </a:lstStyle>
          <a:p>
            <a:pPr marL="0" indent="0" algn="l">
              <a:buNone/>
            </a:pPr>
            <a:r>
              <a:rPr lang="en-US" sz="3600" b="1" dirty="0">
                <a:solidFill>
                  <a:schemeClr val="tx2"/>
                </a:solidFill>
              </a:rPr>
              <a:t>Title</a:t>
            </a:r>
            <a:endParaRPr lang="en-US" sz="3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38404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>
            <a:alphaModFix amt="12000"/>
          </a:blip>
          <a:stretch>
            <a:fillRect/>
          </a:stretch>
        </p:blipFill>
        <p:spPr>
          <a:xfrm>
            <a:off x="7680960" y="1097280"/>
            <a:ext cx="5120640" cy="512064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38404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5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hyperlink" Target="https://ref.gs1.org/standards/epcis/" TargetMode="External"/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Relationship Id="rId9" Type="http://schemas.openxmlformats.org/officeDocument/2006/relationships/hyperlink" Target="https://openepcis.io/docs/epcis" TargetMode="Externa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7" Type="http://schemas.openxmlformats.org/officeDocument/2006/relationships/image" Target="../media/image1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png"/><Relationship Id="rId5" Type="http://schemas.openxmlformats.org/officeDocument/2006/relationships/image" Target="../media/image10.png"/><Relationship Id="rId4" Type="http://schemas.openxmlformats.org/officeDocument/2006/relationships/image" Target="../media/image1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png"/><Relationship Id="rId3" Type="http://schemas.openxmlformats.org/officeDocument/2006/relationships/image" Target="../media/image23.png"/><Relationship Id="rId7" Type="http://schemas.openxmlformats.org/officeDocument/2006/relationships/hyperlink" Target="https://tools.openepcis.io/ui/format-converter" TargetMode="Externa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4" Type="http://schemas.openxmlformats.org/officeDocument/2006/relationships/hyperlink" Target="https://tools.openepcis.io/ui/event-data-designer" TargetMode="Externa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linkedin.com/company/benelog" TargetMode="External"/><Relationship Id="rId13" Type="http://schemas.openxmlformats.org/officeDocument/2006/relationships/image" Target="../media/image32.png"/><Relationship Id="rId3" Type="http://schemas.openxmlformats.org/officeDocument/2006/relationships/image" Target="../media/image27.png"/><Relationship Id="rId7" Type="http://schemas.openxmlformats.org/officeDocument/2006/relationships/image" Target="../media/image29.png"/><Relationship Id="rId12" Type="http://schemas.openxmlformats.org/officeDocument/2006/relationships/hyperlink" Target="https://openepcis.io" TargetMode="External"/><Relationship Id="rId2" Type="http://schemas.openxmlformats.org/officeDocument/2006/relationships/notesSlide" Target="../notesSlides/notesSlide12.xml"/><Relationship Id="rId16" Type="http://schemas.openxmlformats.org/officeDocument/2006/relationships/image" Target="../media/image5.png"/><Relationship Id="rId1" Type="http://schemas.openxmlformats.org/officeDocument/2006/relationships/slideLayout" Target="../slideLayouts/slideLayout3.xml"/><Relationship Id="rId6" Type="http://schemas.openxmlformats.org/officeDocument/2006/relationships/hyperlink" Target="https://github.com/openepcis" TargetMode="External"/><Relationship Id="rId11" Type="http://schemas.openxmlformats.org/officeDocument/2006/relationships/image" Target="../media/image31.png"/><Relationship Id="rId5" Type="http://schemas.openxmlformats.org/officeDocument/2006/relationships/image" Target="../media/image28.png"/><Relationship Id="rId15" Type="http://schemas.openxmlformats.org/officeDocument/2006/relationships/image" Target="../media/image4.png"/><Relationship Id="rId10" Type="http://schemas.openxmlformats.org/officeDocument/2006/relationships/hyperlink" Target="https://www.youtube.com/@benelogEPCIS" TargetMode="External"/><Relationship Id="rId4" Type="http://schemas.openxmlformats.org/officeDocument/2006/relationships/hyperlink" Target="https://tools.openepcis.io/ui/" TargetMode="External"/><Relationship Id="rId9" Type="http://schemas.openxmlformats.org/officeDocument/2006/relationships/image" Target="../media/image30.png"/><Relationship Id="rId14" Type="http://schemas.openxmlformats.org/officeDocument/2006/relationships/hyperlink" Target="https://benelog.com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private/tmp/claude-502/-Users-aravinda-baligab-Downloads-EPCIS-Context-Issue/84dfbe84-070d-4987-85ce-19686c32e829/scratchpad/ep03/build/img/openepcis-logo-d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640080"/>
            <a:ext cx="1508760" cy="640080"/>
          </a:xfrm>
          <a:prstGeom prst="rect">
            <a:avLst/>
          </a:prstGeom>
        </p:spPr>
      </p:pic>
      <p:pic>
        <p:nvPicPr>
          <p:cNvPr id="3" name="Image 1" descr="/private/tmp/claude-502/-Users-aravinda-baligab-Downloads-EPCIS-Context-Issue/84dfbe84-070d-4987-85ce-19686c32e829/scratchpad/ep03/build/img/benelog-logo-dar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97480" y="896341"/>
            <a:ext cx="1335024" cy="27432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731520" y="22402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9DB9E8"/>
                </a:solidFill>
              </a:rPr>
              <a:t>OPENEPCIS SERIES   |   EPISODE 3</a:t>
            </a:r>
            <a:endParaRPr lang="en-US" sz="1300" dirty="0"/>
          </a:p>
        </p:txBody>
      </p:sp>
      <p:sp>
        <p:nvSpPr>
          <p:cNvPr id="5" name="Text 1"/>
          <p:cNvSpPr txBox="1"/>
          <p:nvPr/>
        </p:nvSpPr>
        <p:spPr>
          <a:xfrm>
            <a:off x="731520" y="2606040"/>
            <a:ext cx="10058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2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Five EPCIS Event Types</a:t>
            </a:r>
            <a:endParaRPr lang="en-US" sz="5200" dirty="0"/>
          </a:p>
        </p:txBody>
      </p:sp>
      <p:sp>
        <p:nvSpPr>
          <p:cNvPr id="6" name="Text 2"/>
          <p:cNvSpPr txBox="1"/>
          <p:nvPr/>
        </p:nvSpPr>
        <p:spPr>
          <a:xfrm>
            <a:off x="731520" y="3657600"/>
            <a:ext cx="8778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chemeClr val="accent6"/>
                </a:solidFill>
              </a:rPr>
              <a:t>Which event records which moment in a product's life</a:t>
            </a:r>
            <a:endParaRPr lang="en-US" sz="2000" dirty="0"/>
          </a:p>
        </p:txBody>
      </p:sp>
      <p:sp>
        <p:nvSpPr>
          <p:cNvPr id="7" name="Date placeholder"/>
          <p:cNvSpPr txBox="1"/>
          <p:nvPr/>
        </p:nvSpPr>
        <p:spPr>
          <a:xfrm>
            <a:off x="731520" y="48920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9DB9E8"/>
                </a:solidFill>
              </a:rPr>
              <a:t>Date:</a:t>
            </a:r>
            <a:r>
              <a:rPr lang="en-US" sz="1600" dirty="0">
                <a:solidFill>
                  <a:schemeClr val="bg1"/>
                </a:solidFill>
              </a:rPr>
              <a:t> 28 Oct 2026</a:t>
            </a:r>
            <a:endParaRPr lang="en-US" sz="1600" dirty="0"/>
          </a:p>
        </p:txBody>
      </p:sp>
      <p:sp>
        <p:nvSpPr>
          <p:cNvPr id="8" name="Text 4"/>
          <p:cNvSpPr txBox="1"/>
          <p:nvPr/>
        </p:nvSpPr>
        <p:spPr>
          <a:xfrm>
            <a:off x="731520" y="61722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chemeClr val="accent5"/>
                </a:solidFill>
              </a:rPr>
              <a:t>openepcis.io   |   benelog.com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body" idx="103" hasCustomPrompt="1"/>
          </p:nvPr>
        </p:nvSpPr>
        <p:spPr>
          <a:xfrm>
            <a:off x="548640" y="38404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chemeClr val="accent3"/>
                </a:solidFill>
              </a:rPr>
              <a:t>TODAY</a:t>
            </a:r>
            <a:endParaRPr lang="en-US" sz="1100" dirty="0"/>
          </a:p>
        </p:txBody>
      </p:sp>
      <p:sp>
        <p:nvSpPr>
          <p:cNvPr id="3" name="Text 1"/>
          <p:cNvSpPr>
            <a:spLocks noGrp="1"/>
          </p:cNvSpPr>
          <p:nvPr>
            <p:ph type="title" idx="104" hasCustomPrompt="1"/>
          </p:nvPr>
        </p:nvSpPr>
        <p:spPr>
          <a:xfrm>
            <a:off x="548640" y="68580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chemeClr val="tx2"/>
                </a:solidFill>
              </a:rPr>
              <a:t>Agenda</a:t>
            </a:r>
            <a:endParaRPr lang="en-US" sz="3600" dirty="0"/>
          </a:p>
        </p:txBody>
      </p:sp>
      <p:sp>
        <p:nvSpPr>
          <p:cNvPr id="5" name="Shape 2"/>
          <p:cNvSpPr/>
          <p:nvPr/>
        </p:nvSpPr>
        <p:spPr>
          <a:xfrm>
            <a:off x="1545336" y="2048256"/>
            <a:ext cx="0" cy="3364992"/>
          </a:xfrm>
          <a:prstGeom prst="line">
            <a:avLst/>
          </a:prstGeom>
          <a:noFill/>
          <a:ln w="19050">
            <a:solidFill>
              <a:schemeClr val="accent6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1280160" y="1783080"/>
            <a:ext cx="530352" cy="530352"/>
          </a:xfrm>
          <a:prstGeom prst="ellipse">
            <a:avLst/>
          </a:prstGeom>
          <a:solidFill>
            <a:schemeClr val="accent1"/>
          </a:solidFill>
          <a:ln w="38100">
            <a:solidFill>
              <a:schemeClr val="bg1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1280160" y="1783080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bg1"/>
                </a:solidFill>
              </a:rPr>
              <a:t>1</a:t>
            </a:r>
            <a:endParaRPr lang="en-US" sz="1800" dirty="0"/>
          </a:p>
        </p:txBody>
      </p:sp>
      <p:sp>
        <p:nvSpPr>
          <p:cNvPr id="8" name="Text 5"/>
          <p:cNvSpPr txBox="1"/>
          <p:nvPr/>
        </p:nvSpPr>
        <p:spPr>
          <a:xfrm>
            <a:off x="2103120" y="1746504"/>
            <a:ext cx="6400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tx1"/>
                </a:solidFill>
              </a:rPr>
              <a:t>Quick recap</a:t>
            </a:r>
            <a:endParaRPr lang="en-US" sz="2000" dirty="0"/>
          </a:p>
        </p:txBody>
      </p:sp>
      <p:sp>
        <p:nvSpPr>
          <p:cNvPr id="9" name="Text 6"/>
          <p:cNvSpPr txBox="1"/>
          <p:nvPr/>
        </p:nvSpPr>
        <p:spPr>
          <a:xfrm>
            <a:off x="2103120" y="2093976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accent5"/>
                </a:solidFill>
              </a:rPr>
              <a:t>What every event has in common</a:t>
            </a:r>
            <a:endParaRPr lang="en-US" sz="1400" dirty="0"/>
          </a:p>
        </p:txBody>
      </p:sp>
      <p:sp>
        <p:nvSpPr>
          <p:cNvPr id="10" name="Text 7"/>
          <p:cNvSpPr txBox="1"/>
          <p:nvPr/>
        </p:nvSpPr>
        <p:spPr>
          <a:xfrm>
            <a:off x="9326880" y="1783080"/>
            <a:ext cx="1463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dirty="0">
                <a:solidFill>
                  <a:schemeClr val="accent5"/>
                </a:solidFill>
              </a:rPr>
              <a:t>1 min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1280160" y="2624328"/>
            <a:ext cx="530352" cy="530352"/>
          </a:xfrm>
          <a:prstGeom prst="ellipse">
            <a:avLst/>
          </a:prstGeom>
          <a:solidFill>
            <a:schemeClr val="accent1"/>
          </a:solidFill>
          <a:ln w="38100">
            <a:solidFill>
              <a:schemeClr val="bg1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1280160" y="2624328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bg1"/>
                </a:solidFill>
              </a:rPr>
              <a:t>2</a:t>
            </a:r>
            <a:endParaRPr lang="en-US" sz="1800" dirty="0"/>
          </a:p>
        </p:txBody>
      </p:sp>
      <p:sp>
        <p:nvSpPr>
          <p:cNvPr id="13" name="Text 10"/>
          <p:cNvSpPr txBox="1"/>
          <p:nvPr/>
        </p:nvSpPr>
        <p:spPr>
          <a:xfrm>
            <a:off x="2103120" y="2587752"/>
            <a:ext cx="6400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tx1"/>
                </a:solidFill>
              </a:rPr>
              <a:t>Five event types at a glance</a:t>
            </a:r>
            <a:endParaRPr lang="en-US" sz="2000" dirty="0"/>
          </a:p>
        </p:txBody>
      </p:sp>
      <p:sp>
        <p:nvSpPr>
          <p:cNvPr id="14" name="Text 11"/>
          <p:cNvSpPr txBox="1"/>
          <p:nvPr/>
        </p:nvSpPr>
        <p:spPr>
          <a:xfrm>
            <a:off x="2103120" y="2935224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accent5"/>
                </a:solidFill>
              </a:rPr>
              <a:t>What each type records</a:t>
            </a:r>
            <a:endParaRPr lang="en-US" sz="1400" dirty="0"/>
          </a:p>
        </p:txBody>
      </p:sp>
      <p:sp>
        <p:nvSpPr>
          <p:cNvPr id="15" name="Text 12"/>
          <p:cNvSpPr txBox="1"/>
          <p:nvPr/>
        </p:nvSpPr>
        <p:spPr>
          <a:xfrm>
            <a:off x="9326880" y="2624328"/>
            <a:ext cx="1463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dirty="0">
                <a:solidFill>
                  <a:schemeClr val="accent5"/>
                </a:solidFill>
              </a:rPr>
              <a:t>3 min</a:t>
            </a:r>
            <a:endParaRPr lang="en-US" sz="1400" dirty="0"/>
          </a:p>
        </p:txBody>
      </p:sp>
      <p:sp>
        <p:nvSpPr>
          <p:cNvPr id="16" name="Shape 13"/>
          <p:cNvSpPr/>
          <p:nvPr/>
        </p:nvSpPr>
        <p:spPr>
          <a:xfrm>
            <a:off x="1280160" y="3465576"/>
            <a:ext cx="530352" cy="530352"/>
          </a:xfrm>
          <a:prstGeom prst="ellipse">
            <a:avLst/>
          </a:prstGeom>
          <a:solidFill>
            <a:schemeClr val="accent1"/>
          </a:solidFill>
          <a:ln w="38100">
            <a:solidFill>
              <a:schemeClr val="bg1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1280160" y="3465576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bg1"/>
                </a:solidFill>
              </a:rPr>
              <a:t>3</a:t>
            </a:r>
            <a:endParaRPr lang="en-US" sz="1800" dirty="0"/>
          </a:p>
        </p:txBody>
      </p:sp>
      <p:sp>
        <p:nvSpPr>
          <p:cNvPr id="18" name="Text 15"/>
          <p:cNvSpPr txBox="1"/>
          <p:nvPr/>
        </p:nvSpPr>
        <p:spPr>
          <a:xfrm>
            <a:off x="2103120" y="3429000"/>
            <a:ext cx="6400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tx1"/>
                </a:solidFill>
              </a:rPr>
              <a:t>One product, five events</a:t>
            </a:r>
            <a:endParaRPr lang="en-US" sz="2000" dirty="0"/>
          </a:p>
        </p:txBody>
      </p:sp>
      <p:sp>
        <p:nvSpPr>
          <p:cNvPr id="19" name="Text 16"/>
          <p:cNvSpPr txBox="1"/>
          <p:nvPr/>
        </p:nvSpPr>
        <p:spPr>
          <a:xfrm>
            <a:off x="2103120" y="377647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accent5"/>
                </a:solidFill>
              </a:rPr>
              <a:t>From raw materials to the shop</a:t>
            </a:r>
            <a:endParaRPr lang="en-US" sz="1400" dirty="0"/>
          </a:p>
        </p:txBody>
      </p:sp>
      <p:sp>
        <p:nvSpPr>
          <p:cNvPr id="20" name="Text 17"/>
          <p:cNvSpPr txBox="1"/>
          <p:nvPr/>
        </p:nvSpPr>
        <p:spPr>
          <a:xfrm>
            <a:off x="9326880" y="3465576"/>
            <a:ext cx="1463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dirty="0">
                <a:solidFill>
                  <a:schemeClr val="accent5"/>
                </a:solidFill>
              </a:rPr>
              <a:t>4 min</a:t>
            </a:r>
            <a:endParaRPr lang="en-US" sz="1400" dirty="0"/>
          </a:p>
        </p:txBody>
      </p:sp>
      <p:sp>
        <p:nvSpPr>
          <p:cNvPr id="21" name="Shape 18"/>
          <p:cNvSpPr/>
          <p:nvPr/>
        </p:nvSpPr>
        <p:spPr>
          <a:xfrm>
            <a:off x="1280160" y="4306824"/>
            <a:ext cx="530352" cy="530352"/>
          </a:xfrm>
          <a:prstGeom prst="ellipse">
            <a:avLst/>
          </a:prstGeom>
          <a:solidFill>
            <a:schemeClr val="accent3"/>
          </a:solidFill>
          <a:ln w="38100">
            <a:solidFill>
              <a:schemeClr val="bg1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1280160" y="4306824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bg1"/>
                </a:solidFill>
              </a:rPr>
              <a:t>4</a:t>
            </a:r>
            <a:endParaRPr lang="en-US" sz="1800" dirty="0"/>
          </a:p>
        </p:txBody>
      </p:sp>
      <p:sp>
        <p:nvSpPr>
          <p:cNvPr id="23" name="Text 20"/>
          <p:cNvSpPr txBox="1"/>
          <p:nvPr/>
        </p:nvSpPr>
        <p:spPr>
          <a:xfrm>
            <a:off x="2103120" y="4270248"/>
            <a:ext cx="6400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tx1"/>
                </a:solidFill>
              </a:rPr>
              <a:t>Live demo</a:t>
            </a:r>
            <a:endParaRPr lang="en-US" sz="2000" dirty="0"/>
          </a:p>
        </p:txBody>
      </p:sp>
      <p:sp>
        <p:nvSpPr>
          <p:cNvPr id="24" name="Text 21"/>
          <p:cNvSpPr txBox="1"/>
          <p:nvPr/>
        </p:nvSpPr>
        <p:spPr>
          <a:xfrm>
            <a:off x="2103120" y="46177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accent5"/>
                </a:solidFill>
              </a:rPr>
              <a:t>Build the events in our tools</a:t>
            </a:r>
            <a:endParaRPr lang="en-US" sz="1400" dirty="0"/>
          </a:p>
        </p:txBody>
      </p:sp>
      <p:sp>
        <p:nvSpPr>
          <p:cNvPr id="25" name="Text 22"/>
          <p:cNvSpPr txBox="1"/>
          <p:nvPr/>
        </p:nvSpPr>
        <p:spPr>
          <a:xfrm>
            <a:off x="9326880" y="4306824"/>
            <a:ext cx="1463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dirty="0">
                <a:solidFill>
                  <a:schemeClr val="accent5"/>
                </a:solidFill>
              </a:rPr>
              <a:t>5 min</a:t>
            </a:r>
            <a:endParaRPr lang="en-US" sz="1400" dirty="0"/>
          </a:p>
        </p:txBody>
      </p:sp>
      <p:sp>
        <p:nvSpPr>
          <p:cNvPr id="26" name="Shape 23"/>
          <p:cNvSpPr/>
          <p:nvPr/>
        </p:nvSpPr>
        <p:spPr>
          <a:xfrm>
            <a:off x="1280160" y="5148072"/>
            <a:ext cx="530352" cy="530352"/>
          </a:xfrm>
          <a:prstGeom prst="ellipse">
            <a:avLst/>
          </a:prstGeom>
          <a:solidFill>
            <a:schemeClr val="accent1"/>
          </a:solidFill>
          <a:ln w="38100">
            <a:solidFill>
              <a:schemeClr val="bg1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1280160" y="5148072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bg1"/>
                </a:solidFill>
              </a:rPr>
              <a:t>5</a:t>
            </a:r>
            <a:endParaRPr lang="en-US" sz="1800" dirty="0"/>
          </a:p>
        </p:txBody>
      </p:sp>
      <p:sp>
        <p:nvSpPr>
          <p:cNvPr id="28" name="Text 25"/>
          <p:cNvSpPr txBox="1"/>
          <p:nvPr/>
        </p:nvSpPr>
        <p:spPr>
          <a:xfrm>
            <a:off x="2103120" y="5111496"/>
            <a:ext cx="6400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tx1"/>
                </a:solidFill>
              </a:rPr>
              <a:t>Wrap-up and next week</a:t>
            </a:r>
            <a:endParaRPr lang="en-US" sz="2000" dirty="0"/>
          </a:p>
        </p:txBody>
      </p:sp>
      <p:sp>
        <p:nvSpPr>
          <p:cNvPr id="29" name="Text 26"/>
          <p:cNvSpPr txBox="1"/>
          <p:nvPr/>
        </p:nvSpPr>
        <p:spPr>
          <a:xfrm>
            <a:off x="2103120" y="545896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accent5"/>
                </a:solidFill>
              </a:rPr>
              <a:t>Then: CBV and master data</a:t>
            </a:r>
            <a:endParaRPr lang="en-US" sz="1400" dirty="0"/>
          </a:p>
        </p:txBody>
      </p:sp>
      <p:sp>
        <p:nvSpPr>
          <p:cNvPr id="30" name="Text 27"/>
          <p:cNvSpPr txBox="1"/>
          <p:nvPr/>
        </p:nvSpPr>
        <p:spPr>
          <a:xfrm>
            <a:off x="9326880" y="5148072"/>
            <a:ext cx="1463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dirty="0">
                <a:solidFill>
                  <a:schemeClr val="accent5"/>
                </a:solidFill>
              </a:rPr>
              <a:t>2 min</a:t>
            </a:r>
            <a:endParaRPr lang="en-US" sz="1400" dirty="0"/>
          </a:p>
        </p:txBody>
      </p:sp>
      <p:sp>
        <p:nvSpPr>
          <p:cNvPr id="4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38404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body" idx="103" hasCustomPrompt="1"/>
          </p:nvPr>
        </p:nvSpPr>
        <p:spPr>
          <a:xfrm>
            <a:off x="548640" y="38404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chemeClr val="accent3"/>
                </a:solidFill>
              </a:rPr>
              <a:t>QUICK RECAP</a:t>
            </a:r>
            <a:endParaRPr lang="en-US" sz="1100" dirty="0"/>
          </a:p>
        </p:txBody>
      </p:sp>
      <p:sp>
        <p:nvSpPr>
          <p:cNvPr id="3" name="Text 1"/>
          <p:cNvSpPr>
            <a:spLocks noGrp="1"/>
          </p:cNvSpPr>
          <p:nvPr>
            <p:ph type="title" idx="104" hasCustomPrompt="1"/>
          </p:nvPr>
        </p:nvSpPr>
        <p:spPr>
          <a:xfrm>
            <a:off x="548640" y="68580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chemeClr val="tx2"/>
                </a:solidFill>
              </a:rPr>
              <a:t>Every Event Shares the Same Frame</a:t>
            </a:r>
            <a:endParaRPr lang="en-US" sz="3600" dirty="0"/>
          </a:p>
        </p:txBody>
      </p:sp>
      <p:sp>
        <p:nvSpPr>
          <p:cNvPr id="5" name="What"/>
          <p:cNvSpPr/>
          <p:nvPr/>
        </p:nvSpPr>
        <p:spPr>
          <a:xfrm>
            <a:off x="548640" y="1874520"/>
            <a:ext cx="2075688" cy="3017520"/>
          </a:xfrm>
          <a:prstGeom prst="roundRect">
            <a:avLst>
              <a:gd name="adj" fmla="val 5286"/>
            </a:avLst>
          </a:prstGeom>
          <a:solidFill>
            <a:schemeClr val="bg2"/>
          </a:solidFill>
          <a:ln/>
        </p:spPr>
      </p:sp>
      <p:sp>
        <p:nvSpPr>
          <p:cNvPr id="6" name="Shape 3"/>
          <p:cNvSpPr/>
          <p:nvPr/>
        </p:nvSpPr>
        <p:spPr>
          <a:xfrm>
            <a:off x="1197864" y="2286000"/>
            <a:ext cx="777240" cy="777240"/>
          </a:xfrm>
          <a:prstGeom prst="ellipse">
            <a:avLst/>
          </a:prstGeom>
          <a:solidFill>
            <a:srgbClr val="0B4A86"/>
          </a:solidFill>
          <a:ln/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99946" y="2488082"/>
            <a:ext cx="373075" cy="373075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685800" y="3291840"/>
            <a:ext cx="18013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</a:t>
            </a:r>
            <a:endParaRPr lang="en-US" sz="2200" dirty="0"/>
          </a:p>
        </p:txBody>
      </p:sp>
      <p:sp>
        <p:nvSpPr>
          <p:cNvPr id="9" name="Text 5"/>
          <p:cNvSpPr txBox="1"/>
          <p:nvPr/>
        </p:nvSpPr>
        <p:spPr>
          <a:xfrm>
            <a:off x="731520" y="3840480"/>
            <a:ext cx="170992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500" dirty="0">
                <a:solidFill>
                  <a:schemeClr val="tx1"/>
                </a:solidFill>
              </a:rPr>
              <a:t>Products or pallets, by GS1 ID</a:t>
            </a:r>
            <a:endParaRPr lang="en-US" sz="1500" dirty="0"/>
          </a:p>
        </p:txBody>
      </p:sp>
      <p:sp>
        <p:nvSpPr>
          <p:cNvPr id="10" name="When"/>
          <p:cNvSpPr/>
          <p:nvPr/>
        </p:nvSpPr>
        <p:spPr>
          <a:xfrm>
            <a:off x="2802636" y="1874520"/>
            <a:ext cx="2075688" cy="3017520"/>
          </a:xfrm>
          <a:prstGeom prst="roundRect">
            <a:avLst>
              <a:gd name="adj" fmla="val 5286"/>
            </a:avLst>
          </a:prstGeom>
          <a:solidFill>
            <a:schemeClr val="bg2"/>
          </a:solidFill>
          <a:ln/>
        </p:spPr>
      </p:sp>
      <p:sp>
        <p:nvSpPr>
          <p:cNvPr id="11" name="Shape 7"/>
          <p:cNvSpPr/>
          <p:nvPr/>
        </p:nvSpPr>
        <p:spPr>
          <a:xfrm>
            <a:off x="3451860" y="2286000"/>
            <a:ext cx="777240" cy="777240"/>
          </a:xfrm>
          <a:prstGeom prst="ellipse">
            <a:avLst/>
          </a:prstGeom>
          <a:solidFill>
            <a:srgbClr val="0B4A86"/>
          </a:solidFill>
          <a:ln/>
        </p:spPr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53942" y="2488082"/>
            <a:ext cx="373075" cy="373075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2939796" y="3291840"/>
            <a:ext cx="18013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When</a:t>
            </a:r>
            <a:endParaRPr lang="en-US" sz="2200" dirty="0"/>
          </a:p>
        </p:txBody>
      </p:sp>
      <p:sp>
        <p:nvSpPr>
          <p:cNvPr id="14" name="Text 9"/>
          <p:cNvSpPr txBox="1"/>
          <p:nvPr/>
        </p:nvSpPr>
        <p:spPr>
          <a:xfrm>
            <a:off x="2985516" y="3840480"/>
            <a:ext cx="170992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500" dirty="0">
                <a:solidFill>
                  <a:schemeClr val="tx1"/>
                </a:solidFill>
              </a:rPr>
              <a:t>eventTime and time zone</a:t>
            </a:r>
            <a:endParaRPr lang="en-US" sz="1500" dirty="0"/>
          </a:p>
        </p:txBody>
      </p:sp>
      <p:sp>
        <p:nvSpPr>
          <p:cNvPr id="15" name="Where"/>
          <p:cNvSpPr/>
          <p:nvPr/>
        </p:nvSpPr>
        <p:spPr>
          <a:xfrm>
            <a:off x="5056632" y="1874520"/>
            <a:ext cx="2075688" cy="3017520"/>
          </a:xfrm>
          <a:prstGeom prst="roundRect">
            <a:avLst>
              <a:gd name="adj" fmla="val 5286"/>
            </a:avLst>
          </a:prstGeom>
          <a:solidFill>
            <a:schemeClr val="bg2"/>
          </a:solidFill>
          <a:ln/>
        </p:spPr>
      </p:sp>
      <p:sp>
        <p:nvSpPr>
          <p:cNvPr id="16" name="Shape 11"/>
          <p:cNvSpPr/>
          <p:nvPr/>
        </p:nvSpPr>
        <p:spPr>
          <a:xfrm>
            <a:off x="5705856" y="2286000"/>
            <a:ext cx="777240" cy="777240"/>
          </a:xfrm>
          <a:prstGeom prst="ellipse">
            <a:avLst/>
          </a:prstGeom>
          <a:solidFill>
            <a:srgbClr val="0B4A86"/>
          </a:solidFill>
          <a:ln/>
        </p:spPr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07938" y="2488082"/>
            <a:ext cx="373075" cy="373075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5193792" y="3291840"/>
            <a:ext cx="18013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</a:t>
            </a:r>
            <a:endParaRPr lang="en-US" sz="2200" dirty="0"/>
          </a:p>
        </p:txBody>
      </p:sp>
      <p:sp>
        <p:nvSpPr>
          <p:cNvPr id="19" name="Text 13"/>
          <p:cNvSpPr txBox="1"/>
          <p:nvPr/>
        </p:nvSpPr>
        <p:spPr>
          <a:xfrm>
            <a:off x="5239512" y="3840480"/>
            <a:ext cx="170992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500" dirty="0">
                <a:solidFill>
                  <a:schemeClr val="tx1"/>
                </a:solidFill>
              </a:rPr>
              <a:t>readPoint, the place</a:t>
            </a:r>
            <a:endParaRPr lang="en-US" sz="1500" dirty="0"/>
          </a:p>
        </p:txBody>
      </p:sp>
      <p:sp>
        <p:nvSpPr>
          <p:cNvPr id="20" name="Why"/>
          <p:cNvSpPr/>
          <p:nvPr/>
        </p:nvSpPr>
        <p:spPr>
          <a:xfrm>
            <a:off x="7310628" y="1874520"/>
            <a:ext cx="2075688" cy="3017520"/>
          </a:xfrm>
          <a:prstGeom prst="roundRect">
            <a:avLst>
              <a:gd name="adj" fmla="val 5286"/>
            </a:avLst>
          </a:prstGeom>
          <a:solidFill>
            <a:schemeClr val="bg2"/>
          </a:solidFill>
          <a:ln/>
        </p:spPr>
      </p:sp>
      <p:sp>
        <p:nvSpPr>
          <p:cNvPr id="21" name="Shape 15"/>
          <p:cNvSpPr/>
          <p:nvPr/>
        </p:nvSpPr>
        <p:spPr>
          <a:xfrm>
            <a:off x="7959852" y="2286000"/>
            <a:ext cx="777240" cy="777240"/>
          </a:xfrm>
          <a:prstGeom prst="ellipse">
            <a:avLst/>
          </a:prstGeom>
          <a:solidFill>
            <a:srgbClr val="0B4A86"/>
          </a:solidFill>
          <a:ln/>
        </p:spPr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61934" y="2488082"/>
            <a:ext cx="373075" cy="373075"/>
          </a:xfrm>
          <a:prstGeom prst="rect">
            <a:avLst/>
          </a:prstGeom>
        </p:spPr>
      </p:pic>
      <p:sp>
        <p:nvSpPr>
          <p:cNvPr id="23" name="Text 16"/>
          <p:cNvSpPr txBox="1"/>
          <p:nvPr/>
        </p:nvSpPr>
        <p:spPr>
          <a:xfrm>
            <a:off x="7447788" y="3291840"/>
            <a:ext cx="18013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</a:t>
            </a:r>
            <a:endParaRPr lang="en-US" sz="2200" dirty="0"/>
          </a:p>
        </p:txBody>
      </p:sp>
      <p:sp>
        <p:nvSpPr>
          <p:cNvPr id="24" name="Text 17"/>
          <p:cNvSpPr txBox="1"/>
          <p:nvPr/>
        </p:nvSpPr>
        <p:spPr>
          <a:xfrm>
            <a:off x="7493508" y="3840480"/>
            <a:ext cx="170992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500" dirty="0">
                <a:solidFill>
                  <a:schemeClr val="tx1"/>
                </a:solidFill>
              </a:rPr>
              <a:t>bizStep and disposition</a:t>
            </a:r>
            <a:endParaRPr lang="en-US" sz="1500" dirty="0"/>
          </a:p>
        </p:txBody>
      </p:sp>
      <p:sp>
        <p:nvSpPr>
          <p:cNvPr id="25" name="How"/>
          <p:cNvSpPr/>
          <p:nvPr/>
        </p:nvSpPr>
        <p:spPr>
          <a:xfrm>
            <a:off x="9564624" y="1874520"/>
            <a:ext cx="2075688" cy="3017520"/>
          </a:xfrm>
          <a:prstGeom prst="roundRect">
            <a:avLst>
              <a:gd name="adj" fmla="val 5286"/>
            </a:avLst>
          </a:prstGeom>
          <a:solidFill>
            <a:schemeClr val="bg2"/>
          </a:solidFill>
          <a:ln/>
        </p:spPr>
      </p:sp>
      <p:sp>
        <p:nvSpPr>
          <p:cNvPr id="26" name="Shape 19"/>
          <p:cNvSpPr/>
          <p:nvPr/>
        </p:nvSpPr>
        <p:spPr>
          <a:xfrm>
            <a:off x="9917582" y="2295144"/>
            <a:ext cx="777240" cy="777240"/>
          </a:xfrm>
          <a:prstGeom prst="ellipse">
            <a:avLst/>
          </a:prstGeom>
          <a:solidFill>
            <a:srgbClr val="0B4A86"/>
          </a:solidFill>
          <a:ln/>
        </p:spPr>
      </p:sp>
      <p:pic>
        <p:nvPicPr>
          <p:cNvPr id="27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119664" y="2497227"/>
            <a:ext cx="373075" cy="373075"/>
          </a:xfrm>
          <a:prstGeom prst="rect">
            <a:avLst/>
          </a:prstGeom>
        </p:spPr>
      </p:pic>
      <p:sp>
        <p:nvSpPr>
          <p:cNvPr id="28" name="Text 20"/>
          <p:cNvSpPr txBox="1"/>
          <p:nvPr/>
        </p:nvSpPr>
        <p:spPr>
          <a:xfrm>
            <a:off x="9701784" y="3291840"/>
            <a:ext cx="18013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</a:t>
            </a:r>
            <a:endParaRPr lang="en-US" sz="2200" dirty="0"/>
          </a:p>
        </p:txBody>
      </p:sp>
      <p:sp>
        <p:nvSpPr>
          <p:cNvPr id="29" name="Text 21"/>
          <p:cNvSpPr txBox="1"/>
          <p:nvPr/>
        </p:nvSpPr>
        <p:spPr>
          <a:xfrm>
            <a:off x="9747504" y="3840480"/>
            <a:ext cx="170992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500" dirty="0">
                <a:solidFill>
                  <a:schemeClr val="tx1"/>
                </a:solidFill>
              </a:rPr>
              <a:t>Sensor data, such as temperature</a:t>
            </a:r>
            <a:endParaRPr lang="en-US" sz="1500" dirty="0"/>
          </a:p>
        </p:txBody>
      </p:sp>
      <p:sp>
        <p:nvSpPr>
          <p:cNvPr id="30" name="Text 22"/>
          <p:cNvSpPr txBox="1"/>
          <p:nvPr/>
        </p:nvSpPr>
        <p:spPr>
          <a:xfrm>
            <a:off x="548640" y="525780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i="1" dirty="0">
                <a:solidFill>
                  <a:schemeClr val="accent5"/>
                </a:solidFill>
              </a:rPr>
              <a:t>The frame stays the same. The event type tells the story.</a:t>
            </a:r>
            <a:endParaRPr lang="en-US" sz="1800" dirty="0"/>
          </a:p>
        </p:txBody>
      </p:sp>
      <p:sp>
        <p:nvSpPr>
          <p:cNvPr id="4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38404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3</a:t>
            </a:fld>
            <a:endParaRPr lang="en-US"/>
          </a:p>
        </p:txBody>
      </p:sp>
      <p:sp>
        <p:nvSpPr>
          <p:cNvPr id="32" name="Text 28">
            <a:extLst>
              <a:ext uri="{FF2B5EF4-FFF2-40B4-BE49-F238E27FC236}">
                <a16:creationId xmlns:a16="http://schemas.microsoft.com/office/drawing/2014/main" id="{99FCE190-98C1-392A-45E0-6626AD3EAD85}"/>
              </a:ext>
            </a:extLst>
          </p:cNvPr>
          <p:cNvSpPr txBox="1"/>
          <p:nvPr/>
        </p:nvSpPr>
        <p:spPr>
          <a:xfrm>
            <a:off x="10781234" y="2565308"/>
            <a:ext cx="960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chemeClr val="accent3"/>
                </a:solidFill>
              </a:rPr>
              <a:t>NEW IN 2.0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body" idx="103" hasCustomPrompt="1"/>
          </p:nvPr>
        </p:nvSpPr>
        <p:spPr>
          <a:xfrm>
            <a:off x="548640" y="38404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chemeClr val="accent3"/>
                </a:solidFill>
              </a:rPr>
              <a:t>THE BASICS</a:t>
            </a:r>
            <a:endParaRPr lang="en-US" sz="1100" dirty="0"/>
          </a:p>
        </p:txBody>
      </p:sp>
      <p:sp>
        <p:nvSpPr>
          <p:cNvPr id="3" name="Text 1"/>
          <p:cNvSpPr>
            <a:spLocks noGrp="1"/>
          </p:cNvSpPr>
          <p:nvPr>
            <p:ph type="title" idx="104" hasCustomPrompt="1"/>
          </p:nvPr>
        </p:nvSpPr>
        <p:spPr>
          <a:xfrm>
            <a:off x="548640" y="68580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chemeClr val="tx2"/>
                </a:solidFill>
              </a:rPr>
              <a:t>Five Event Types at a Glance</a:t>
            </a:r>
            <a:endParaRPr lang="en-US" sz="3600" dirty="0"/>
          </a:p>
        </p:txBody>
      </p:sp>
      <p:sp>
        <p:nvSpPr>
          <p:cNvPr id="5" name="ObjectEvent"/>
          <p:cNvSpPr/>
          <p:nvPr/>
        </p:nvSpPr>
        <p:spPr>
          <a:xfrm>
            <a:off x="548640" y="1783080"/>
            <a:ext cx="2075688" cy="3611880"/>
          </a:xfrm>
          <a:prstGeom prst="roundRect">
            <a:avLst>
              <a:gd name="adj" fmla="val 5286"/>
            </a:avLst>
          </a:prstGeom>
          <a:solidFill>
            <a:schemeClr val="bg2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6" name="Shape 3"/>
          <p:cNvSpPr/>
          <p:nvPr/>
        </p:nvSpPr>
        <p:spPr>
          <a:xfrm>
            <a:off x="777240" y="2057400"/>
            <a:ext cx="685800" cy="685800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5548" y="2235708"/>
            <a:ext cx="329184" cy="329184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777240" y="2926080"/>
            <a:ext cx="18013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Object</a:t>
            </a:r>
            <a:endParaRPr lang="en-US" sz="1700" dirty="0"/>
          </a:p>
        </p:txBody>
      </p:sp>
      <p:sp>
        <p:nvSpPr>
          <p:cNvPr id="9" name="Text 5"/>
          <p:cNvSpPr txBox="1"/>
          <p:nvPr/>
        </p:nvSpPr>
        <p:spPr>
          <a:xfrm>
            <a:off x="777240" y="3319272"/>
            <a:ext cx="1709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chemeClr val="accent5"/>
                </a:solidFill>
              </a:rPr>
              <a:t>Event</a:t>
            </a:r>
            <a:endParaRPr lang="en-US" sz="1300" dirty="0"/>
          </a:p>
        </p:txBody>
      </p:sp>
      <p:sp>
        <p:nvSpPr>
          <p:cNvPr id="10" name="Text 6"/>
          <p:cNvSpPr txBox="1"/>
          <p:nvPr/>
        </p:nvSpPr>
        <p:spPr>
          <a:xfrm>
            <a:off x="777240" y="3703320"/>
            <a:ext cx="166420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chemeClr val="tx1"/>
                </a:solidFill>
              </a:rPr>
              <a:t>Something happened to these things</a:t>
            </a:r>
            <a:endParaRPr lang="en-US" sz="1500" dirty="0"/>
          </a:p>
        </p:txBody>
      </p:sp>
      <p:sp>
        <p:nvSpPr>
          <p:cNvPr id="11" name="Text 7"/>
          <p:cNvSpPr txBox="1"/>
          <p:nvPr/>
        </p:nvSpPr>
        <p:spPr>
          <a:xfrm>
            <a:off x="777240" y="4572000"/>
            <a:ext cx="166420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i="1" dirty="0">
                <a:solidFill>
                  <a:schemeClr val="accent5"/>
                </a:solidFill>
              </a:rPr>
              <a:t>A pallet arrives at the shop</a:t>
            </a:r>
            <a:endParaRPr lang="en-US" sz="1300" dirty="0"/>
          </a:p>
        </p:txBody>
      </p:sp>
      <p:sp>
        <p:nvSpPr>
          <p:cNvPr id="12" name="AggregationEvent"/>
          <p:cNvSpPr/>
          <p:nvPr/>
        </p:nvSpPr>
        <p:spPr>
          <a:xfrm>
            <a:off x="2802636" y="1783080"/>
            <a:ext cx="2075688" cy="3611880"/>
          </a:xfrm>
          <a:prstGeom prst="roundRect">
            <a:avLst>
              <a:gd name="adj" fmla="val 5286"/>
            </a:avLst>
          </a:prstGeom>
          <a:solidFill>
            <a:schemeClr val="bg2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3" name="Shape 9"/>
          <p:cNvSpPr/>
          <p:nvPr/>
        </p:nvSpPr>
        <p:spPr>
          <a:xfrm>
            <a:off x="3031236" y="2057400"/>
            <a:ext cx="685800" cy="685800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9544" y="2235708"/>
            <a:ext cx="329184" cy="329184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3031236" y="2926080"/>
            <a:ext cx="18013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Aggregation</a:t>
            </a:r>
            <a:endParaRPr lang="en-US" sz="1700" dirty="0"/>
          </a:p>
        </p:txBody>
      </p:sp>
      <p:sp>
        <p:nvSpPr>
          <p:cNvPr id="16" name="Text 11"/>
          <p:cNvSpPr txBox="1"/>
          <p:nvPr/>
        </p:nvSpPr>
        <p:spPr>
          <a:xfrm>
            <a:off x="3031236" y="3319272"/>
            <a:ext cx="1709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chemeClr val="accent5"/>
                </a:solidFill>
              </a:rPr>
              <a:t>Event</a:t>
            </a:r>
            <a:endParaRPr lang="en-US" sz="1300" dirty="0"/>
          </a:p>
        </p:txBody>
      </p:sp>
      <p:sp>
        <p:nvSpPr>
          <p:cNvPr id="17" name="Text 12"/>
          <p:cNvSpPr txBox="1"/>
          <p:nvPr/>
        </p:nvSpPr>
        <p:spPr>
          <a:xfrm>
            <a:off x="3031236" y="3703320"/>
            <a:ext cx="166420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chemeClr val="tx1"/>
                </a:solidFill>
              </a:rPr>
              <a:t>Packed into, or unpacked from, a container</a:t>
            </a:r>
            <a:endParaRPr lang="en-US" sz="1500" dirty="0"/>
          </a:p>
        </p:txBody>
      </p:sp>
      <p:sp>
        <p:nvSpPr>
          <p:cNvPr id="18" name="Text 13"/>
          <p:cNvSpPr txBox="1"/>
          <p:nvPr/>
        </p:nvSpPr>
        <p:spPr>
          <a:xfrm>
            <a:off x="3031236" y="4572000"/>
            <a:ext cx="166420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i="1" dirty="0">
                <a:solidFill>
                  <a:schemeClr val="accent5"/>
                </a:solidFill>
              </a:rPr>
              <a:t>Products packed onto a pallet</a:t>
            </a:r>
            <a:endParaRPr lang="en-US" sz="1300" dirty="0"/>
          </a:p>
        </p:txBody>
      </p:sp>
      <p:sp>
        <p:nvSpPr>
          <p:cNvPr id="19" name="TransactionEvent"/>
          <p:cNvSpPr/>
          <p:nvPr/>
        </p:nvSpPr>
        <p:spPr>
          <a:xfrm>
            <a:off x="5056632" y="1783080"/>
            <a:ext cx="2075688" cy="3611880"/>
          </a:xfrm>
          <a:prstGeom prst="roundRect">
            <a:avLst>
              <a:gd name="adj" fmla="val 5286"/>
            </a:avLst>
          </a:prstGeom>
          <a:solidFill>
            <a:schemeClr val="bg2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0" name="Shape 15"/>
          <p:cNvSpPr/>
          <p:nvPr/>
        </p:nvSpPr>
        <p:spPr>
          <a:xfrm>
            <a:off x="5285232" y="2057400"/>
            <a:ext cx="685800" cy="685800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2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63540" y="2235708"/>
            <a:ext cx="329184" cy="329184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5285232" y="2926080"/>
            <a:ext cx="18013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Transaction</a:t>
            </a:r>
            <a:endParaRPr lang="en-US" sz="1700" dirty="0"/>
          </a:p>
        </p:txBody>
      </p:sp>
      <p:sp>
        <p:nvSpPr>
          <p:cNvPr id="23" name="Text 17"/>
          <p:cNvSpPr txBox="1"/>
          <p:nvPr/>
        </p:nvSpPr>
        <p:spPr>
          <a:xfrm>
            <a:off x="5285232" y="3319272"/>
            <a:ext cx="1709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chemeClr val="accent5"/>
                </a:solidFill>
              </a:rPr>
              <a:t>Event</a:t>
            </a:r>
            <a:endParaRPr lang="en-US" sz="1300" dirty="0"/>
          </a:p>
        </p:txBody>
      </p:sp>
      <p:sp>
        <p:nvSpPr>
          <p:cNvPr id="24" name="Text 18"/>
          <p:cNvSpPr txBox="1"/>
          <p:nvPr/>
        </p:nvSpPr>
        <p:spPr>
          <a:xfrm>
            <a:off x="5285232" y="3703320"/>
            <a:ext cx="166420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chemeClr val="tx1"/>
                </a:solidFill>
              </a:rPr>
              <a:t>Objects explicitly linked to a transaction</a:t>
            </a:r>
            <a:endParaRPr lang="en-US" sz="1500" dirty="0"/>
          </a:p>
        </p:txBody>
      </p:sp>
      <p:sp>
        <p:nvSpPr>
          <p:cNvPr id="25" name="Text 19"/>
          <p:cNvSpPr txBox="1"/>
          <p:nvPr/>
        </p:nvSpPr>
        <p:spPr>
          <a:xfrm>
            <a:off x="5285232" y="4572000"/>
            <a:ext cx="166420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i="1" dirty="0">
                <a:solidFill>
                  <a:schemeClr val="accent5"/>
                </a:solidFill>
              </a:rPr>
              <a:t>Pallet linked to order 4711</a:t>
            </a:r>
            <a:endParaRPr lang="en-US" sz="1300" dirty="0"/>
          </a:p>
        </p:txBody>
      </p:sp>
      <p:sp>
        <p:nvSpPr>
          <p:cNvPr id="26" name="TransformationEvent"/>
          <p:cNvSpPr/>
          <p:nvPr/>
        </p:nvSpPr>
        <p:spPr>
          <a:xfrm>
            <a:off x="7310628" y="1783080"/>
            <a:ext cx="2075688" cy="3611880"/>
          </a:xfrm>
          <a:prstGeom prst="roundRect">
            <a:avLst>
              <a:gd name="adj" fmla="val 5286"/>
            </a:avLst>
          </a:prstGeom>
          <a:solidFill>
            <a:schemeClr val="bg2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7" name="Shape 21"/>
          <p:cNvSpPr/>
          <p:nvPr/>
        </p:nvSpPr>
        <p:spPr>
          <a:xfrm>
            <a:off x="7539228" y="2057400"/>
            <a:ext cx="685800" cy="685800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28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17536" y="2235708"/>
            <a:ext cx="329184" cy="329184"/>
          </a:xfrm>
          <a:prstGeom prst="rect">
            <a:avLst/>
          </a:prstGeom>
        </p:spPr>
      </p:pic>
      <p:sp>
        <p:nvSpPr>
          <p:cNvPr id="29" name="Text 22"/>
          <p:cNvSpPr txBox="1"/>
          <p:nvPr/>
        </p:nvSpPr>
        <p:spPr>
          <a:xfrm>
            <a:off x="7539228" y="2926080"/>
            <a:ext cx="18013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Transformation</a:t>
            </a:r>
            <a:endParaRPr lang="en-US" sz="1700" dirty="0"/>
          </a:p>
        </p:txBody>
      </p:sp>
      <p:sp>
        <p:nvSpPr>
          <p:cNvPr id="30" name="Text 23"/>
          <p:cNvSpPr txBox="1"/>
          <p:nvPr/>
        </p:nvSpPr>
        <p:spPr>
          <a:xfrm>
            <a:off x="7539228" y="3319272"/>
            <a:ext cx="1709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chemeClr val="accent5"/>
                </a:solidFill>
              </a:rPr>
              <a:t>Event</a:t>
            </a:r>
            <a:endParaRPr lang="en-US" sz="1300" dirty="0"/>
          </a:p>
        </p:txBody>
      </p:sp>
      <p:sp>
        <p:nvSpPr>
          <p:cNvPr id="31" name="Text 24"/>
          <p:cNvSpPr txBox="1"/>
          <p:nvPr/>
        </p:nvSpPr>
        <p:spPr>
          <a:xfrm>
            <a:off x="7539228" y="3703320"/>
            <a:ext cx="166420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chemeClr val="tx1"/>
                </a:solidFill>
              </a:rPr>
              <a:t>Inputs turn into new outputs</a:t>
            </a:r>
            <a:endParaRPr lang="en-US" sz="1500" dirty="0"/>
          </a:p>
        </p:txBody>
      </p:sp>
      <p:sp>
        <p:nvSpPr>
          <p:cNvPr id="32" name="Text 25"/>
          <p:cNvSpPr txBox="1"/>
          <p:nvPr/>
        </p:nvSpPr>
        <p:spPr>
          <a:xfrm>
            <a:off x="7539228" y="4572000"/>
            <a:ext cx="166420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i="1" dirty="0">
                <a:solidFill>
                  <a:schemeClr val="accent5"/>
                </a:solidFill>
              </a:rPr>
              <a:t>Raw materials become a product</a:t>
            </a:r>
            <a:endParaRPr lang="en-US" sz="1300" dirty="0"/>
          </a:p>
        </p:txBody>
      </p:sp>
      <p:sp>
        <p:nvSpPr>
          <p:cNvPr id="33" name="AssociationEvent"/>
          <p:cNvSpPr/>
          <p:nvPr/>
        </p:nvSpPr>
        <p:spPr>
          <a:xfrm>
            <a:off x="9564624" y="1783080"/>
            <a:ext cx="2075688" cy="3611880"/>
          </a:xfrm>
          <a:prstGeom prst="roundRect">
            <a:avLst>
              <a:gd name="adj" fmla="val 5286"/>
            </a:avLst>
          </a:prstGeom>
          <a:solidFill>
            <a:schemeClr val="bg2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4" name="Shape 27"/>
          <p:cNvSpPr/>
          <p:nvPr/>
        </p:nvSpPr>
        <p:spPr>
          <a:xfrm>
            <a:off x="9793224" y="2057400"/>
            <a:ext cx="685800" cy="685800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35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971532" y="2235708"/>
            <a:ext cx="329184" cy="329184"/>
          </a:xfrm>
          <a:prstGeom prst="rect">
            <a:avLst/>
          </a:prstGeom>
        </p:spPr>
      </p:pic>
      <p:sp>
        <p:nvSpPr>
          <p:cNvPr id="36" name="Text 28"/>
          <p:cNvSpPr txBox="1"/>
          <p:nvPr/>
        </p:nvSpPr>
        <p:spPr>
          <a:xfrm>
            <a:off x="10570464" y="2240280"/>
            <a:ext cx="960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chemeClr val="accent3"/>
                </a:solidFill>
              </a:rPr>
              <a:t>NEW IN 2.0</a:t>
            </a:r>
            <a:endParaRPr lang="en-US" sz="1000" dirty="0"/>
          </a:p>
        </p:txBody>
      </p:sp>
      <p:sp>
        <p:nvSpPr>
          <p:cNvPr id="37" name="Text 29"/>
          <p:cNvSpPr txBox="1"/>
          <p:nvPr/>
        </p:nvSpPr>
        <p:spPr>
          <a:xfrm>
            <a:off x="9793224" y="2926080"/>
            <a:ext cx="18013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Association</a:t>
            </a:r>
            <a:endParaRPr lang="en-US" sz="1700" dirty="0"/>
          </a:p>
        </p:txBody>
      </p:sp>
      <p:sp>
        <p:nvSpPr>
          <p:cNvPr id="38" name="Text 30"/>
          <p:cNvSpPr txBox="1"/>
          <p:nvPr/>
        </p:nvSpPr>
        <p:spPr>
          <a:xfrm>
            <a:off x="9793224" y="3319272"/>
            <a:ext cx="1709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chemeClr val="accent5"/>
                </a:solidFill>
              </a:rPr>
              <a:t>Event</a:t>
            </a:r>
            <a:endParaRPr lang="en-US" sz="1300" dirty="0"/>
          </a:p>
        </p:txBody>
      </p:sp>
      <p:sp>
        <p:nvSpPr>
          <p:cNvPr id="39" name="Text 31"/>
          <p:cNvSpPr txBox="1"/>
          <p:nvPr/>
        </p:nvSpPr>
        <p:spPr>
          <a:xfrm>
            <a:off x="9793224" y="3703320"/>
            <a:ext cx="166420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chemeClr val="tx1"/>
                </a:solidFill>
              </a:rPr>
              <a:t>A device or asset gets associated</a:t>
            </a:r>
            <a:endParaRPr lang="en-US" sz="1500" dirty="0"/>
          </a:p>
        </p:txBody>
      </p:sp>
      <p:sp>
        <p:nvSpPr>
          <p:cNvPr id="40" name="Text 32"/>
          <p:cNvSpPr txBox="1"/>
          <p:nvPr/>
        </p:nvSpPr>
        <p:spPr>
          <a:xfrm>
            <a:off x="9793224" y="4572000"/>
            <a:ext cx="166420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i="1" dirty="0">
                <a:solidFill>
                  <a:schemeClr val="accent5"/>
                </a:solidFill>
              </a:rPr>
              <a:t>A logger fixed to the pallet</a:t>
            </a:r>
            <a:endParaRPr lang="en-US" sz="1300" dirty="0"/>
          </a:p>
        </p:txBody>
      </p:sp>
      <p:sp>
        <p:nvSpPr>
          <p:cNvPr id="41" name="Text 33"/>
          <p:cNvSpPr txBox="1"/>
          <p:nvPr/>
        </p:nvSpPr>
        <p:spPr>
          <a:xfrm>
            <a:off x="785478" y="5788152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dirty="0">
                <a:solidFill>
                  <a:schemeClr val="accent5"/>
                </a:solidFill>
              </a:rPr>
              <a:t>Official definitions:  </a:t>
            </a:r>
            <a:r>
              <a:rPr lang="en-US" sz="1400" u="sng" dirty="0">
                <a:solidFill>
                  <a:schemeClr val="accent2"/>
                </a:solidFill>
                <a:hlinkClick r:id="rId8" tooltip="https://ref.gs1.org/standards/epcis/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GS1 EPCIS standard</a:t>
            </a:r>
            <a:br>
              <a:rPr lang="en-US" sz="1400" u="sng" dirty="0">
                <a:solidFill>
                  <a:schemeClr val="accent2"/>
                </a:solidFill>
              </a:rPr>
            </a:br>
            <a:r>
              <a:rPr lang="en-US" sz="1400" dirty="0">
                <a:solidFill>
                  <a:schemeClr val="accent5"/>
                </a:solidFill>
              </a:rPr>
              <a:t>Read on OpenEPCIS</a:t>
            </a:r>
            <a:r>
              <a:rPr lang="en-US" sz="1400" u="sng" dirty="0">
                <a:solidFill>
                  <a:schemeClr val="accent2"/>
                </a:solidFill>
              </a:rPr>
              <a:t>: </a:t>
            </a:r>
            <a:r>
              <a:rPr lang="en-US" sz="1400" u="sng" dirty="0">
                <a:solidFill>
                  <a:schemeClr val="accent2"/>
                </a:solidFill>
                <a:hlinkClick r:id="rId9"/>
              </a:rPr>
              <a:t>https://openepcis.io/docs/epcis</a:t>
            </a:r>
            <a:br>
              <a:rPr lang="en-US" sz="1400" u="sng" dirty="0">
                <a:solidFill>
                  <a:schemeClr val="accent2"/>
                </a:solidFill>
              </a:rPr>
            </a:br>
            <a:br>
              <a:rPr lang="en-US" sz="1400" u="sng" dirty="0">
                <a:solidFill>
                  <a:schemeClr val="accent2"/>
                </a:solidFill>
              </a:rPr>
            </a:br>
            <a:endParaRPr lang="en-US" sz="1400" dirty="0"/>
          </a:p>
        </p:txBody>
      </p:sp>
      <p:sp>
        <p:nvSpPr>
          <p:cNvPr id="4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38404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body" idx="103" hasCustomPrompt="1"/>
          </p:nvPr>
        </p:nvSpPr>
        <p:spPr>
          <a:xfrm>
            <a:off x="548640" y="38404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chemeClr val="accent3"/>
                </a:solidFill>
              </a:rPr>
              <a:t>THE STORY</a:t>
            </a:r>
            <a:endParaRPr lang="en-US" sz="1100" dirty="0"/>
          </a:p>
        </p:txBody>
      </p:sp>
      <p:sp>
        <p:nvSpPr>
          <p:cNvPr id="3" name="Text 1"/>
          <p:cNvSpPr>
            <a:spLocks noGrp="1"/>
          </p:cNvSpPr>
          <p:nvPr>
            <p:ph type="title" idx="104" hasCustomPrompt="1"/>
          </p:nvPr>
        </p:nvSpPr>
        <p:spPr>
          <a:xfrm>
            <a:off x="548640" y="68580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chemeClr val="tx2"/>
                </a:solidFill>
              </a:rPr>
              <a:t>One Product, Five Events</a:t>
            </a:r>
            <a:endParaRPr lang="en-US" sz="3600" dirty="0"/>
          </a:p>
        </p:txBody>
      </p:sp>
      <p:sp>
        <p:nvSpPr>
          <p:cNvPr id="5" name="Shape 2"/>
          <p:cNvSpPr/>
          <p:nvPr/>
        </p:nvSpPr>
        <p:spPr>
          <a:xfrm>
            <a:off x="1586484" y="2514600"/>
            <a:ext cx="9015984" cy="0"/>
          </a:xfrm>
          <a:prstGeom prst="line">
            <a:avLst/>
          </a:prstGeom>
          <a:noFill/>
          <a:ln w="19050">
            <a:solidFill>
              <a:schemeClr val="accent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Step 1"/>
          <p:cNvSpPr/>
          <p:nvPr/>
        </p:nvSpPr>
        <p:spPr>
          <a:xfrm>
            <a:off x="548640" y="2514600"/>
            <a:ext cx="2075688" cy="2743200"/>
          </a:xfrm>
          <a:prstGeom prst="roundRect">
            <a:avLst>
              <a:gd name="adj" fmla="val 5286"/>
            </a:avLst>
          </a:prstGeom>
          <a:solidFill>
            <a:schemeClr val="bg2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7" name="Shape 4"/>
          <p:cNvSpPr/>
          <p:nvPr/>
        </p:nvSpPr>
        <p:spPr>
          <a:xfrm>
            <a:off x="1175004" y="2103120"/>
            <a:ext cx="822960" cy="822960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88974" y="2317090"/>
            <a:ext cx="395021" cy="395021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548640" y="3063240"/>
            <a:ext cx="20756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200" dirty="0">
                <a:solidFill>
                  <a:schemeClr val="accent3"/>
                </a:solidFill>
              </a:rPr>
              <a:t>STEP 1</a:t>
            </a:r>
            <a:endParaRPr lang="en-US" sz="1100" dirty="0"/>
          </a:p>
        </p:txBody>
      </p:sp>
      <p:sp>
        <p:nvSpPr>
          <p:cNvPr id="10" name="Text 6"/>
          <p:cNvSpPr txBox="1"/>
          <p:nvPr/>
        </p:nvSpPr>
        <p:spPr>
          <a:xfrm>
            <a:off x="548640" y="3337560"/>
            <a:ext cx="207568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Make</a:t>
            </a:r>
            <a:endParaRPr lang="en-US" sz="2200" dirty="0"/>
          </a:p>
        </p:txBody>
      </p:sp>
      <p:sp>
        <p:nvSpPr>
          <p:cNvPr id="11" name="Text 7"/>
          <p:cNvSpPr txBox="1"/>
          <p:nvPr/>
        </p:nvSpPr>
        <p:spPr>
          <a:xfrm>
            <a:off x="731520" y="3794760"/>
            <a:ext cx="170992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dirty="0">
                <a:solidFill>
                  <a:schemeClr val="tx1"/>
                </a:solidFill>
              </a:rPr>
              <a:t>Raw materials become a product</a:t>
            </a:r>
            <a:endParaRPr lang="en-US" sz="1400" dirty="0"/>
          </a:p>
        </p:txBody>
      </p:sp>
      <p:sp>
        <p:nvSpPr>
          <p:cNvPr id="12" name="Shape 8"/>
          <p:cNvSpPr/>
          <p:nvPr/>
        </p:nvSpPr>
        <p:spPr>
          <a:xfrm>
            <a:off x="640080" y="4480560"/>
            <a:ext cx="1892808" cy="365760"/>
          </a:xfrm>
          <a:prstGeom prst="roundRect">
            <a:avLst>
              <a:gd name="adj" fmla="val 20000"/>
            </a:avLst>
          </a:prstGeom>
          <a:solidFill>
            <a:schemeClr val="accent1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3" name="Text 9"/>
          <p:cNvSpPr txBox="1"/>
          <p:nvPr/>
        </p:nvSpPr>
        <p:spPr>
          <a:xfrm>
            <a:off x="640080" y="4480560"/>
            <a:ext cx="18928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TransformationEvent</a:t>
            </a:r>
            <a:endParaRPr lang="en-US" sz="1150" dirty="0"/>
          </a:p>
        </p:txBody>
      </p:sp>
      <p:sp>
        <p:nvSpPr>
          <p:cNvPr id="14" name="Text 10"/>
          <p:cNvSpPr txBox="1"/>
          <p:nvPr/>
        </p:nvSpPr>
        <p:spPr>
          <a:xfrm>
            <a:off x="548640" y="4892040"/>
            <a:ext cx="20756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chemeClr val="accent5"/>
                </a:solidFill>
              </a:rPr>
              <a:t>bizStep: commissioning</a:t>
            </a:r>
            <a:endParaRPr lang="en-US" sz="1200" dirty="0"/>
          </a:p>
        </p:txBody>
      </p:sp>
      <p:sp>
        <p:nvSpPr>
          <p:cNvPr id="15" name="Step 2"/>
          <p:cNvSpPr/>
          <p:nvPr/>
        </p:nvSpPr>
        <p:spPr>
          <a:xfrm>
            <a:off x="2802636" y="2514600"/>
            <a:ext cx="2075688" cy="2743200"/>
          </a:xfrm>
          <a:prstGeom prst="roundRect">
            <a:avLst>
              <a:gd name="adj" fmla="val 5286"/>
            </a:avLst>
          </a:prstGeom>
          <a:solidFill>
            <a:schemeClr val="bg2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6" name="Shape 12"/>
          <p:cNvSpPr/>
          <p:nvPr/>
        </p:nvSpPr>
        <p:spPr>
          <a:xfrm>
            <a:off x="3429000" y="2103120"/>
            <a:ext cx="822960" cy="822960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1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42970" y="2317090"/>
            <a:ext cx="395021" cy="395021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2802636" y="3063240"/>
            <a:ext cx="20756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200" dirty="0">
                <a:solidFill>
                  <a:schemeClr val="accent3"/>
                </a:solidFill>
              </a:rPr>
              <a:t>STEP 2</a:t>
            </a:r>
            <a:endParaRPr lang="en-US" sz="1100" dirty="0"/>
          </a:p>
        </p:txBody>
      </p:sp>
      <p:sp>
        <p:nvSpPr>
          <p:cNvPr id="19" name="Text 14"/>
          <p:cNvSpPr txBox="1"/>
          <p:nvPr/>
        </p:nvSpPr>
        <p:spPr>
          <a:xfrm>
            <a:off x="2802636" y="3337560"/>
            <a:ext cx="207568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Pack</a:t>
            </a:r>
            <a:endParaRPr lang="en-US" sz="2200" dirty="0"/>
          </a:p>
        </p:txBody>
      </p:sp>
      <p:sp>
        <p:nvSpPr>
          <p:cNvPr id="20" name="Text 15"/>
          <p:cNvSpPr txBox="1"/>
          <p:nvPr/>
        </p:nvSpPr>
        <p:spPr>
          <a:xfrm>
            <a:off x="2985516" y="3794760"/>
            <a:ext cx="170992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dirty="0">
                <a:solidFill>
                  <a:schemeClr val="tx1"/>
                </a:solidFill>
              </a:rPr>
              <a:t>Products packed onto a pallet</a:t>
            </a:r>
            <a:endParaRPr lang="en-US" sz="1400" dirty="0"/>
          </a:p>
        </p:txBody>
      </p:sp>
      <p:sp>
        <p:nvSpPr>
          <p:cNvPr id="21" name="Shape 16"/>
          <p:cNvSpPr/>
          <p:nvPr/>
        </p:nvSpPr>
        <p:spPr>
          <a:xfrm>
            <a:off x="2894076" y="4480560"/>
            <a:ext cx="1892808" cy="365760"/>
          </a:xfrm>
          <a:prstGeom prst="roundRect">
            <a:avLst>
              <a:gd name="adj" fmla="val 20000"/>
            </a:avLst>
          </a:prstGeom>
          <a:solidFill>
            <a:schemeClr val="accent1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2" name="Text 17"/>
          <p:cNvSpPr txBox="1"/>
          <p:nvPr/>
        </p:nvSpPr>
        <p:spPr>
          <a:xfrm>
            <a:off x="2894076" y="4480560"/>
            <a:ext cx="18928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AggregationEvent</a:t>
            </a:r>
            <a:endParaRPr lang="en-US" sz="1150" dirty="0"/>
          </a:p>
        </p:txBody>
      </p:sp>
      <p:sp>
        <p:nvSpPr>
          <p:cNvPr id="23" name="Text 18"/>
          <p:cNvSpPr txBox="1"/>
          <p:nvPr/>
        </p:nvSpPr>
        <p:spPr>
          <a:xfrm>
            <a:off x="2802636" y="4892040"/>
            <a:ext cx="20756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chemeClr val="accent5"/>
                </a:solidFill>
              </a:rPr>
              <a:t>bizStep: packing</a:t>
            </a:r>
            <a:endParaRPr lang="en-US" sz="1200" dirty="0"/>
          </a:p>
        </p:txBody>
      </p:sp>
      <p:sp>
        <p:nvSpPr>
          <p:cNvPr id="24" name="Step 3"/>
          <p:cNvSpPr/>
          <p:nvPr/>
        </p:nvSpPr>
        <p:spPr>
          <a:xfrm>
            <a:off x="5056632" y="2514600"/>
            <a:ext cx="2075688" cy="2743200"/>
          </a:xfrm>
          <a:prstGeom prst="roundRect">
            <a:avLst>
              <a:gd name="adj" fmla="val 5286"/>
            </a:avLst>
          </a:prstGeom>
          <a:solidFill>
            <a:schemeClr val="bg2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5" name="Shape 20"/>
          <p:cNvSpPr/>
          <p:nvPr/>
        </p:nvSpPr>
        <p:spPr>
          <a:xfrm>
            <a:off x="5682996" y="2103120"/>
            <a:ext cx="822960" cy="822960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2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96966" y="2317090"/>
            <a:ext cx="395021" cy="395021"/>
          </a:xfrm>
          <a:prstGeom prst="rect">
            <a:avLst/>
          </a:prstGeom>
        </p:spPr>
      </p:pic>
      <p:sp>
        <p:nvSpPr>
          <p:cNvPr id="27" name="Text 21"/>
          <p:cNvSpPr txBox="1"/>
          <p:nvPr/>
        </p:nvSpPr>
        <p:spPr>
          <a:xfrm>
            <a:off x="5056632" y="3063240"/>
            <a:ext cx="20756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200" dirty="0">
                <a:solidFill>
                  <a:schemeClr val="accent3"/>
                </a:solidFill>
              </a:rPr>
              <a:t>STEP 3</a:t>
            </a:r>
            <a:endParaRPr lang="en-US" sz="1100" dirty="0"/>
          </a:p>
        </p:txBody>
      </p:sp>
      <p:sp>
        <p:nvSpPr>
          <p:cNvPr id="28" name="Text 22"/>
          <p:cNvSpPr txBox="1"/>
          <p:nvPr/>
        </p:nvSpPr>
        <p:spPr>
          <a:xfrm>
            <a:off x="5056632" y="3337560"/>
            <a:ext cx="207568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Attach</a:t>
            </a:r>
            <a:endParaRPr lang="en-US" sz="2200" dirty="0"/>
          </a:p>
        </p:txBody>
      </p:sp>
      <p:sp>
        <p:nvSpPr>
          <p:cNvPr id="29" name="Text 23"/>
          <p:cNvSpPr txBox="1"/>
          <p:nvPr/>
        </p:nvSpPr>
        <p:spPr>
          <a:xfrm>
            <a:off x="5239512" y="3794760"/>
            <a:ext cx="170992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dirty="0">
                <a:solidFill>
                  <a:schemeClr val="tx1"/>
                </a:solidFill>
              </a:rPr>
              <a:t>A temperature logger on the pallet</a:t>
            </a:r>
            <a:endParaRPr lang="en-US" sz="1400" dirty="0"/>
          </a:p>
        </p:txBody>
      </p:sp>
      <p:sp>
        <p:nvSpPr>
          <p:cNvPr id="30" name="Shape 24"/>
          <p:cNvSpPr/>
          <p:nvPr/>
        </p:nvSpPr>
        <p:spPr>
          <a:xfrm>
            <a:off x="5148072" y="4480560"/>
            <a:ext cx="1892808" cy="365760"/>
          </a:xfrm>
          <a:prstGeom prst="roundRect">
            <a:avLst>
              <a:gd name="adj" fmla="val 20000"/>
            </a:avLst>
          </a:prstGeom>
          <a:solidFill>
            <a:schemeClr val="accent1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1" name="Text 25"/>
          <p:cNvSpPr txBox="1"/>
          <p:nvPr/>
        </p:nvSpPr>
        <p:spPr>
          <a:xfrm>
            <a:off x="5148072" y="4480560"/>
            <a:ext cx="18928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AssociationEvent</a:t>
            </a:r>
            <a:endParaRPr lang="en-US" sz="1150" dirty="0"/>
          </a:p>
        </p:txBody>
      </p:sp>
      <p:sp>
        <p:nvSpPr>
          <p:cNvPr id="32" name="Text 26"/>
          <p:cNvSpPr txBox="1"/>
          <p:nvPr/>
        </p:nvSpPr>
        <p:spPr>
          <a:xfrm>
            <a:off x="5056632" y="4892040"/>
            <a:ext cx="20756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chemeClr val="accent5"/>
                </a:solidFill>
              </a:rPr>
              <a:t>bizStep: other</a:t>
            </a:r>
            <a:endParaRPr lang="en-US" sz="1200" dirty="0"/>
          </a:p>
        </p:txBody>
      </p:sp>
      <p:sp>
        <p:nvSpPr>
          <p:cNvPr id="33" name="Step 4"/>
          <p:cNvSpPr/>
          <p:nvPr/>
        </p:nvSpPr>
        <p:spPr>
          <a:xfrm>
            <a:off x="7310628" y="2514600"/>
            <a:ext cx="2075688" cy="2743200"/>
          </a:xfrm>
          <a:prstGeom prst="roundRect">
            <a:avLst>
              <a:gd name="adj" fmla="val 5286"/>
            </a:avLst>
          </a:prstGeom>
          <a:solidFill>
            <a:schemeClr val="bg2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4" name="Shape 28"/>
          <p:cNvSpPr/>
          <p:nvPr/>
        </p:nvSpPr>
        <p:spPr>
          <a:xfrm>
            <a:off x="7936992" y="2103120"/>
            <a:ext cx="822960" cy="822960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3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50962" y="2317090"/>
            <a:ext cx="395021" cy="395021"/>
          </a:xfrm>
          <a:prstGeom prst="rect">
            <a:avLst/>
          </a:prstGeom>
        </p:spPr>
      </p:pic>
      <p:sp>
        <p:nvSpPr>
          <p:cNvPr id="36" name="Text 29"/>
          <p:cNvSpPr txBox="1"/>
          <p:nvPr/>
        </p:nvSpPr>
        <p:spPr>
          <a:xfrm>
            <a:off x="7310628" y="3063240"/>
            <a:ext cx="20756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200" dirty="0">
                <a:solidFill>
                  <a:schemeClr val="accent3"/>
                </a:solidFill>
              </a:rPr>
              <a:t>STEP 4</a:t>
            </a:r>
            <a:endParaRPr lang="en-US" sz="1100" dirty="0"/>
          </a:p>
        </p:txBody>
      </p:sp>
      <p:sp>
        <p:nvSpPr>
          <p:cNvPr id="37" name="Text 30"/>
          <p:cNvSpPr txBox="1"/>
          <p:nvPr/>
        </p:nvSpPr>
        <p:spPr>
          <a:xfrm>
            <a:off x="7310628" y="3337560"/>
            <a:ext cx="207568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Link</a:t>
            </a:r>
            <a:endParaRPr lang="en-US" sz="2200" dirty="0"/>
          </a:p>
        </p:txBody>
      </p:sp>
      <p:sp>
        <p:nvSpPr>
          <p:cNvPr id="38" name="Text 31"/>
          <p:cNvSpPr txBox="1"/>
          <p:nvPr/>
        </p:nvSpPr>
        <p:spPr>
          <a:xfrm>
            <a:off x="7493508" y="3794760"/>
            <a:ext cx="170992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dirty="0">
                <a:solidFill>
                  <a:schemeClr val="tx1"/>
                </a:solidFill>
              </a:rPr>
              <a:t>Pallet linked to order 4711</a:t>
            </a:r>
            <a:endParaRPr lang="en-US" sz="1400" dirty="0"/>
          </a:p>
        </p:txBody>
      </p:sp>
      <p:sp>
        <p:nvSpPr>
          <p:cNvPr id="39" name="Shape 32"/>
          <p:cNvSpPr/>
          <p:nvPr/>
        </p:nvSpPr>
        <p:spPr>
          <a:xfrm>
            <a:off x="7402068" y="4480560"/>
            <a:ext cx="1892808" cy="365760"/>
          </a:xfrm>
          <a:prstGeom prst="roundRect">
            <a:avLst>
              <a:gd name="adj" fmla="val 20000"/>
            </a:avLst>
          </a:prstGeom>
          <a:solidFill>
            <a:schemeClr val="accent1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0" name="Text 33"/>
          <p:cNvSpPr txBox="1"/>
          <p:nvPr/>
        </p:nvSpPr>
        <p:spPr>
          <a:xfrm>
            <a:off x="7402068" y="4480560"/>
            <a:ext cx="18928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TransactionEvent</a:t>
            </a:r>
            <a:endParaRPr lang="en-US" sz="1150" dirty="0"/>
          </a:p>
        </p:txBody>
      </p:sp>
      <p:sp>
        <p:nvSpPr>
          <p:cNvPr id="41" name="Text 34"/>
          <p:cNvSpPr txBox="1"/>
          <p:nvPr/>
        </p:nvSpPr>
        <p:spPr>
          <a:xfrm>
            <a:off x="7310628" y="4892040"/>
            <a:ext cx="20756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chemeClr val="accent5"/>
                </a:solidFill>
              </a:rPr>
              <a:t>bizStep: staging_outbound</a:t>
            </a:r>
            <a:endParaRPr lang="en-US" sz="1200" dirty="0"/>
          </a:p>
        </p:txBody>
      </p:sp>
      <p:sp>
        <p:nvSpPr>
          <p:cNvPr id="42" name="Step 5"/>
          <p:cNvSpPr/>
          <p:nvPr/>
        </p:nvSpPr>
        <p:spPr>
          <a:xfrm>
            <a:off x="9564624" y="2514600"/>
            <a:ext cx="2075688" cy="2743200"/>
          </a:xfrm>
          <a:prstGeom prst="roundRect">
            <a:avLst>
              <a:gd name="adj" fmla="val 5286"/>
            </a:avLst>
          </a:prstGeom>
          <a:solidFill>
            <a:schemeClr val="bg2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3" name="Shape 36"/>
          <p:cNvSpPr/>
          <p:nvPr/>
        </p:nvSpPr>
        <p:spPr>
          <a:xfrm>
            <a:off x="10190988" y="2103120"/>
            <a:ext cx="822960" cy="822960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44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404958" y="2317090"/>
            <a:ext cx="395021" cy="395021"/>
          </a:xfrm>
          <a:prstGeom prst="rect">
            <a:avLst/>
          </a:prstGeom>
        </p:spPr>
      </p:pic>
      <p:sp>
        <p:nvSpPr>
          <p:cNvPr id="45" name="Text 37"/>
          <p:cNvSpPr txBox="1"/>
          <p:nvPr/>
        </p:nvSpPr>
        <p:spPr>
          <a:xfrm>
            <a:off x="9564624" y="3063240"/>
            <a:ext cx="20756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200" dirty="0">
                <a:solidFill>
                  <a:schemeClr val="accent3"/>
                </a:solidFill>
              </a:rPr>
              <a:t>STEP 5</a:t>
            </a:r>
            <a:endParaRPr lang="en-US" sz="1100" dirty="0"/>
          </a:p>
        </p:txBody>
      </p:sp>
      <p:sp>
        <p:nvSpPr>
          <p:cNvPr id="46" name="Text 38"/>
          <p:cNvSpPr txBox="1"/>
          <p:nvPr/>
        </p:nvSpPr>
        <p:spPr>
          <a:xfrm>
            <a:off x="9564624" y="3337560"/>
            <a:ext cx="207568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Ship</a:t>
            </a:r>
            <a:endParaRPr lang="en-US" sz="2200" dirty="0"/>
          </a:p>
        </p:txBody>
      </p:sp>
      <p:sp>
        <p:nvSpPr>
          <p:cNvPr id="47" name="Text 39"/>
          <p:cNvSpPr txBox="1"/>
          <p:nvPr/>
        </p:nvSpPr>
        <p:spPr>
          <a:xfrm>
            <a:off x="9747504" y="3794760"/>
            <a:ext cx="170992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dirty="0">
                <a:solidFill>
                  <a:schemeClr val="tx1"/>
                </a:solidFill>
              </a:rPr>
              <a:t>Pallet leaves for the shop</a:t>
            </a:r>
            <a:endParaRPr lang="en-US" sz="1400" dirty="0"/>
          </a:p>
        </p:txBody>
      </p:sp>
      <p:sp>
        <p:nvSpPr>
          <p:cNvPr id="48" name="Shape 40"/>
          <p:cNvSpPr/>
          <p:nvPr/>
        </p:nvSpPr>
        <p:spPr>
          <a:xfrm>
            <a:off x="9656064" y="4480560"/>
            <a:ext cx="1892808" cy="365760"/>
          </a:xfrm>
          <a:prstGeom prst="roundRect">
            <a:avLst>
              <a:gd name="adj" fmla="val 20000"/>
            </a:avLst>
          </a:prstGeom>
          <a:solidFill>
            <a:schemeClr val="accent1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9" name="Text 41"/>
          <p:cNvSpPr txBox="1"/>
          <p:nvPr/>
        </p:nvSpPr>
        <p:spPr>
          <a:xfrm>
            <a:off x="9656064" y="4480560"/>
            <a:ext cx="18928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ObjectEvent</a:t>
            </a:r>
            <a:endParaRPr lang="en-US" sz="1150" dirty="0"/>
          </a:p>
        </p:txBody>
      </p:sp>
      <p:sp>
        <p:nvSpPr>
          <p:cNvPr id="50" name="Text 42"/>
          <p:cNvSpPr txBox="1"/>
          <p:nvPr/>
        </p:nvSpPr>
        <p:spPr>
          <a:xfrm>
            <a:off x="9564624" y="4892040"/>
            <a:ext cx="20756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chemeClr val="accent5"/>
                </a:solidFill>
              </a:rPr>
              <a:t>bizStep: shipping</a:t>
            </a:r>
            <a:endParaRPr lang="en-US" sz="1200" dirty="0"/>
          </a:p>
        </p:txBody>
      </p:sp>
      <p:sp>
        <p:nvSpPr>
          <p:cNvPr id="51" name="Text 43"/>
          <p:cNvSpPr txBox="1"/>
          <p:nvPr/>
        </p:nvSpPr>
        <p:spPr>
          <a:xfrm>
            <a:off x="548640" y="557784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chemeClr val="accent5"/>
                </a:solidFill>
              </a:rPr>
              <a:t>Demo prefix 952, illustrative numbers.</a:t>
            </a:r>
            <a:endParaRPr lang="en-US" sz="1100" dirty="0"/>
          </a:p>
        </p:txBody>
      </p:sp>
      <p:sp>
        <p:nvSpPr>
          <p:cNvPr id="4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38404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5</a:t>
            </a:fld>
            <a:endParaRPr lang="en-US"/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949E2598-633A-838D-86E5-1BAC05D65501}"/>
              </a:ext>
            </a:extLst>
          </p:cNvPr>
          <p:cNvSpPr txBox="1"/>
          <p:nvPr/>
        </p:nvSpPr>
        <p:spPr>
          <a:xfrm>
            <a:off x="1502979" y="5938345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GB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body" idx="103" hasCustomPrompt="1"/>
          </p:nvPr>
        </p:nvSpPr>
        <p:spPr>
          <a:xfrm>
            <a:off x="548640" y="38404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chemeClr val="accent3"/>
                </a:solidFill>
              </a:rPr>
              <a:t>ONE KEY FIELD</a:t>
            </a:r>
            <a:endParaRPr lang="en-US" sz="1100" dirty="0"/>
          </a:p>
        </p:txBody>
      </p:sp>
      <p:sp>
        <p:nvSpPr>
          <p:cNvPr id="3" name="Text 1"/>
          <p:cNvSpPr>
            <a:spLocks noGrp="1"/>
          </p:cNvSpPr>
          <p:nvPr>
            <p:ph type="title" idx="104" hasCustomPrompt="1"/>
          </p:nvPr>
        </p:nvSpPr>
        <p:spPr>
          <a:xfrm>
            <a:off x="548640" y="68580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chemeClr val="tx2"/>
                </a:solidFill>
              </a:rPr>
              <a:t>ADD, OBSERVE or DELETE?</a:t>
            </a:r>
            <a:endParaRPr lang="en-US" sz="3600" dirty="0"/>
          </a:p>
        </p:txBody>
      </p:sp>
      <p:sp>
        <p:nvSpPr>
          <p:cNvPr id="5" name="ADD"/>
          <p:cNvSpPr/>
          <p:nvPr/>
        </p:nvSpPr>
        <p:spPr>
          <a:xfrm>
            <a:off x="548640" y="1783080"/>
            <a:ext cx="3429000" cy="2377440"/>
          </a:xfrm>
          <a:prstGeom prst="roundRect">
            <a:avLst>
              <a:gd name="adj" fmla="val 4615"/>
            </a:avLst>
          </a:prstGeom>
          <a:solidFill>
            <a:schemeClr val="bg2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6" name="Shape 3"/>
          <p:cNvSpPr/>
          <p:nvPr/>
        </p:nvSpPr>
        <p:spPr>
          <a:xfrm>
            <a:off x="914400" y="2148840"/>
            <a:ext cx="731520" cy="731520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4595" y="2339035"/>
            <a:ext cx="351130" cy="351130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1828800" y="2148840"/>
            <a:ext cx="1965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ADD</a:t>
            </a:r>
            <a:endParaRPr lang="en-US" sz="2600" dirty="0"/>
          </a:p>
        </p:txBody>
      </p:sp>
      <p:sp>
        <p:nvSpPr>
          <p:cNvPr id="9" name="Text 5"/>
          <p:cNvSpPr txBox="1"/>
          <p:nvPr/>
        </p:nvSpPr>
        <p:spPr>
          <a:xfrm>
            <a:off x="914400" y="3108960"/>
            <a:ext cx="2697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chemeClr val="tx1"/>
                </a:solidFill>
              </a:rPr>
              <a:t>Create or add</a:t>
            </a:r>
            <a:endParaRPr lang="en-US" sz="1900" dirty="0"/>
          </a:p>
        </p:txBody>
      </p:sp>
      <p:sp>
        <p:nvSpPr>
          <p:cNvPr id="10" name="Text 6"/>
          <p:cNvSpPr txBox="1"/>
          <p:nvPr/>
        </p:nvSpPr>
        <p:spPr>
          <a:xfrm>
            <a:off x="914400" y="3566160"/>
            <a:ext cx="2697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i="1" dirty="0">
                <a:solidFill>
                  <a:schemeClr val="accent5"/>
                </a:solidFill>
              </a:rPr>
              <a:t>Boxes added to a pallet</a:t>
            </a:r>
            <a:endParaRPr lang="en-US" sz="1500" dirty="0"/>
          </a:p>
        </p:txBody>
      </p:sp>
      <p:sp>
        <p:nvSpPr>
          <p:cNvPr id="11" name="OBSERVE"/>
          <p:cNvSpPr/>
          <p:nvPr/>
        </p:nvSpPr>
        <p:spPr>
          <a:xfrm>
            <a:off x="4366260" y="1783080"/>
            <a:ext cx="3429000" cy="2377440"/>
          </a:xfrm>
          <a:prstGeom prst="roundRect">
            <a:avLst>
              <a:gd name="adj" fmla="val 4615"/>
            </a:avLst>
          </a:prstGeom>
          <a:solidFill>
            <a:schemeClr val="bg2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2" name="Shape 8"/>
          <p:cNvSpPr/>
          <p:nvPr/>
        </p:nvSpPr>
        <p:spPr>
          <a:xfrm>
            <a:off x="4732020" y="2148840"/>
            <a:ext cx="731520" cy="731520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22215" y="2339035"/>
            <a:ext cx="351130" cy="351130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5646420" y="2148840"/>
            <a:ext cx="1965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OBSERVE</a:t>
            </a:r>
            <a:endParaRPr lang="en-US" sz="2600" dirty="0"/>
          </a:p>
        </p:txBody>
      </p:sp>
      <p:sp>
        <p:nvSpPr>
          <p:cNvPr id="15" name="Text 10"/>
          <p:cNvSpPr txBox="1"/>
          <p:nvPr/>
        </p:nvSpPr>
        <p:spPr>
          <a:xfrm>
            <a:off x="4732020" y="3108960"/>
            <a:ext cx="2697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chemeClr val="tx1"/>
                </a:solidFill>
              </a:rPr>
              <a:t>Observe existing state</a:t>
            </a:r>
            <a:endParaRPr lang="en-US" sz="1900" dirty="0"/>
          </a:p>
        </p:txBody>
      </p:sp>
      <p:sp>
        <p:nvSpPr>
          <p:cNvPr id="16" name="Text 11"/>
          <p:cNvSpPr txBox="1"/>
          <p:nvPr/>
        </p:nvSpPr>
        <p:spPr>
          <a:xfrm>
            <a:off x="4732020" y="3566160"/>
            <a:ext cx="2697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i="1" dirty="0">
                <a:solidFill>
                  <a:schemeClr val="accent5"/>
                </a:solidFill>
              </a:rPr>
              <a:t>Pallet scanned at receiving</a:t>
            </a:r>
            <a:endParaRPr lang="en-US" sz="1500" dirty="0"/>
          </a:p>
        </p:txBody>
      </p:sp>
      <p:sp>
        <p:nvSpPr>
          <p:cNvPr id="17" name="DELETE"/>
          <p:cNvSpPr/>
          <p:nvPr/>
        </p:nvSpPr>
        <p:spPr>
          <a:xfrm>
            <a:off x="8183880" y="1783080"/>
            <a:ext cx="3429000" cy="2377440"/>
          </a:xfrm>
          <a:prstGeom prst="roundRect">
            <a:avLst>
              <a:gd name="adj" fmla="val 4615"/>
            </a:avLst>
          </a:prstGeom>
          <a:solidFill>
            <a:schemeClr val="bg2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8" name="Shape 13"/>
          <p:cNvSpPr/>
          <p:nvPr/>
        </p:nvSpPr>
        <p:spPr>
          <a:xfrm>
            <a:off x="8549640" y="2148840"/>
            <a:ext cx="731520" cy="731520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39835" y="2339035"/>
            <a:ext cx="351130" cy="351130"/>
          </a:xfrm>
          <a:prstGeom prst="rect">
            <a:avLst/>
          </a:prstGeom>
        </p:spPr>
      </p:pic>
      <p:sp>
        <p:nvSpPr>
          <p:cNvPr id="20" name="Text 14"/>
          <p:cNvSpPr txBox="1"/>
          <p:nvPr/>
        </p:nvSpPr>
        <p:spPr>
          <a:xfrm>
            <a:off x="9464040" y="2148840"/>
            <a:ext cx="1965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DELETE</a:t>
            </a:r>
            <a:endParaRPr lang="en-US" sz="2600" dirty="0"/>
          </a:p>
        </p:txBody>
      </p:sp>
      <p:sp>
        <p:nvSpPr>
          <p:cNvPr id="21" name="Text 15"/>
          <p:cNvSpPr txBox="1"/>
          <p:nvPr/>
        </p:nvSpPr>
        <p:spPr>
          <a:xfrm>
            <a:off x="8549640" y="3108960"/>
            <a:ext cx="2697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chemeClr val="tx1"/>
                </a:solidFill>
              </a:rPr>
              <a:t>Remove or end</a:t>
            </a:r>
            <a:endParaRPr lang="en-US" sz="1900" dirty="0"/>
          </a:p>
        </p:txBody>
      </p:sp>
      <p:sp>
        <p:nvSpPr>
          <p:cNvPr id="22" name="Text 16"/>
          <p:cNvSpPr txBox="1"/>
          <p:nvPr/>
        </p:nvSpPr>
        <p:spPr>
          <a:xfrm>
            <a:off x="8549640" y="3566160"/>
            <a:ext cx="2697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i="1" dirty="0">
                <a:solidFill>
                  <a:schemeClr val="accent5"/>
                </a:solidFill>
              </a:rPr>
              <a:t>Boxes removed from the pallet</a:t>
            </a:r>
            <a:endParaRPr lang="en-US" sz="1500" dirty="0"/>
          </a:p>
        </p:txBody>
      </p:sp>
      <p:sp>
        <p:nvSpPr>
          <p:cNvPr id="23" name="Key message"/>
          <p:cNvSpPr/>
          <p:nvPr/>
        </p:nvSpPr>
        <p:spPr>
          <a:xfrm>
            <a:off x="1463040" y="4480560"/>
            <a:ext cx="9262872" cy="868680"/>
          </a:xfrm>
          <a:prstGeom prst="roundRect">
            <a:avLst>
              <a:gd name="adj" fmla="val 12632"/>
            </a:avLst>
          </a:prstGeom>
          <a:solidFill>
            <a:schemeClr val="bg2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4" name="Shape 18"/>
          <p:cNvSpPr/>
          <p:nvPr/>
        </p:nvSpPr>
        <p:spPr>
          <a:xfrm>
            <a:off x="1691640" y="4617720"/>
            <a:ext cx="594360" cy="594360"/>
          </a:xfrm>
          <a:prstGeom prst="ellipse">
            <a:avLst/>
          </a:prstGeom>
          <a:solidFill>
            <a:schemeClr val="accent3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2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846174" y="4772254"/>
            <a:ext cx="285293" cy="285293"/>
          </a:xfrm>
          <a:prstGeom prst="rect">
            <a:avLst/>
          </a:prstGeom>
        </p:spPr>
      </p:pic>
      <p:sp>
        <p:nvSpPr>
          <p:cNvPr id="26" name="Text 19"/>
          <p:cNvSpPr txBox="1"/>
          <p:nvPr/>
        </p:nvSpPr>
        <p:spPr>
          <a:xfrm>
            <a:off x="2468880" y="4480560"/>
            <a:ext cx="8138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chemeClr val="tx1"/>
                </a:solidFill>
              </a:rPr>
              <a:t>TransformationEvent has no action field: its input and output lists describe the transformation.</a:t>
            </a:r>
            <a:endParaRPr lang="en-US" sz="1700" dirty="0"/>
          </a:p>
        </p:txBody>
      </p:sp>
      <p:sp>
        <p:nvSpPr>
          <p:cNvPr id="4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38404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body" idx="103" hasCustomPrompt="1"/>
          </p:nvPr>
        </p:nvSpPr>
        <p:spPr>
          <a:xfrm>
            <a:off x="548640" y="38404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chemeClr val="accent3"/>
                </a:solidFill>
              </a:rPr>
              <a:t>THE BASICS</a:t>
            </a:r>
            <a:endParaRPr lang="en-US" sz="1100" dirty="0"/>
          </a:p>
        </p:txBody>
      </p:sp>
      <p:sp>
        <p:nvSpPr>
          <p:cNvPr id="3" name="Text 1"/>
          <p:cNvSpPr>
            <a:spLocks noGrp="1"/>
          </p:cNvSpPr>
          <p:nvPr>
            <p:ph type="title" idx="104" hasCustomPrompt="1"/>
          </p:nvPr>
        </p:nvSpPr>
        <p:spPr>
          <a:xfrm>
            <a:off x="548640" y="68580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chemeClr val="tx2"/>
                </a:solidFill>
              </a:rPr>
              <a:t>Inside a TransformationEvent</a:t>
            </a:r>
            <a:endParaRPr lang="en-US" sz="3600" dirty="0"/>
          </a:p>
        </p:txBody>
      </p:sp>
      <p:sp>
        <p:nvSpPr>
          <p:cNvPr id="5" name="Code panel"/>
          <p:cNvSpPr/>
          <p:nvPr/>
        </p:nvSpPr>
        <p:spPr>
          <a:xfrm>
            <a:off x="548640" y="1600200"/>
            <a:ext cx="8595360" cy="4160520"/>
          </a:xfrm>
          <a:prstGeom prst="roundRect">
            <a:avLst>
              <a:gd name="adj" fmla="val 2637"/>
            </a:avLst>
          </a:prstGeom>
          <a:solidFill>
            <a:schemeClr val="accent4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822960" y="173736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150" dirty="0"/>
          </a:p>
        </p:txBody>
      </p:sp>
      <p:sp>
        <p:nvSpPr>
          <p:cNvPr id="7" name="Text 4"/>
          <p:cNvSpPr txBox="1"/>
          <p:nvPr/>
        </p:nvSpPr>
        <p:spPr>
          <a:xfrm>
            <a:off x="822960" y="196596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"type": "TransformationEvent",</a:t>
            </a:r>
            <a:endParaRPr lang="en-US" sz="1150" dirty="0"/>
          </a:p>
        </p:txBody>
      </p:sp>
      <p:sp>
        <p:nvSpPr>
          <p:cNvPr id="8" name="Text 5"/>
          <p:cNvSpPr txBox="1"/>
          <p:nvPr/>
        </p:nvSpPr>
        <p:spPr>
          <a:xfrm>
            <a:off x="822960" y="219456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"eventTime": "2026-10-26T08:00:00+01:00",</a:t>
            </a:r>
            <a:endParaRPr lang="en-US" sz="1150" dirty="0"/>
          </a:p>
        </p:txBody>
      </p:sp>
      <p:sp>
        <p:nvSpPr>
          <p:cNvPr id="9" name="Tag When"/>
          <p:cNvSpPr/>
          <p:nvPr/>
        </p:nvSpPr>
        <p:spPr>
          <a:xfrm>
            <a:off x="9418320" y="2221992"/>
            <a:ext cx="1737360" cy="402336"/>
          </a:xfrm>
          <a:prstGeom prst="roundRect">
            <a:avLst>
              <a:gd name="adj" fmla="val 18182"/>
            </a:avLst>
          </a:prstGeom>
          <a:solidFill>
            <a:schemeClr val="accent1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9418320" y="2221992"/>
            <a:ext cx="1737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When</a:t>
            </a:r>
            <a:endParaRPr lang="en-US" sz="1400" dirty="0"/>
          </a:p>
        </p:txBody>
      </p:sp>
      <p:sp>
        <p:nvSpPr>
          <p:cNvPr id="11" name="Text 8"/>
          <p:cNvSpPr txBox="1"/>
          <p:nvPr/>
        </p:nvSpPr>
        <p:spPr>
          <a:xfrm>
            <a:off x="822960" y="242316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"eventTimeZoneOffset": "+01:00",</a:t>
            </a:r>
            <a:endParaRPr lang="en-US" sz="1150" dirty="0"/>
          </a:p>
        </p:txBody>
      </p:sp>
      <p:sp>
        <p:nvSpPr>
          <p:cNvPr id="12" name="Text 9"/>
          <p:cNvSpPr txBox="1"/>
          <p:nvPr/>
        </p:nvSpPr>
        <p:spPr>
          <a:xfrm>
            <a:off x="822960" y="265176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"inputQuantityList": [</a:t>
            </a:r>
            <a:endParaRPr lang="en-US" sz="1150" dirty="0"/>
          </a:p>
        </p:txBody>
      </p:sp>
      <p:sp>
        <p:nvSpPr>
          <p:cNvPr id="13" name="Tag Inputs"/>
          <p:cNvSpPr/>
          <p:nvPr/>
        </p:nvSpPr>
        <p:spPr>
          <a:xfrm>
            <a:off x="9418320" y="2679192"/>
            <a:ext cx="1737360" cy="1088136"/>
          </a:xfrm>
          <a:prstGeom prst="roundRect">
            <a:avLst>
              <a:gd name="adj" fmla="val 6723"/>
            </a:avLst>
          </a:prstGeom>
          <a:solidFill>
            <a:schemeClr val="accent3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9418320" y="2679192"/>
            <a:ext cx="1737360" cy="10881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Inputs</a:t>
            </a:r>
            <a:endParaRPr lang="en-US" sz="1400" dirty="0"/>
          </a:p>
        </p:txBody>
      </p:sp>
      <p:sp>
        <p:nvSpPr>
          <p:cNvPr id="15" name="Text 12"/>
          <p:cNvSpPr txBox="1"/>
          <p:nvPr/>
        </p:nvSpPr>
        <p:spPr>
          <a:xfrm>
            <a:off x="822960" y="288036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{ "epcClass": "https://id.gs1.org/01/09520123000011/10/RM2643A",</a:t>
            </a:r>
            <a:endParaRPr lang="en-US" sz="1150" dirty="0"/>
          </a:p>
        </p:txBody>
      </p:sp>
      <p:sp>
        <p:nvSpPr>
          <p:cNvPr id="16" name="Text 13"/>
          <p:cNvSpPr txBox="1"/>
          <p:nvPr/>
        </p:nvSpPr>
        <p:spPr>
          <a:xfrm>
            <a:off x="822960" y="310896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"quantity": 120, "uom": "KGM" },</a:t>
            </a:r>
            <a:endParaRPr lang="en-US" sz="1150" dirty="0"/>
          </a:p>
        </p:txBody>
      </p:sp>
      <p:sp>
        <p:nvSpPr>
          <p:cNvPr id="17" name="Text 14"/>
          <p:cNvSpPr txBox="1"/>
          <p:nvPr/>
        </p:nvSpPr>
        <p:spPr>
          <a:xfrm>
            <a:off x="822960" y="333756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{ "epcClass": "https://id.gs1.org/01/09520123000028/10/RM2643B",</a:t>
            </a:r>
            <a:endParaRPr lang="en-US" sz="1150" dirty="0"/>
          </a:p>
        </p:txBody>
      </p:sp>
      <p:sp>
        <p:nvSpPr>
          <p:cNvPr id="18" name="Text 15"/>
          <p:cNvSpPr txBox="1"/>
          <p:nvPr/>
        </p:nvSpPr>
        <p:spPr>
          <a:xfrm>
            <a:off x="822960" y="356616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"quantity": 30, "uom": "KGM" }</a:t>
            </a:r>
            <a:endParaRPr lang="en-US" sz="1150" dirty="0"/>
          </a:p>
        </p:txBody>
      </p:sp>
      <p:sp>
        <p:nvSpPr>
          <p:cNvPr id="19" name="Text 16"/>
          <p:cNvSpPr txBox="1"/>
          <p:nvPr/>
        </p:nvSpPr>
        <p:spPr>
          <a:xfrm>
            <a:off x="822960" y="379476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],</a:t>
            </a:r>
            <a:endParaRPr lang="en-US" sz="1150" dirty="0"/>
          </a:p>
        </p:txBody>
      </p:sp>
      <p:sp>
        <p:nvSpPr>
          <p:cNvPr id="20" name="Text 17"/>
          <p:cNvSpPr txBox="1"/>
          <p:nvPr/>
        </p:nvSpPr>
        <p:spPr>
          <a:xfrm>
            <a:off x="822960" y="402336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"outputQuantityList": [</a:t>
            </a:r>
            <a:endParaRPr lang="en-US" sz="1150" dirty="0"/>
          </a:p>
        </p:txBody>
      </p:sp>
      <p:sp>
        <p:nvSpPr>
          <p:cNvPr id="21" name="Tag Outputs"/>
          <p:cNvSpPr/>
          <p:nvPr/>
        </p:nvSpPr>
        <p:spPr>
          <a:xfrm>
            <a:off x="9418320" y="4050792"/>
            <a:ext cx="1737360" cy="630936"/>
          </a:xfrm>
          <a:prstGeom prst="roundRect">
            <a:avLst>
              <a:gd name="adj" fmla="val 11594"/>
            </a:avLst>
          </a:prstGeom>
          <a:solidFill>
            <a:schemeClr val="accent3"/>
          </a:solidFill>
          <a:ln/>
        </p:spPr>
      </p:sp>
      <p:sp>
        <p:nvSpPr>
          <p:cNvPr id="22" name="Text 19"/>
          <p:cNvSpPr txBox="1"/>
          <p:nvPr/>
        </p:nvSpPr>
        <p:spPr>
          <a:xfrm>
            <a:off x="9418320" y="4050792"/>
            <a:ext cx="1737360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Outputs</a:t>
            </a:r>
            <a:endParaRPr lang="en-US" sz="1400" dirty="0"/>
          </a:p>
        </p:txBody>
      </p:sp>
      <p:sp>
        <p:nvSpPr>
          <p:cNvPr id="23" name="Text 20"/>
          <p:cNvSpPr txBox="1"/>
          <p:nvPr/>
        </p:nvSpPr>
        <p:spPr>
          <a:xfrm>
            <a:off x="822960" y="425196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{ "epcClass": "https://id.gs1.org/01/09520123456788/10/LOT2026A",</a:t>
            </a:r>
            <a:endParaRPr lang="en-US" sz="1150" dirty="0"/>
          </a:p>
        </p:txBody>
      </p:sp>
      <p:sp>
        <p:nvSpPr>
          <p:cNvPr id="24" name="Text 21"/>
          <p:cNvSpPr txBox="1"/>
          <p:nvPr/>
        </p:nvSpPr>
        <p:spPr>
          <a:xfrm>
            <a:off x="822960" y="448056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"quantity": 1500 }</a:t>
            </a:r>
            <a:endParaRPr lang="en-US" sz="1150" dirty="0"/>
          </a:p>
        </p:txBody>
      </p:sp>
      <p:sp>
        <p:nvSpPr>
          <p:cNvPr id="25" name="Text 22"/>
          <p:cNvSpPr txBox="1"/>
          <p:nvPr/>
        </p:nvSpPr>
        <p:spPr>
          <a:xfrm>
            <a:off x="822960" y="470916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],</a:t>
            </a:r>
            <a:endParaRPr lang="en-US" sz="1150" dirty="0"/>
          </a:p>
        </p:txBody>
      </p:sp>
      <p:sp>
        <p:nvSpPr>
          <p:cNvPr id="26" name="Text 23"/>
          <p:cNvSpPr txBox="1"/>
          <p:nvPr/>
        </p:nvSpPr>
        <p:spPr>
          <a:xfrm>
            <a:off x="822960" y="493776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"bizStep": "commissioning",</a:t>
            </a:r>
            <a:endParaRPr lang="en-US" sz="1150" dirty="0"/>
          </a:p>
        </p:txBody>
      </p:sp>
      <p:sp>
        <p:nvSpPr>
          <p:cNvPr id="27" name="Tag Why"/>
          <p:cNvSpPr/>
          <p:nvPr/>
        </p:nvSpPr>
        <p:spPr>
          <a:xfrm>
            <a:off x="9418320" y="4965192"/>
            <a:ext cx="1737360" cy="173736"/>
          </a:xfrm>
          <a:prstGeom prst="roundRect">
            <a:avLst>
              <a:gd name="adj" fmla="val 42105"/>
            </a:avLst>
          </a:prstGeom>
          <a:solidFill>
            <a:schemeClr val="accent1"/>
          </a:solidFill>
          <a:ln/>
        </p:spPr>
      </p:sp>
      <p:sp>
        <p:nvSpPr>
          <p:cNvPr id="28" name="Text 25"/>
          <p:cNvSpPr txBox="1"/>
          <p:nvPr/>
        </p:nvSpPr>
        <p:spPr>
          <a:xfrm>
            <a:off x="9418320" y="4965192"/>
            <a:ext cx="173736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</a:rPr>
              <a:t>Why</a:t>
            </a:r>
            <a:endParaRPr lang="en-US" sz="1200" dirty="0"/>
          </a:p>
        </p:txBody>
      </p:sp>
      <p:sp>
        <p:nvSpPr>
          <p:cNvPr id="29" name="Text 26"/>
          <p:cNvSpPr txBox="1"/>
          <p:nvPr/>
        </p:nvSpPr>
        <p:spPr>
          <a:xfrm>
            <a:off x="822960" y="516636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"readPoint": { "id": "https://id.gs1.org/414/9520123456788" }</a:t>
            </a:r>
            <a:endParaRPr lang="en-US" sz="1150" dirty="0"/>
          </a:p>
        </p:txBody>
      </p:sp>
      <p:sp>
        <p:nvSpPr>
          <p:cNvPr id="30" name="Tag Where"/>
          <p:cNvSpPr/>
          <p:nvPr/>
        </p:nvSpPr>
        <p:spPr>
          <a:xfrm>
            <a:off x="9418320" y="5193792"/>
            <a:ext cx="1737360" cy="173736"/>
          </a:xfrm>
          <a:prstGeom prst="roundRect">
            <a:avLst>
              <a:gd name="adj" fmla="val 42105"/>
            </a:avLst>
          </a:prstGeom>
          <a:solidFill>
            <a:schemeClr val="accent1"/>
          </a:solidFill>
          <a:ln/>
        </p:spPr>
      </p:sp>
      <p:sp>
        <p:nvSpPr>
          <p:cNvPr id="31" name="Text 28"/>
          <p:cNvSpPr txBox="1"/>
          <p:nvPr/>
        </p:nvSpPr>
        <p:spPr>
          <a:xfrm>
            <a:off x="9418320" y="5193792"/>
            <a:ext cx="173736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</a:rPr>
              <a:t>Where</a:t>
            </a:r>
            <a:endParaRPr lang="en-US" sz="1200" dirty="0"/>
          </a:p>
        </p:txBody>
      </p:sp>
      <p:sp>
        <p:nvSpPr>
          <p:cNvPr id="32" name="Text 29"/>
          <p:cNvSpPr txBox="1"/>
          <p:nvPr/>
        </p:nvSpPr>
        <p:spPr>
          <a:xfrm>
            <a:off x="822960" y="539496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50" dirty="0"/>
          </a:p>
        </p:txBody>
      </p:sp>
      <p:sp>
        <p:nvSpPr>
          <p:cNvPr id="33" name="Text 30"/>
          <p:cNvSpPr txBox="1"/>
          <p:nvPr/>
        </p:nvSpPr>
        <p:spPr>
          <a:xfrm>
            <a:off x="548640" y="585216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chemeClr val="accent5"/>
                </a:solidFill>
              </a:rPr>
              <a:t>Simplified EPCIS 2.0 TransformationEvent in JSON format.</a:t>
            </a:r>
            <a:endParaRPr lang="en-US" sz="1100" dirty="0"/>
          </a:p>
        </p:txBody>
      </p:sp>
      <p:sp>
        <p:nvSpPr>
          <p:cNvPr id="4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38404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body" idx="103" hasCustomPrompt="1"/>
          </p:nvPr>
        </p:nvSpPr>
        <p:spPr>
          <a:xfrm>
            <a:off x="548640" y="38404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chemeClr val="accent3"/>
                </a:solidFill>
              </a:rPr>
              <a:t>COMMON MIX-UP</a:t>
            </a:r>
            <a:endParaRPr lang="en-US" sz="1100" dirty="0"/>
          </a:p>
        </p:txBody>
      </p:sp>
      <p:sp>
        <p:nvSpPr>
          <p:cNvPr id="3" name="Text 1"/>
          <p:cNvSpPr>
            <a:spLocks noGrp="1"/>
          </p:cNvSpPr>
          <p:nvPr>
            <p:ph type="title" idx="104" hasCustomPrompt="1"/>
          </p:nvPr>
        </p:nvSpPr>
        <p:spPr>
          <a:xfrm>
            <a:off x="548640" y="68580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chemeClr val="tx2"/>
                </a:solidFill>
              </a:rPr>
              <a:t>Packed Inside or Attached?</a:t>
            </a:r>
            <a:endParaRPr lang="en-US" sz="3600" dirty="0"/>
          </a:p>
        </p:txBody>
      </p:sp>
      <p:sp>
        <p:nvSpPr>
          <p:cNvPr id="5" name="AggregationEvent"/>
          <p:cNvSpPr/>
          <p:nvPr/>
        </p:nvSpPr>
        <p:spPr>
          <a:xfrm>
            <a:off x="548640" y="1783080"/>
            <a:ext cx="5394960" cy="3429000"/>
          </a:xfrm>
          <a:prstGeom prst="roundRect">
            <a:avLst>
              <a:gd name="adj" fmla="val 3200"/>
            </a:avLst>
          </a:prstGeom>
          <a:solidFill>
            <a:schemeClr val="bg2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6" name="Shape 3"/>
          <p:cNvSpPr/>
          <p:nvPr/>
        </p:nvSpPr>
        <p:spPr>
          <a:xfrm>
            <a:off x="914400" y="2148840"/>
            <a:ext cx="731520" cy="731520"/>
          </a:xfrm>
          <a:prstGeom prst="ellipse">
            <a:avLst/>
          </a:prstGeom>
          <a:solidFill>
            <a:srgbClr val="0B4A86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4595" y="2339035"/>
            <a:ext cx="351130" cy="351130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1828800" y="2148840"/>
            <a:ext cx="3931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AggregationEvent</a:t>
            </a:r>
            <a:endParaRPr lang="en-US" sz="2000" dirty="0"/>
          </a:p>
        </p:txBody>
      </p:sp>
      <p:sp>
        <p:nvSpPr>
          <p:cNvPr id="9" name="Text 5"/>
          <p:cNvSpPr txBox="1"/>
          <p:nvPr/>
        </p:nvSpPr>
        <p:spPr>
          <a:xfrm>
            <a:off x="914400" y="3108960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pallet contains the products</a:t>
            </a:r>
            <a:endParaRPr lang="en-US" sz="2100" dirty="0"/>
          </a:p>
        </p:txBody>
      </p:sp>
      <p:sp>
        <p:nvSpPr>
          <p:cNvPr id="10" name="Text 6"/>
          <p:cNvSpPr txBox="1"/>
          <p:nvPr/>
        </p:nvSpPr>
        <p:spPr>
          <a:xfrm>
            <a:off x="914400" y="3703320"/>
            <a:ext cx="46634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parentID: the pallet (SSCC)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childEPCs: the products inside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Ends when the pallet is unpacked</a:t>
            </a:r>
            <a:endParaRPr lang="en-US" sz="1600" dirty="0"/>
          </a:p>
        </p:txBody>
      </p:sp>
      <p:sp>
        <p:nvSpPr>
          <p:cNvPr id="11" name="AssociationEvent"/>
          <p:cNvSpPr/>
          <p:nvPr/>
        </p:nvSpPr>
        <p:spPr>
          <a:xfrm>
            <a:off x="6245352" y="1783080"/>
            <a:ext cx="5394960" cy="3429000"/>
          </a:xfrm>
          <a:prstGeom prst="roundRect">
            <a:avLst>
              <a:gd name="adj" fmla="val 3200"/>
            </a:avLst>
          </a:prstGeom>
          <a:solidFill>
            <a:schemeClr val="accent1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2" name="Shape 8"/>
          <p:cNvSpPr/>
          <p:nvPr/>
        </p:nvSpPr>
        <p:spPr>
          <a:xfrm>
            <a:off x="6611112" y="2148840"/>
            <a:ext cx="731520" cy="731520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01307" y="2339035"/>
            <a:ext cx="351130" cy="351130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7525512" y="2148840"/>
            <a:ext cx="3931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AssociationEvent</a:t>
            </a:r>
            <a:endParaRPr lang="en-US" sz="2000" dirty="0"/>
          </a:p>
        </p:txBody>
      </p:sp>
      <p:sp>
        <p:nvSpPr>
          <p:cNvPr id="15" name="Text 10"/>
          <p:cNvSpPr txBox="1"/>
          <p:nvPr/>
        </p:nvSpPr>
        <p:spPr>
          <a:xfrm>
            <a:off x="6611112" y="3108960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logger travels with the pallet</a:t>
            </a:r>
            <a:endParaRPr lang="en-US" sz="2100" dirty="0"/>
          </a:p>
        </p:txBody>
      </p:sp>
      <p:sp>
        <p:nvSpPr>
          <p:cNvPr id="16" name="Text 11"/>
          <p:cNvSpPr txBox="1"/>
          <p:nvPr/>
        </p:nvSpPr>
        <p:spPr>
          <a:xfrm>
            <a:off x="6611112" y="3703320"/>
            <a:ext cx="46634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parentID: the pallet (SSCC)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childEPCs: the logger (GIAI)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Ends when the logger is removed</a:t>
            </a:r>
            <a:endParaRPr lang="en-US" sz="1600" dirty="0"/>
          </a:p>
        </p:txBody>
      </p:sp>
      <p:sp>
        <p:nvSpPr>
          <p:cNvPr id="17" name="Text 12"/>
          <p:cNvSpPr txBox="1"/>
          <p:nvPr/>
        </p:nvSpPr>
        <p:spPr>
          <a:xfrm>
            <a:off x="548640" y="544068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i="1" dirty="0">
                <a:solidFill>
                  <a:schemeClr val="accent5"/>
                </a:solidFill>
              </a:rPr>
              <a:t>Choose by relationship: physical contents → Aggregation; separate association → Association.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38404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body" idx="103" hasCustomPrompt="1"/>
          </p:nvPr>
        </p:nvSpPr>
        <p:spPr>
          <a:xfrm>
            <a:off x="548640" y="38404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chemeClr val="accent3"/>
                </a:solidFill>
              </a:rPr>
              <a:t>QUICK CHECKLIST</a:t>
            </a:r>
            <a:endParaRPr lang="en-US" sz="1100" dirty="0"/>
          </a:p>
        </p:txBody>
      </p:sp>
      <p:sp>
        <p:nvSpPr>
          <p:cNvPr id="3" name="Text 1"/>
          <p:cNvSpPr>
            <a:spLocks noGrp="1"/>
          </p:cNvSpPr>
          <p:nvPr>
            <p:ph type="title" idx="104" hasCustomPrompt="1"/>
          </p:nvPr>
        </p:nvSpPr>
        <p:spPr>
          <a:xfrm>
            <a:off x="548640" y="68580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chemeClr val="tx2"/>
                </a:solidFill>
              </a:rPr>
              <a:t>Which Event Do I Need?</a:t>
            </a:r>
            <a:endParaRPr lang="en-US" sz="3600" dirty="0"/>
          </a:p>
        </p:txBody>
      </p:sp>
      <p:sp>
        <p:nvSpPr>
          <p:cNvPr id="5" name="Question 1"/>
          <p:cNvSpPr/>
          <p:nvPr/>
        </p:nvSpPr>
        <p:spPr>
          <a:xfrm>
            <a:off x="548640" y="1737360"/>
            <a:ext cx="11091672" cy="658368"/>
          </a:xfrm>
          <a:prstGeom prst="roundRect">
            <a:avLst>
              <a:gd name="adj" fmla="val 16667"/>
            </a:avLst>
          </a:prstGeom>
          <a:solidFill>
            <a:schemeClr val="bg2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6" name="Shape 3"/>
          <p:cNvSpPr/>
          <p:nvPr/>
        </p:nvSpPr>
        <p:spPr>
          <a:xfrm>
            <a:off x="731520" y="1828800"/>
            <a:ext cx="475488" cy="475488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7" name="Text 4"/>
          <p:cNvSpPr txBox="1"/>
          <p:nvPr/>
        </p:nvSpPr>
        <p:spPr>
          <a:xfrm>
            <a:off x="731520" y="182880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1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1417320" y="173736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1"/>
                </a:solidFill>
              </a:rPr>
              <a:t>Did inputs turn into a new product?</a:t>
            </a:r>
            <a:endParaRPr lang="en-US" sz="1800" dirty="0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0" y="1901952"/>
            <a:ext cx="329184" cy="329184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8366760" y="1828800"/>
            <a:ext cx="3063240" cy="475488"/>
          </a:xfrm>
          <a:prstGeom prst="roundRect">
            <a:avLst>
              <a:gd name="adj" fmla="val 15385"/>
            </a:avLst>
          </a:prstGeom>
          <a:solidFill>
            <a:schemeClr val="accent1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1" name="Text 7"/>
          <p:cNvSpPr txBox="1"/>
          <p:nvPr/>
        </p:nvSpPr>
        <p:spPr>
          <a:xfrm>
            <a:off x="8366760" y="1828800"/>
            <a:ext cx="3063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TransformationEvent</a:t>
            </a:r>
            <a:endParaRPr lang="en-US" sz="1500" dirty="0"/>
          </a:p>
        </p:txBody>
      </p:sp>
      <p:sp>
        <p:nvSpPr>
          <p:cNvPr id="12" name="Question 2"/>
          <p:cNvSpPr/>
          <p:nvPr/>
        </p:nvSpPr>
        <p:spPr>
          <a:xfrm>
            <a:off x="548640" y="2523744"/>
            <a:ext cx="11091672" cy="658368"/>
          </a:xfrm>
          <a:prstGeom prst="roundRect">
            <a:avLst>
              <a:gd name="adj" fmla="val 16667"/>
            </a:avLst>
          </a:prstGeom>
          <a:solidFill>
            <a:schemeClr val="bg2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3" name="Shape 9"/>
          <p:cNvSpPr/>
          <p:nvPr/>
        </p:nvSpPr>
        <p:spPr>
          <a:xfrm>
            <a:off x="731520" y="2615184"/>
            <a:ext cx="475488" cy="475488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4" name="Text 10"/>
          <p:cNvSpPr txBox="1"/>
          <p:nvPr/>
        </p:nvSpPr>
        <p:spPr>
          <a:xfrm>
            <a:off x="731520" y="2615184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2</a:t>
            </a:r>
            <a:endParaRPr lang="en-US" sz="1600" dirty="0"/>
          </a:p>
        </p:txBody>
      </p:sp>
      <p:sp>
        <p:nvSpPr>
          <p:cNvPr id="15" name="Text 11"/>
          <p:cNvSpPr txBox="1"/>
          <p:nvPr/>
        </p:nvSpPr>
        <p:spPr>
          <a:xfrm>
            <a:off x="1417320" y="2523744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1"/>
                </a:solidFill>
              </a:rPr>
              <a:t>Were things packed into or out of a container?</a:t>
            </a:r>
            <a:endParaRPr lang="en-US" sz="1800" dirty="0"/>
          </a:p>
        </p:txBody>
      </p:sp>
      <p:pic>
        <p:nvPicPr>
          <p:cNvPr id="16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0" y="2688336"/>
            <a:ext cx="329184" cy="329184"/>
          </a:xfrm>
          <a:prstGeom prst="rect">
            <a:avLst/>
          </a:prstGeom>
        </p:spPr>
      </p:pic>
      <p:sp>
        <p:nvSpPr>
          <p:cNvPr id="17" name="Shape 12"/>
          <p:cNvSpPr/>
          <p:nvPr/>
        </p:nvSpPr>
        <p:spPr>
          <a:xfrm>
            <a:off x="8366760" y="2615184"/>
            <a:ext cx="3063240" cy="475488"/>
          </a:xfrm>
          <a:prstGeom prst="roundRect">
            <a:avLst>
              <a:gd name="adj" fmla="val 15385"/>
            </a:avLst>
          </a:prstGeom>
          <a:solidFill>
            <a:schemeClr val="accent1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8" name="Text 13"/>
          <p:cNvSpPr txBox="1"/>
          <p:nvPr/>
        </p:nvSpPr>
        <p:spPr>
          <a:xfrm>
            <a:off x="8366760" y="2615184"/>
            <a:ext cx="3063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AggregationEvent</a:t>
            </a:r>
            <a:endParaRPr lang="en-US" sz="1500" dirty="0"/>
          </a:p>
        </p:txBody>
      </p:sp>
      <p:sp>
        <p:nvSpPr>
          <p:cNvPr id="19" name="Question 3"/>
          <p:cNvSpPr/>
          <p:nvPr/>
        </p:nvSpPr>
        <p:spPr>
          <a:xfrm>
            <a:off x="548640" y="3310128"/>
            <a:ext cx="11091672" cy="658368"/>
          </a:xfrm>
          <a:prstGeom prst="roundRect">
            <a:avLst>
              <a:gd name="adj" fmla="val 16667"/>
            </a:avLst>
          </a:prstGeom>
          <a:solidFill>
            <a:schemeClr val="bg2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0" name="Shape 15"/>
          <p:cNvSpPr/>
          <p:nvPr/>
        </p:nvSpPr>
        <p:spPr>
          <a:xfrm>
            <a:off x="731520" y="3401568"/>
            <a:ext cx="475488" cy="475488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1" name="Text 16"/>
          <p:cNvSpPr txBox="1"/>
          <p:nvPr/>
        </p:nvSpPr>
        <p:spPr>
          <a:xfrm>
            <a:off x="731520" y="340156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3</a:t>
            </a:r>
            <a:endParaRPr lang="en-US" sz="1600" dirty="0"/>
          </a:p>
        </p:txBody>
      </p:sp>
      <p:sp>
        <p:nvSpPr>
          <p:cNvPr id="22" name="Text 17"/>
          <p:cNvSpPr txBox="1"/>
          <p:nvPr/>
        </p:nvSpPr>
        <p:spPr>
          <a:xfrm>
            <a:off x="1417320" y="3310128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1"/>
                </a:solidFill>
              </a:rPr>
              <a:t>Was a sensor or asset attached or removed?</a:t>
            </a:r>
            <a:endParaRPr lang="en-US" sz="1800" dirty="0"/>
          </a:p>
        </p:txBody>
      </p:sp>
      <p:pic>
        <p:nvPicPr>
          <p:cNvPr id="23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0" y="3474720"/>
            <a:ext cx="329184" cy="329184"/>
          </a:xfrm>
          <a:prstGeom prst="rect">
            <a:avLst/>
          </a:prstGeom>
        </p:spPr>
      </p:pic>
      <p:sp>
        <p:nvSpPr>
          <p:cNvPr id="24" name="Shape 18"/>
          <p:cNvSpPr/>
          <p:nvPr/>
        </p:nvSpPr>
        <p:spPr>
          <a:xfrm>
            <a:off x="8366760" y="3401568"/>
            <a:ext cx="3063240" cy="475488"/>
          </a:xfrm>
          <a:prstGeom prst="roundRect">
            <a:avLst>
              <a:gd name="adj" fmla="val 15385"/>
            </a:avLst>
          </a:prstGeom>
          <a:solidFill>
            <a:schemeClr val="accent1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5" name="Text 19"/>
          <p:cNvSpPr txBox="1"/>
          <p:nvPr/>
        </p:nvSpPr>
        <p:spPr>
          <a:xfrm>
            <a:off x="8366760" y="3401568"/>
            <a:ext cx="3063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AssociationEvent</a:t>
            </a:r>
            <a:endParaRPr lang="en-US" sz="1500" dirty="0"/>
          </a:p>
        </p:txBody>
      </p:sp>
      <p:sp>
        <p:nvSpPr>
          <p:cNvPr id="26" name="Question 4"/>
          <p:cNvSpPr/>
          <p:nvPr/>
        </p:nvSpPr>
        <p:spPr>
          <a:xfrm>
            <a:off x="548640" y="4096512"/>
            <a:ext cx="11091672" cy="658368"/>
          </a:xfrm>
          <a:prstGeom prst="roundRect">
            <a:avLst>
              <a:gd name="adj" fmla="val 16667"/>
            </a:avLst>
          </a:prstGeom>
          <a:solidFill>
            <a:schemeClr val="bg2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7" name="Shape 21"/>
          <p:cNvSpPr/>
          <p:nvPr/>
        </p:nvSpPr>
        <p:spPr>
          <a:xfrm>
            <a:off x="731520" y="4187952"/>
            <a:ext cx="475488" cy="475488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8" name="Text 22"/>
          <p:cNvSpPr txBox="1"/>
          <p:nvPr/>
        </p:nvSpPr>
        <p:spPr>
          <a:xfrm>
            <a:off x="731520" y="418795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4</a:t>
            </a:r>
            <a:endParaRPr lang="en-US" sz="1600" dirty="0"/>
          </a:p>
        </p:txBody>
      </p:sp>
      <p:sp>
        <p:nvSpPr>
          <p:cNvPr id="29" name="Text 23"/>
          <p:cNvSpPr txBox="1"/>
          <p:nvPr/>
        </p:nvSpPr>
        <p:spPr>
          <a:xfrm>
            <a:off x="1417320" y="4096512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1"/>
                </a:solidFill>
              </a:rPr>
              <a:t>Were objects explicitly linked to an order or transaction?</a:t>
            </a:r>
            <a:endParaRPr lang="en-US" sz="1800" dirty="0"/>
          </a:p>
        </p:txBody>
      </p:sp>
      <p:pic>
        <p:nvPicPr>
          <p:cNvPr id="30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0" y="4261104"/>
            <a:ext cx="329184" cy="329184"/>
          </a:xfrm>
          <a:prstGeom prst="rect">
            <a:avLst/>
          </a:prstGeom>
        </p:spPr>
      </p:pic>
      <p:sp>
        <p:nvSpPr>
          <p:cNvPr id="31" name="Shape 24"/>
          <p:cNvSpPr/>
          <p:nvPr/>
        </p:nvSpPr>
        <p:spPr>
          <a:xfrm>
            <a:off x="8366760" y="4187952"/>
            <a:ext cx="3063240" cy="475488"/>
          </a:xfrm>
          <a:prstGeom prst="roundRect">
            <a:avLst>
              <a:gd name="adj" fmla="val 15385"/>
            </a:avLst>
          </a:prstGeom>
          <a:solidFill>
            <a:schemeClr val="accent1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2" name="Text 25"/>
          <p:cNvSpPr txBox="1"/>
          <p:nvPr/>
        </p:nvSpPr>
        <p:spPr>
          <a:xfrm>
            <a:off x="8366760" y="4187952"/>
            <a:ext cx="3063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TransactionEvent</a:t>
            </a:r>
            <a:endParaRPr lang="en-US" sz="1500" dirty="0"/>
          </a:p>
        </p:txBody>
      </p:sp>
      <p:sp>
        <p:nvSpPr>
          <p:cNvPr id="33" name="Question 5"/>
          <p:cNvSpPr/>
          <p:nvPr/>
        </p:nvSpPr>
        <p:spPr>
          <a:xfrm>
            <a:off x="548640" y="4882896"/>
            <a:ext cx="11091672" cy="658368"/>
          </a:xfrm>
          <a:prstGeom prst="roundRect">
            <a:avLst>
              <a:gd name="adj" fmla="val 16667"/>
            </a:avLst>
          </a:prstGeom>
          <a:solidFill>
            <a:schemeClr val="bg2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4" name="Shape 27"/>
          <p:cNvSpPr/>
          <p:nvPr/>
        </p:nvSpPr>
        <p:spPr>
          <a:xfrm>
            <a:off x="731520" y="4974336"/>
            <a:ext cx="475488" cy="475488"/>
          </a:xfrm>
          <a:prstGeom prst="ellipse">
            <a:avLst/>
          </a:prstGeom>
          <a:solidFill>
            <a:schemeClr val="accent3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5" name="Text 28"/>
          <p:cNvSpPr txBox="1"/>
          <p:nvPr/>
        </p:nvSpPr>
        <p:spPr>
          <a:xfrm>
            <a:off x="731520" y="497433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5</a:t>
            </a:r>
            <a:endParaRPr lang="en-US" sz="1600" dirty="0"/>
          </a:p>
        </p:txBody>
      </p:sp>
      <p:sp>
        <p:nvSpPr>
          <p:cNvPr id="36" name="Text 29"/>
          <p:cNvSpPr txBox="1"/>
          <p:nvPr/>
        </p:nvSpPr>
        <p:spPr>
          <a:xfrm>
            <a:off x="1417320" y="4882896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1"/>
                </a:solidFill>
              </a:rPr>
              <a:t>None of these: seen, created, shipped, received?</a:t>
            </a:r>
            <a:endParaRPr lang="en-US" sz="1800" dirty="0"/>
          </a:p>
        </p:txBody>
      </p:sp>
      <p:pic>
        <p:nvPicPr>
          <p:cNvPr id="37" name="Image 4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0" y="5047488"/>
            <a:ext cx="329184" cy="329184"/>
          </a:xfrm>
          <a:prstGeom prst="rect">
            <a:avLst/>
          </a:prstGeom>
        </p:spPr>
      </p:pic>
      <p:sp>
        <p:nvSpPr>
          <p:cNvPr id="38" name="Shape 30"/>
          <p:cNvSpPr/>
          <p:nvPr/>
        </p:nvSpPr>
        <p:spPr>
          <a:xfrm>
            <a:off x="8366760" y="4974336"/>
            <a:ext cx="3063240" cy="475488"/>
          </a:xfrm>
          <a:prstGeom prst="roundRect">
            <a:avLst>
              <a:gd name="adj" fmla="val 15385"/>
            </a:avLst>
          </a:prstGeom>
          <a:solidFill>
            <a:schemeClr val="accent3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9" name="Text 31"/>
          <p:cNvSpPr txBox="1"/>
          <p:nvPr/>
        </p:nvSpPr>
        <p:spPr>
          <a:xfrm>
            <a:off x="8366760" y="4974336"/>
            <a:ext cx="3063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ObjectEvent</a:t>
            </a:r>
            <a:endParaRPr lang="en-US" sz="1500" dirty="0"/>
          </a:p>
        </p:txBody>
      </p:sp>
      <p:sp>
        <p:nvSpPr>
          <p:cNvPr id="4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38404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body" idx="103" hasCustomPrompt="1"/>
          </p:nvPr>
        </p:nvSpPr>
        <p:spPr>
          <a:xfrm>
            <a:off x="548640" y="38404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chemeClr val="accent3"/>
                </a:solidFill>
              </a:rPr>
              <a:t>LIVE DEMO</a:t>
            </a:r>
            <a:endParaRPr lang="en-US" sz="1100" dirty="0"/>
          </a:p>
        </p:txBody>
      </p:sp>
      <p:sp>
        <p:nvSpPr>
          <p:cNvPr id="3" name="Text 1"/>
          <p:cNvSpPr>
            <a:spLocks noGrp="1"/>
          </p:cNvSpPr>
          <p:nvPr>
            <p:ph type="title" idx="104" hasCustomPrompt="1"/>
          </p:nvPr>
        </p:nvSpPr>
        <p:spPr>
          <a:xfrm>
            <a:off x="548640" y="68580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chemeClr val="tx2"/>
                </a:solidFill>
              </a:rPr>
              <a:t>Build the Story in Our Tools</a:t>
            </a:r>
            <a:endParaRPr lang="en-US" sz="3600" dirty="0"/>
          </a:p>
        </p:txBody>
      </p:sp>
      <p:sp>
        <p:nvSpPr>
          <p:cNvPr id="5" name="Demo step 1"/>
          <p:cNvSpPr/>
          <p:nvPr/>
        </p:nvSpPr>
        <p:spPr>
          <a:xfrm>
            <a:off x="548640" y="1783080"/>
            <a:ext cx="6035040" cy="1051560"/>
          </a:xfrm>
          <a:prstGeom prst="roundRect">
            <a:avLst>
              <a:gd name="adj" fmla="val 10435"/>
            </a:avLst>
          </a:prstGeom>
          <a:solidFill>
            <a:schemeClr val="bg2"/>
          </a:solidFill>
          <a:ln/>
        </p:spPr>
      </p:sp>
      <p:sp>
        <p:nvSpPr>
          <p:cNvPr id="6" name="Shape 3"/>
          <p:cNvSpPr/>
          <p:nvPr/>
        </p:nvSpPr>
        <p:spPr>
          <a:xfrm>
            <a:off x="777240" y="1965960"/>
            <a:ext cx="685800" cy="685800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5548" y="2144268"/>
            <a:ext cx="329184" cy="329184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1691640" y="1938528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tx1"/>
                </a:solidFill>
              </a:rPr>
              <a:t>1.  Pick an event type</a:t>
            </a:r>
            <a:endParaRPr lang="en-US" sz="2000" dirty="0"/>
          </a:p>
        </p:txBody>
      </p:sp>
      <p:sp>
        <p:nvSpPr>
          <p:cNvPr id="9" name="Text 5"/>
          <p:cNvSpPr txBox="1"/>
          <p:nvPr/>
        </p:nvSpPr>
        <p:spPr>
          <a:xfrm>
            <a:off x="1691640" y="2350008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u="sng" dirty="0">
                <a:solidFill>
                  <a:schemeClr val="accent2"/>
                </a:solidFill>
                <a:hlinkClick r:id="rId4" tooltip="https://tools.openepcis.io/ui/event-data-designer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Event Data Designer</a:t>
            </a:r>
            <a:endParaRPr lang="en-US" sz="1500" dirty="0"/>
          </a:p>
        </p:txBody>
      </p:sp>
      <p:sp>
        <p:nvSpPr>
          <p:cNvPr id="10" name="Demo step 2"/>
          <p:cNvSpPr/>
          <p:nvPr/>
        </p:nvSpPr>
        <p:spPr>
          <a:xfrm>
            <a:off x="548640" y="3017520"/>
            <a:ext cx="6035040" cy="1051560"/>
          </a:xfrm>
          <a:prstGeom prst="roundRect">
            <a:avLst>
              <a:gd name="adj" fmla="val 10435"/>
            </a:avLst>
          </a:prstGeom>
          <a:solidFill>
            <a:schemeClr val="bg2"/>
          </a:solidFill>
          <a:ln/>
        </p:spPr>
      </p:sp>
      <p:sp>
        <p:nvSpPr>
          <p:cNvPr id="11" name="Shape 7"/>
          <p:cNvSpPr/>
          <p:nvPr/>
        </p:nvSpPr>
        <p:spPr>
          <a:xfrm>
            <a:off x="777240" y="3200400"/>
            <a:ext cx="685800" cy="685800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5548" y="3378708"/>
            <a:ext cx="329184" cy="329184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1691640" y="3172968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tx1"/>
                </a:solidFill>
              </a:rPr>
              <a:t>2.  Connect the five events</a:t>
            </a:r>
            <a:endParaRPr lang="en-US" sz="2000" dirty="0"/>
          </a:p>
        </p:txBody>
      </p:sp>
      <p:sp>
        <p:nvSpPr>
          <p:cNvPr id="14" name="Text 9"/>
          <p:cNvSpPr txBox="1"/>
          <p:nvPr/>
        </p:nvSpPr>
        <p:spPr>
          <a:xfrm>
            <a:off x="1691640" y="3584448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u="sng" dirty="0">
                <a:solidFill>
                  <a:schemeClr val="accent2"/>
                </a:solidFill>
                <a:hlinkClick r:id="rId4" tooltip="https://tools.openepcis.io/ui/event-data-designer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Event Data Designer</a:t>
            </a:r>
            <a:endParaRPr lang="en-US" sz="1500" dirty="0"/>
          </a:p>
        </p:txBody>
      </p:sp>
      <p:sp>
        <p:nvSpPr>
          <p:cNvPr id="15" name="Demo step 3"/>
          <p:cNvSpPr/>
          <p:nvPr/>
        </p:nvSpPr>
        <p:spPr>
          <a:xfrm>
            <a:off x="548640" y="4251960"/>
            <a:ext cx="6035040" cy="1051560"/>
          </a:xfrm>
          <a:prstGeom prst="roundRect">
            <a:avLst>
              <a:gd name="adj" fmla="val 10435"/>
            </a:avLst>
          </a:prstGeom>
          <a:solidFill>
            <a:schemeClr val="bg2"/>
          </a:solidFill>
          <a:ln/>
        </p:spPr>
      </p:sp>
      <p:sp>
        <p:nvSpPr>
          <p:cNvPr id="16" name="Shape 11"/>
          <p:cNvSpPr/>
          <p:nvPr/>
        </p:nvSpPr>
        <p:spPr>
          <a:xfrm>
            <a:off x="777240" y="4434840"/>
            <a:ext cx="685800" cy="685800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55548" y="4613148"/>
            <a:ext cx="329184" cy="329184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1691640" y="4407408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tx1"/>
                </a:solidFill>
              </a:rPr>
              <a:t>3.  See it as JSON and XML</a:t>
            </a:r>
            <a:endParaRPr lang="en-US" sz="2000" dirty="0"/>
          </a:p>
        </p:txBody>
      </p:sp>
      <p:sp>
        <p:nvSpPr>
          <p:cNvPr id="19" name="Text 13"/>
          <p:cNvSpPr txBox="1"/>
          <p:nvPr/>
        </p:nvSpPr>
        <p:spPr>
          <a:xfrm>
            <a:off x="1691640" y="4818888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u="sng" dirty="0">
                <a:solidFill>
                  <a:schemeClr val="accent2"/>
                </a:solidFill>
                <a:hlinkClick r:id="rId7" tooltip="https://tools.openepcis.io/ui/format-converter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Format Converter</a:t>
            </a:r>
            <a:endParaRPr lang="en-US" sz="1500" dirty="0"/>
          </a:p>
        </p:txBody>
      </p:sp>
      <p:sp>
        <p:nvSpPr>
          <p:cNvPr id="20" name="Shape 14"/>
          <p:cNvSpPr/>
          <p:nvPr/>
        </p:nvSpPr>
        <p:spPr>
          <a:xfrm>
            <a:off x="7086600" y="1783080"/>
            <a:ext cx="4553712" cy="3520440"/>
          </a:xfrm>
          <a:prstGeom prst="roundRect">
            <a:avLst>
              <a:gd name="adj" fmla="val 3117"/>
            </a:avLst>
          </a:prstGeom>
          <a:solidFill>
            <a:schemeClr val="bg1"/>
          </a:solidFill>
          <a:ln w="12700">
            <a:solidFill>
              <a:schemeClr val="accent6"/>
            </a:solidFill>
            <a:prstDash val="solid"/>
          </a:ln>
          <a:effectLst>
            <a:outerShdw blurRad="101600" dist="38100" dir="5400000" algn="bl" rotWithShape="0">
              <a:srgbClr val="1B2430">
                <a:alpha val="12000"/>
              </a:srgbClr>
            </a:outerShdw>
          </a:effectLst>
        </p:spPr>
      </p:sp>
      <p:sp>
        <p:nvSpPr>
          <p:cNvPr id="21" name="Shape 15"/>
          <p:cNvSpPr/>
          <p:nvPr/>
        </p:nvSpPr>
        <p:spPr>
          <a:xfrm>
            <a:off x="7315200" y="1984248"/>
            <a:ext cx="137160" cy="137160"/>
          </a:xfrm>
          <a:prstGeom prst="ellipse">
            <a:avLst/>
          </a:prstGeom>
          <a:solidFill>
            <a:srgbClr val="F2B8C0"/>
          </a:solidFill>
          <a:ln/>
        </p:spPr>
      </p:sp>
      <p:sp>
        <p:nvSpPr>
          <p:cNvPr id="22" name="Shape 16"/>
          <p:cNvSpPr/>
          <p:nvPr/>
        </p:nvSpPr>
        <p:spPr>
          <a:xfrm>
            <a:off x="7543800" y="1984248"/>
            <a:ext cx="137160" cy="137160"/>
          </a:xfrm>
          <a:prstGeom prst="ellipse">
            <a:avLst/>
          </a:prstGeom>
          <a:solidFill>
            <a:srgbClr val="C9D6E3"/>
          </a:solidFill>
          <a:ln/>
        </p:spPr>
      </p:sp>
      <p:sp>
        <p:nvSpPr>
          <p:cNvPr id="23" name="Shape 17"/>
          <p:cNvSpPr/>
          <p:nvPr/>
        </p:nvSpPr>
        <p:spPr>
          <a:xfrm>
            <a:off x="7772400" y="1984248"/>
            <a:ext cx="137160" cy="137160"/>
          </a:xfrm>
          <a:prstGeom prst="ellipse">
            <a:avLst/>
          </a:prstGeom>
          <a:solidFill>
            <a:srgbClr val="C9D6E3"/>
          </a:solidFill>
          <a:ln/>
        </p:spPr>
      </p:sp>
      <p:sp>
        <p:nvSpPr>
          <p:cNvPr id="24" name="Shape 18"/>
          <p:cNvSpPr/>
          <p:nvPr/>
        </p:nvSpPr>
        <p:spPr>
          <a:xfrm>
            <a:off x="8092440" y="1911096"/>
            <a:ext cx="3319272" cy="292608"/>
          </a:xfrm>
          <a:prstGeom prst="roundRect">
            <a:avLst>
              <a:gd name="adj" fmla="val 25000"/>
            </a:avLst>
          </a:prstGeom>
          <a:solidFill>
            <a:schemeClr val="bg2"/>
          </a:solidFill>
          <a:ln/>
        </p:spPr>
      </p:sp>
      <p:sp>
        <p:nvSpPr>
          <p:cNvPr id="25" name="Text 19"/>
          <p:cNvSpPr txBox="1"/>
          <p:nvPr/>
        </p:nvSpPr>
        <p:spPr>
          <a:xfrm>
            <a:off x="8229600" y="1911096"/>
            <a:ext cx="3090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u="sng" dirty="0">
                <a:solidFill>
                  <a:schemeClr val="accent2"/>
                </a:solidFill>
                <a:hlinkClick r:id="rId4" tooltip="https://tools.openepcis.io/ui/event-data-designer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tools.openepcis.io/ui/event-data-designer</a:t>
            </a:r>
            <a:endParaRPr lang="en-US" sz="1200" dirty="0"/>
          </a:p>
        </p:txBody>
      </p:sp>
      <p:sp>
        <p:nvSpPr>
          <p:cNvPr id="26" name="Shape 20"/>
          <p:cNvSpPr/>
          <p:nvPr/>
        </p:nvSpPr>
        <p:spPr>
          <a:xfrm>
            <a:off x="8769096" y="2743200"/>
            <a:ext cx="1188720" cy="118872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27" name="Image 3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078163" y="3052267"/>
            <a:ext cx="570586" cy="570586"/>
          </a:xfrm>
          <a:prstGeom prst="rect">
            <a:avLst/>
          </a:prstGeom>
        </p:spPr>
      </p:pic>
      <p:sp>
        <p:nvSpPr>
          <p:cNvPr id="28" name="Text 21"/>
          <p:cNvSpPr txBox="1"/>
          <p:nvPr/>
        </p:nvSpPr>
        <p:spPr>
          <a:xfrm>
            <a:off x="7086600" y="4114800"/>
            <a:ext cx="45537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Open the tools live</a:t>
            </a:r>
            <a:endParaRPr lang="en-US" sz="2000" dirty="0"/>
          </a:p>
        </p:txBody>
      </p:sp>
      <p:sp>
        <p:nvSpPr>
          <p:cNvPr id="29" name="Text 22"/>
          <p:cNvSpPr txBox="1"/>
          <p:nvPr/>
        </p:nvSpPr>
        <p:spPr>
          <a:xfrm>
            <a:off x="7086600" y="4526280"/>
            <a:ext cx="45537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chemeClr val="accent5"/>
                </a:solidFill>
              </a:rPr>
              <a:t>Click a link on the left to jump straight in</a:t>
            </a:r>
            <a:endParaRPr lang="en-US" sz="1400" dirty="0"/>
          </a:p>
        </p:txBody>
      </p:sp>
      <p:sp>
        <p:nvSpPr>
          <p:cNvPr id="4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38404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body" idx="103" hasCustomPrompt="1"/>
          </p:nvPr>
        </p:nvSpPr>
        <p:spPr>
          <a:xfrm>
            <a:off x="548640" y="38404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chemeClr val="accent3"/>
                </a:solidFill>
              </a:rPr>
              <a:t>WHAT'S NEXT</a:t>
            </a:r>
            <a:endParaRPr lang="en-US" sz="1100" dirty="0"/>
          </a:p>
        </p:txBody>
      </p:sp>
      <p:sp>
        <p:nvSpPr>
          <p:cNvPr id="3" name="Text 1"/>
          <p:cNvSpPr>
            <a:spLocks noGrp="1"/>
          </p:cNvSpPr>
          <p:nvPr>
            <p:ph type="title" idx="104" hasCustomPrompt="1"/>
          </p:nvPr>
        </p:nvSpPr>
        <p:spPr>
          <a:xfrm>
            <a:off x="548640" y="68580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chemeClr val="tx2"/>
                </a:solidFill>
              </a:rPr>
              <a:t>Coming Up in the Series</a:t>
            </a:r>
            <a:endParaRPr lang="en-US" sz="3600" dirty="0"/>
          </a:p>
        </p:txBody>
      </p:sp>
      <p:sp>
        <p:nvSpPr>
          <p:cNvPr id="5" name="Week 4"/>
          <p:cNvSpPr/>
          <p:nvPr/>
        </p:nvSpPr>
        <p:spPr>
          <a:xfrm>
            <a:off x="548640" y="1783080"/>
            <a:ext cx="2633472" cy="1463040"/>
          </a:xfrm>
          <a:prstGeom prst="roundRect">
            <a:avLst>
              <a:gd name="adj" fmla="val 7500"/>
            </a:avLst>
          </a:prstGeom>
          <a:solidFill>
            <a:schemeClr val="accent1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822960" y="1984248"/>
            <a:ext cx="20848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9DB9E8"/>
                </a:solidFill>
              </a:rPr>
              <a:t>NEXT WEEK</a:t>
            </a:r>
            <a:endParaRPr lang="en-US" sz="1100" dirty="0"/>
          </a:p>
        </p:txBody>
      </p:sp>
      <p:sp>
        <p:nvSpPr>
          <p:cNvPr id="7" name="Text 4"/>
          <p:cNvSpPr txBox="1"/>
          <p:nvPr/>
        </p:nvSpPr>
        <p:spPr>
          <a:xfrm>
            <a:off x="822960" y="2286000"/>
            <a:ext cx="21762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bg1"/>
                </a:solidFill>
              </a:rPr>
              <a:t>CBV and master data</a:t>
            </a:r>
            <a:endParaRPr lang="en-US" sz="1600" dirty="0"/>
          </a:p>
        </p:txBody>
      </p:sp>
      <p:sp>
        <p:nvSpPr>
          <p:cNvPr id="8" name="Week 5"/>
          <p:cNvSpPr/>
          <p:nvPr/>
        </p:nvSpPr>
        <p:spPr>
          <a:xfrm>
            <a:off x="3364992" y="1783080"/>
            <a:ext cx="2633472" cy="1463040"/>
          </a:xfrm>
          <a:prstGeom prst="roundRect">
            <a:avLst>
              <a:gd name="adj" fmla="val 7500"/>
            </a:avLst>
          </a:prstGeom>
          <a:solidFill>
            <a:schemeClr val="bg2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3639312" y="1984248"/>
            <a:ext cx="20848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chemeClr val="accent3"/>
                </a:solidFill>
              </a:rPr>
              <a:t>WEEK 5</a:t>
            </a:r>
            <a:endParaRPr lang="en-US" sz="1100" dirty="0"/>
          </a:p>
        </p:txBody>
      </p:sp>
      <p:sp>
        <p:nvSpPr>
          <p:cNvPr id="10" name="Text 7"/>
          <p:cNvSpPr txBox="1"/>
          <p:nvPr/>
        </p:nvSpPr>
        <p:spPr>
          <a:xfrm>
            <a:off x="3639312" y="2286000"/>
            <a:ext cx="21762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</a:rPr>
              <a:t>XML or JSON? One event, two formats</a:t>
            </a:r>
            <a:endParaRPr lang="en-US" sz="1600" dirty="0"/>
          </a:p>
        </p:txBody>
      </p:sp>
      <p:sp>
        <p:nvSpPr>
          <p:cNvPr id="11" name="Week 6"/>
          <p:cNvSpPr/>
          <p:nvPr/>
        </p:nvSpPr>
        <p:spPr>
          <a:xfrm>
            <a:off x="6181344" y="1783080"/>
            <a:ext cx="2633472" cy="1463040"/>
          </a:xfrm>
          <a:prstGeom prst="roundRect">
            <a:avLst>
              <a:gd name="adj" fmla="val 7500"/>
            </a:avLst>
          </a:prstGeom>
          <a:solidFill>
            <a:schemeClr val="bg2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6455664" y="1984248"/>
            <a:ext cx="20848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chemeClr val="accent3"/>
                </a:solidFill>
              </a:rPr>
              <a:t>WEEK 6</a:t>
            </a:r>
            <a:endParaRPr lang="en-US" sz="1100" dirty="0"/>
          </a:p>
        </p:txBody>
      </p:sp>
      <p:sp>
        <p:nvSpPr>
          <p:cNvPr id="13" name="Text 10"/>
          <p:cNvSpPr txBox="1"/>
          <p:nvPr/>
        </p:nvSpPr>
        <p:spPr>
          <a:xfrm>
            <a:off x="6455664" y="2286000"/>
            <a:ext cx="21762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</a:rPr>
              <a:t>Validation and partner profiles</a:t>
            </a:r>
            <a:endParaRPr lang="en-US" sz="1600" dirty="0"/>
          </a:p>
        </p:txBody>
      </p:sp>
      <p:sp>
        <p:nvSpPr>
          <p:cNvPr id="14" name="Week 7"/>
          <p:cNvSpPr/>
          <p:nvPr/>
        </p:nvSpPr>
        <p:spPr>
          <a:xfrm>
            <a:off x="8997696" y="1783080"/>
            <a:ext cx="2633472" cy="1463040"/>
          </a:xfrm>
          <a:prstGeom prst="roundRect">
            <a:avLst>
              <a:gd name="adj" fmla="val 7500"/>
            </a:avLst>
          </a:prstGeom>
          <a:solidFill>
            <a:schemeClr val="bg2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9272016" y="1984248"/>
            <a:ext cx="20848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chemeClr val="accent3"/>
                </a:solidFill>
              </a:rPr>
              <a:t>WEEK 7</a:t>
            </a:r>
            <a:endParaRPr lang="en-US" sz="1100" dirty="0"/>
          </a:p>
        </p:txBody>
      </p:sp>
      <p:sp>
        <p:nvSpPr>
          <p:cNvPr id="16" name="Text 13"/>
          <p:cNvSpPr txBox="1"/>
          <p:nvPr/>
        </p:nvSpPr>
        <p:spPr>
          <a:xfrm>
            <a:off x="9272016" y="2286000"/>
            <a:ext cx="21762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</a:rPr>
              <a:t>Event hash and duplicates</a:t>
            </a:r>
            <a:endParaRPr lang="en-US" sz="1600" dirty="0"/>
          </a:p>
        </p:txBody>
      </p:sp>
      <p:sp>
        <p:nvSpPr>
          <p:cNvPr id="17" name="Week 8"/>
          <p:cNvSpPr/>
          <p:nvPr/>
        </p:nvSpPr>
        <p:spPr>
          <a:xfrm>
            <a:off x="548640" y="3520440"/>
            <a:ext cx="2633472" cy="1463040"/>
          </a:xfrm>
          <a:prstGeom prst="roundRect">
            <a:avLst>
              <a:gd name="adj" fmla="val 7500"/>
            </a:avLst>
          </a:prstGeom>
          <a:solidFill>
            <a:schemeClr val="bg2"/>
          </a:solidFill>
          <a:ln/>
        </p:spPr>
      </p:sp>
      <p:sp>
        <p:nvSpPr>
          <p:cNvPr id="18" name="Text 15"/>
          <p:cNvSpPr txBox="1"/>
          <p:nvPr/>
        </p:nvSpPr>
        <p:spPr>
          <a:xfrm>
            <a:off x="822960" y="3721608"/>
            <a:ext cx="20848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chemeClr val="accent3"/>
                </a:solidFill>
              </a:rPr>
              <a:t>WEEK 8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822960" y="4023360"/>
            <a:ext cx="21762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</a:rPr>
              <a:t>From test data to a working system</a:t>
            </a:r>
            <a:endParaRPr lang="en-US" sz="1600" dirty="0"/>
          </a:p>
        </p:txBody>
      </p:sp>
      <p:sp>
        <p:nvSpPr>
          <p:cNvPr id="20" name="Week 9"/>
          <p:cNvSpPr/>
          <p:nvPr/>
        </p:nvSpPr>
        <p:spPr>
          <a:xfrm>
            <a:off x="3364992" y="3520440"/>
            <a:ext cx="2633472" cy="1463040"/>
          </a:xfrm>
          <a:prstGeom prst="roundRect">
            <a:avLst>
              <a:gd name="adj" fmla="val 7500"/>
            </a:avLst>
          </a:prstGeom>
          <a:solidFill>
            <a:schemeClr val="bg2"/>
          </a:solidFill>
          <a:ln/>
        </p:spPr>
      </p:sp>
      <p:sp>
        <p:nvSpPr>
          <p:cNvPr id="21" name="Text 18"/>
          <p:cNvSpPr txBox="1"/>
          <p:nvPr/>
        </p:nvSpPr>
        <p:spPr>
          <a:xfrm>
            <a:off x="3639312" y="3721608"/>
            <a:ext cx="20848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chemeClr val="accent3"/>
                </a:solidFill>
              </a:rPr>
              <a:t>WEEK 9</a:t>
            </a:r>
            <a:endParaRPr lang="en-US" sz="1100" dirty="0"/>
          </a:p>
        </p:txBody>
      </p:sp>
      <p:sp>
        <p:nvSpPr>
          <p:cNvPr id="22" name="Text 19"/>
          <p:cNvSpPr txBox="1"/>
          <p:nvPr/>
        </p:nvSpPr>
        <p:spPr>
          <a:xfrm>
            <a:off x="3639312" y="4023360"/>
            <a:ext cx="21762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</a:rPr>
              <a:t>EPCIS and the Digital Product Passport</a:t>
            </a:r>
            <a:endParaRPr lang="en-US" sz="1600" dirty="0"/>
          </a:p>
        </p:txBody>
      </p:sp>
      <p:sp>
        <p:nvSpPr>
          <p:cNvPr id="23" name="Week 10"/>
          <p:cNvSpPr/>
          <p:nvPr/>
        </p:nvSpPr>
        <p:spPr>
          <a:xfrm>
            <a:off x="6181344" y="3520440"/>
            <a:ext cx="2633472" cy="1463040"/>
          </a:xfrm>
          <a:prstGeom prst="roundRect">
            <a:avLst>
              <a:gd name="adj" fmla="val 7500"/>
            </a:avLst>
          </a:prstGeom>
          <a:solidFill>
            <a:schemeClr val="bg2"/>
          </a:solidFill>
          <a:ln/>
        </p:spPr>
      </p:sp>
      <p:sp>
        <p:nvSpPr>
          <p:cNvPr id="24" name="Text 21"/>
          <p:cNvSpPr txBox="1"/>
          <p:nvPr/>
        </p:nvSpPr>
        <p:spPr>
          <a:xfrm>
            <a:off x="6455664" y="3721608"/>
            <a:ext cx="20848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chemeClr val="accent3"/>
                </a:solidFill>
              </a:rPr>
              <a:t>WEEK 10</a:t>
            </a:r>
            <a:endParaRPr lang="en-US" sz="1100" dirty="0"/>
          </a:p>
        </p:txBody>
      </p:sp>
      <p:sp>
        <p:nvSpPr>
          <p:cNvPr id="25" name="Text 22"/>
          <p:cNvSpPr txBox="1"/>
          <p:nvPr/>
        </p:nvSpPr>
        <p:spPr>
          <a:xfrm>
            <a:off x="6455664" y="4023360"/>
            <a:ext cx="21762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</a:rPr>
              <a:t>What's new in EPCIS 2.1</a:t>
            </a:r>
            <a:endParaRPr lang="en-US" sz="1600" dirty="0"/>
          </a:p>
        </p:txBody>
      </p:sp>
      <p:sp>
        <p:nvSpPr>
          <p:cNvPr id="26" name="Your idea"/>
          <p:cNvSpPr/>
          <p:nvPr/>
        </p:nvSpPr>
        <p:spPr>
          <a:xfrm>
            <a:off x="8997696" y="3520440"/>
            <a:ext cx="2633472" cy="1463040"/>
          </a:xfrm>
          <a:prstGeom prst="roundRect">
            <a:avLst>
              <a:gd name="adj" fmla="val 7500"/>
            </a:avLst>
          </a:prstGeom>
          <a:solidFill>
            <a:schemeClr val="bg1"/>
          </a:solidFill>
          <a:ln w="12700">
            <a:solidFill>
              <a:schemeClr val="accent6"/>
            </a:solidFill>
            <a:prstDash val="dash"/>
          </a:ln>
        </p:spPr>
      </p:sp>
      <p:sp>
        <p:nvSpPr>
          <p:cNvPr id="27" name="Text 24"/>
          <p:cNvSpPr txBox="1"/>
          <p:nvPr/>
        </p:nvSpPr>
        <p:spPr>
          <a:xfrm>
            <a:off x="9272016" y="3721608"/>
            <a:ext cx="20848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chemeClr val="accent3"/>
                </a:solidFill>
              </a:rPr>
              <a:t>YOUR IDEA</a:t>
            </a:r>
            <a:endParaRPr lang="en-US" sz="1100" dirty="0"/>
          </a:p>
        </p:txBody>
      </p:sp>
      <p:sp>
        <p:nvSpPr>
          <p:cNvPr id="28" name="Text 25"/>
          <p:cNvSpPr txBox="1"/>
          <p:nvPr/>
        </p:nvSpPr>
        <p:spPr>
          <a:xfrm>
            <a:off x="9272016" y="4023360"/>
            <a:ext cx="21762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</a:rPr>
              <a:t>Missing a topic? Tell us in the comments</a:t>
            </a:r>
            <a:endParaRPr lang="en-US" sz="1600" dirty="0"/>
          </a:p>
        </p:txBody>
      </p:sp>
      <p:sp>
        <p:nvSpPr>
          <p:cNvPr id="4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38404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82296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Thanks for Watching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173736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chemeClr val="accent6"/>
                </a:solidFill>
              </a:rPr>
              <a:t>Try the tools, follow the series, and get in touch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731520" y="2331720"/>
            <a:ext cx="502920" cy="502920"/>
          </a:xfrm>
          <a:prstGeom prst="ellipse">
            <a:avLst/>
          </a:prstGeom>
          <a:solidFill>
            <a:srgbClr val="2B6AA6"/>
          </a:solidFill>
          <a:ln/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2279" y="2462479"/>
            <a:ext cx="241402" cy="241402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463040" y="233172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chemeClr val="accent6"/>
                </a:solidFill>
              </a:rPr>
              <a:t>Try the tools</a:t>
            </a:r>
            <a:endParaRPr lang="en-US" sz="1700" dirty="0"/>
          </a:p>
        </p:txBody>
      </p:sp>
      <p:sp>
        <p:nvSpPr>
          <p:cNvPr id="7" name="Text 4"/>
          <p:cNvSpPr txBox="1"/>
          <p:nvPr/>
        </p:nvSpPr>
        <p:spPr>
          <a:xfrm>
            <a:off x="3566160" y="2331720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chemeClr val="bg1"/>
                </a:solidFill>
              </a:rPr>
              <a:t>tools.openepcis.io</a:t>
            </a:r>
            <a:endParaRPr lang="en-US" sz="1700" dirty="0"/>
          </a:p>
        </p:txBody>
      </p:sp>
      <p:sp>
        <p:nvSpPr>
          <p:cNvPr id="8" name="Link tools.openepcis.io">
            <a:hlinkClick r:id="rId4" tooltip="https://tools.openepcis.io/ui/"/>
          </p:cNvPr>
          <p:cNvSpPr/>
          <p:nvPr/>
        </p:nvSpPr>
        <p:spPr>
          <a:xfrm>
            <a:off x="3566160" y="2331720"/>
            <a:ext cx="2926080" cy="502920"/>
          </a:xfrm>
          <a:prstGeom prst="rect">
            <a:avLst/>
          </a:prstGeom>
          <a:solidFill>
            <a:schemeClr val="accent4">
              <a:alpha val="0"/>
            </a:schemeClr>
          </a:solidFill>
          <a:ln/>
        </p:spPr>
      </p:sp>
      <p:sp>
        <p:nvSpPr>
          <p:cNvPr id="9" name="Shape 6"/>
          <p:cNvSpPr/>
          <p:nvPr/>
        </p:nvSpPr>
        <p:spPr>
          <a:xfrm>
            <a:off x="731520" y="2907792"/>
            <a:ext cx="502920" cy="502920"/>
          </a:xfrm>
          <a:prstGeom prst="ellipse">
            <a:avLst/>
          </a:prstGeom>
          <a:solidFill>
            <a:srgbClr val="2B6AA6"/>
          </a:solidFill>
          <a:ln/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2279" y="3038551"/>
            <a:ext cx="241402" cy="241402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1463040" y="2907792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chemeClr val="accent6"/>
                </a:solidFill>
              </a:rPr>
              <a:t>GitHub projects</a:t>
            </a:r>
            <a:endParaRPr lang="en-US" sz="1700" dirty="0"/>
          </a:p>
        </p:txBody>
      </p:sp>
      <p:sp>
        <p:nvSpPr>
          <p:cNvPr id="12" name="Text 8"/>
          <p:cNvSpPr txBox="1"/>
          <p:nvPr/>
        </p:nvSpPr>
        <p:spPr>
          <a:xfrm>
            <a:off x="3566160" y="2907792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chemeClr val="bg1"/>
                </a:solidFill>
              </a:rPr>
              <a:t>github.com/openepcis</a:t>
            </a:r>
            <a:endParaRPr lang="en-US" sz="1700" dirty="0"/>
          </a:p>
        </p:txBody>
      </p:sp>
      <p:sp>
        <p:nvSpPr>
          <p:cNvPr id="13" name="Link github.com/openepcis">
            <a:hlinkClick r:id="rId6" tooltip="https://github.com/openepcis"/>
          </p:cNvPr>
          <p:cNvSpPr/>
          <p:nvPr/>
        </p:nvSpPr>
        <p:spPr>
          <a:xfrm>
            <a:off x="3566160" y="2907792"/>
            <a:ext cx="2926080" cy="502920"/>
          </a:xfrm>
          <a:prstGeom prst="rect">
            <a:avLst/>
          </a:prstGeom>
          <a:solidFill>
            <a:schemeClr val="accent4">
              <a:alpha val="0"/>
            </a:schemeClr>
          </a:solidFill>
          <a:ln/>
        </p:spPr>
      </p:sp>
      <p:sp>
        <p:nvSpPr>
          <p:cNvPr id="14" name="Shape 10"/>
          <p:cNvSpPr/>
          <p:nvPr/>
        </p:nvSpPr>
        <p:spPr>
          <a:xfrm>
            <a:off x="731520" y="3483864"/>
            <a:ext cx="502920" cy="502920"/>
          </a:xfrm>
          <a:prstGeom prst="ellipse">
            <a:avLst/>
          </a:prstGeom>
          <a:solidFill>
            <a:srgbClr val="2B6AA6"/>
          </a:solidFill>
          <a:ln/>
        </p:spPr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62279" y="3614623"/>
            <a:ext cx="241402" cy="241402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1463040" y="3483864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chemeClr val="accent6"/>
                </a:solidFill>
              </a:rPr>
              <a:t>Follow us</a:t>
            </a:r>
            <a:endParaRPr lang="en-US" sz="1700" dirty="0"/>
          </a:p>
        </p:txBody>
      </p:sp>
      <p:sp>
        <p:nvSpPr>
          <p:cNvPr id="17" name="Text 12"/>
          <p:cNvSpPr txBox="1"/>
          <p:nvPr/>
        </p:nvSpPr>
        <p:spPr>
          <a:xfrm>
            <a:off x="3566160" y="3483864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chemeClr val="bg1"/>
                </a:solidFill>
              </a:rPr>
              <a:t>linkedin.com/company/benelog</a:t>
            </a:r>
            <a:endParaRPr lang="en-US" sz="1700" dirty="0"/>
          </a:p>
        </p:txBody>
      </p:sp>
      <p:sp>
        <p:nvSpPr>
          <p:cNvPr id="18" name="Link linkedin.com/company/benelog">
            <a:hlinkClick r:id="rId8" tooltip="https://www.linkedin.com/company/benelog"/>
          </p:cNvPr>
          <p:cNvSpPr/>
          <p:nvPr/>
        </p:nvSpPr>
        <p:spPr>
          <a:xfrm>
            <a:off x="3566160" y="3483864"/>
            <a:ext cx="4114800" cy="502920"/>
          </a:xfrm>
          <a:prstGeom prst="rect">
            <a:avLst/>
          </a:prstGeom>
          <a:solidFill>
            <a:schemeClr val="accent4">
              <a:alpha val="0"/>
            </a:schemeClr>
          </a:solidFill>
          <a:ln/>
        </p:spPr>
      </p:sp>
      <p:sp>
        <p:nvSpPr>
          <p:cNvPr id="40" name="YouTube Shape 10"/>
          <p:cNvSpPr/>
          <p:nvPr/>
        </p:nvSpPr>
        <p:spPr>
          <a:xfrm>
            <a:off x="731520" y="4059936"/>
            <a:ext cx="502920" cy="502920"/>
          </a:xfrm>
          <a:prstGeom prst="ellipse">
            <a:avLst/>
          </a:prstGeom>
          <a:solidFill>
            <a:srgbClr val="2B6AA6"/>
          </a:solidFill>
          <a:ln/>
        </p:spPr>
      </p:sp>
      <p:pic>
        <p:nvPicPr>
          <p:cNvPr id="41" name="YouTube Image 2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62279" y="4190695"/>
            <a:ext cx="241402" cy="241402"/>
          </a:xfrm>
          <a:prstGeom prst="rect">
            <a:avLst/>
          </a:prstGeom>
        </p:spPr>
      </p:pic>
      <p:sp>
        <p:nvSpPr>
          <p:cNvPr id="42" name="YouTube Text 11"/>
          <p:cNvSpPr txBox="1"/>
          <p:nvPr/>
        </p:nvSpPr>
        <p:spPr>
          <a:xfrm>
            <a:off x="1463040" y="4059936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chemeClr val="accent6"/>
                </a:solidFill>
              </a:rPr>
              <a:t>Watch the series</a:t>
            </a:r>
            <a:endParaRPr lang="en-US" sz="1700" dirty="0"/>
          </a:p>
        </p:txBody>
      </p:sp>
      <p:sp>
        <p:nvSpPr>
          <p:cNvPr id="43" name="YouTube Text 12"/>
          <p:cNvSpPr txBox="1"/>
          <p:nvPr/>
        </p:nvSpPr>
        <p:spPr>
          <a:xfrm>
            <a:off x="3566160" y="4059936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chemeClr val="bg1"/>
                </a:solidFill>
              </a:rPr>
              <a:t>youtube.com/@benelogEPCIS</a:t>
            </a:r>
            <a:endParaRPr lang="en-US" sz="1700" dirty="0"/>
          </a:p>
        </p:txBody>
      </p:sp>
      <p:sp>
        <p:nvSpPr>
          <p:cNvPr id="44" name="YouTube Link linkedin.com/company/benelog">
            <a:hlinkClick r:id="rId10" tooltip="https://www.youtube.com/@benelogEPCIS"/>
          </p:cNvPr>
          <p:cNvSpPr/>
          <p:nvPr/>
        </p:nvSpPr>
        <p:spPr>
          <a:xfrm>
            <a:off x="3566160" y="4059936"/>
            <a:ext cx="4114800" cy="502920"/>
          </a:xfrm>
          <a:prstGeom prst="rect">
            <a:avLst/>
          </a:prstGeom>
          <a:solidFill>
            <a:schemeClr val="accent4">
              <a:alpha val="0"/>
            </a:schemeClr>
          </a:solidFill>
          <a:ln/>
        </p:spPr>
      </p:sp>
      <p:sp>
        <p:nvSpPr>
          <p:cNvPr id="19" name="Shape 14"/>
          <p:cNvSpPr/>
          <p:nvPr/>
        </p:nvSpPr>
        <p:spPr>
          <a:xfrm>
            <a:off x="731520" y="4636008"/>
            <a:ext cx="502920" cy="502920"/>
          </a:xfrm>
          <a:prstGeom prst="ellipse">
            <a:avLst/>
          </a:prstGeom>
          <a:solidFill>
            <a:srgbClr val="2B6AA6"/>
          </a:solidFill>
          <a:ln/>
        </p:spPr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62279" y="4766767"/>
            <a:ext cx="241402" cy="241402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1463040" y="4636008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chemeClr val="accent6"/>
                </a:solidFill>
              </a:rPr>
              <a:t>Learn more</a:t>
            </a:r>
            <a:endParaRPr lang="en-US" sz="1700" dirty="0"/>
          </a:p>
        </p:txBody>
      </p:sp>
      <p:sp>
        <p:nvSpPr>
          <p:cNvPr id="22" name="Text 16"/>
          <p:cNvSpPr txBox="1"/>
          <p:nvPr/>
        </p:nvSpPr>
        <p:spPr>
          <a:xfrm>
            <a:off x="3566160" y="4636008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chemeClr val="bg1"/>
                </a:solidFill>
              </a:rPr>
              <a:t>openepcis.io</a:t>
            </a:r>
            <a:endParaRPr lang="en-US" sz="1700" dirty="0"/>
          </a:p>
        </p:txBody>
      </p:sp>
      <p:sp>
        <p:nvSpPr>
          <p:cNvPr id="23" name="Link openepcis.io">
            <a:hlinkClick r:id="rId12" tooltip="https://openepcis.io"/>
          </p:cNvPr>
          <p:cNvSpPr/>
          <p:nvPr/>
        </p:nvSpPr>
        <p:spPr>
          <a:xfrm>
            <a:off x="3566160" y="4636008"/>
            <a:ext cx="2926080" cy="502920"/>
          </a:xfrm>
          <a:prstGeom prst="rect">
            <a:avLst/>
          </a:prstGeom>
          <a:solidFill>
            <a:schemeClr val="accent4">
              <a:alpha val="0"/>
            </a:schemeClr>
          </a:solidFill>
          <a:ln/>
        </p:spPr>
      </p:sp>
      <p:sp>
        <p:nvSpPr>
          <p:cNvPr id="24" name="Shape 18"/>
          <p:cNvSpPr/>
          <p:nvPr/>
        </p:nvSpPr>
        <p:spPr>
          <a:xfrm>
            <a:off x="731520" y="5212080"/>
            <a:ext cx="502920" cy="502920"/>
          </a:xfrm>
          <a:prstGeom prst="ellipse">
            <a:avLst/>
          </a:prstGeom>
          <a:solidFill>
            <a:srgbClr val="2B6AA6"/>
          </a:solidFill>
          <a:ln/>
        </p:spPr>
      </p:sp>
      <p:pic>
        <p:nvPicPr>
          <p:cNvPr id="25" name="Image 4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62279" y="5342839"/>
            <a:ext cx="241402" cy="241402"/>
          </a:xfrm>
          <a:prstGeom prst="rect">
            <a:avLst/>
          </a:prstGeom>
        </p:spPr>
      </p:pic>
      <p:sp>
        <p:nvSpPr>
          <p:cNvPr id="26" name="Text 19"/>
          <p:cNvSpPr txBox="1"/>
          <p:nvPr/>
        </p:nvSpPr>
        <p:spPr>
          <a:xfrm>
            <a:off x="1463040" y="521208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chemeClr val="accent6"/>
                </a:solidFill>
              </a:rPr>
              <a:t>Work with us</a:t>
            </a:r>
            <a:endParaRPr lang="en-US" sz="1700" dirty="0"/>
          </a:p>
        </p:txBody>
      </p:sp>
      <p:sp>
        <p:nvSpPr>
          <p:cNvPr id="27" name="Text 20"/>
          <p:cNvSpPr txBox="1"/>
          <p:nvPr/>
        </p:nvSpPr>
        <p:spPr>
          <a:xfrm>
            <a:off x="3566160" y="5212080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chemeClr val="bg1"/>
                </a:solidFill>
              </a:rPr>
              <a:t>benelog.com</a:t>
            </a:r>
            <a:endParaRPr lang="en-US" sz="1700" dirty="0"/>
          </a:p>
        </p:txBody>
      </p:sp>
      <p:sp>
        <p:nvSpPr>
          <p:cNvPr id="28" name="Link benelog.com">
            <a:hlinkClick r:id="rId14" tooltip="https://benelog.com"/>
          </p:cNvPr>
          <p:cNvSpPr/>
          <p:nvPr/>
        </p:nvSpPr>
        <p:spPr>
          <a:xfrm>
            <a:off x="3566160" y="5212080"/>
            <a:ext cx="2926080" cy="502920"/>
          </a:xfrm>
          <a:prstGeom prst="rect">
            <a:avLst/>
          </a:prstGeom>
          <a:solidFill>
            <a:schemeClr val="accent4">
              <a:alpha val="0"/>
            </a:schemeClr>
          </a:solidFill>
          <a:ln/>
        </p:spPr>
      </p:sp>
      <p:sp>
        <p:nvSpPr>
          <p:cNvPr id="29" name="Text 22"/>
          <p:cNvSpPr txBox="1"/>
          <p:nvPr/>
        </p:nvSpPr>
        <p:spPr>
          <a:xfrm>
            <a:off x="731520" y="60350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9DB9E8"/>
                </a:solidFill>
              </a:rPr>
              <a:t>Questions or topic ideas? Leave a comment below.</a:t>
            </a:r>
            <a:endParaRPr lang="en-US" sz="1500" dirty="0"/>
          </a:p>
        </p:txBody>
      </p:sp>
      <p:pic>
        <p:nvPicPr>
          <p:cNvPr id="30" name="Image 5" descr="/private/tmp/claude-502/-Users-aravinda-baligab-Downloads-EPCIS-Context-Issue/84dfbe84-070d-4987-85ce-19686c32e829/scratchpad/ep03/build/img/openepcis-logo-dark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8229600" y="5760720"/>
            <a:ext cx="1399032" cy="594360"/>
          </a:xfrm>
          <a:prstGeom prst="rect">
            <a:avLst/>
          </a:prstGeom>
        </p:spPr>
      </p:pic>
      <p:pic>
        <p:nvPicPr>
          <p:cNvPr id="31" name="Image 6" descr="/private/tmp/claude-502/-Users-aravinda-baligab-Downloads-EPCIS-Context-Issue/84dfbe84-070d-4987-85ce-19686c32e829/scratchpad/ep03/build/img/benelog-logo-dark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0012680" y="5951487"/>
            <a:ext cx="1563624" cy="32004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penEPCIS Series">
  <a:themeElements>
    <a:clrScheme name="OpenEPCIS Series">
      <a:dk1>
        <a:srgbClr val="1B2430"/>
      </a:dk1>
      <a:lt1>
        <a:srgbClr val="FFFFFF"/>
      </a:lt1>
      <a:dk2>
        <a:srgbClr val="0B4A86"/>
      </a:dk2>
      <a:lt2>
        <a:srgbClr val="EEF3F8"/>
      </a:lt2>
      <a:accent1>
        <a:srgbClr val="0B4A86"/>
      </a:accent1>
      <a:accent2>
        <a:srgbClr val="2B6AA6"/>
      </a:accent2>
      <a:accent3>
        <a:srgbClr val="A60A2B"/>
      </a:accent3>
      <a:accent4>
        <a:srgbClr val="0E1A2B"/>
      </a:accent4>
      <a:accent5>
        <a:srgbClr val="6B7785"/>
      </a:accent5>
      <a:accent6>
        <a:srgbClr val="C9D6E3"/>
      </a:accent6>
      <a:hlink>
        <a:srgbClr val="2B6AA6"/>
      </a:hlink>
      <a:folHlink>
        <a:srgbClr val="2B6AA6"/>
      </a:folHlink>
    </a:clrScheme>
    <a:fontScheme name="OpenEPCIS Series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5513</TotalTime>
  <Words>2973</Words>
  <Application>Microsoft Macintosh PowerPoint</Application>
  <PresentationFormat>Widescreen</PresentationFormat>
  <Paragraphs>397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Arial</vt:lpstr>
      <vt:lpstr>Calibri</vt:lpstr>
      <vt:lpstr>Cambria</vt:lpstr>
      <vt:lpstr>Courier New</vt:lpstr>
      <vt:lpstr>OpenEPCIS Series</vt:lpstr>
      <vt:lpstr>PowerPoint Presentation</vt:lpstr>
      <vt:lpstr>Agenda</vt:lpstr>
      <vt:lpstr>Every Event Shares the Same Frame</vt:lpstr>
      <vt:lpstr>Five Event Types at a Glance</vt:lpstr>
      <vt:lpstr>One Product, Five Events</vt:lpstr>
      <vt:lpstr>ADD, OBSERVE or DELETE?</vt:lpstr>
      <vt:lpstr>Inside a TransformationEvent</vt:lpstr>
      <vt:lpstr>Packed Inside or Attached?</vt:lpstr>
      <vt:lpstr>Which Event Do I Need?</vt:lpstr>
      <vt:lpstr>Build the Story in Our Tools</vt:lpstr>
      <vt:lpstr>Coming Up in the Series</vt:lpstr>
      <vt:lpstr>PowerPoint Presentation</vt:lpstr>
    </vt:vector>
  </TitlesOfParts>
  <Company>benelog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 Five EPCIS Event Types — Presenter Script</dc:title>
  <dc:subject>OpenEPCIS Episode 3 with concise speaker notes</dc:subject>
  <dc:creator>OpenEPCIS</dc:creator>
  <dc:description>Speaker notes rewritten as short, spaced speaking points. Selected slide wording refined for clarity.</dc:description>
  <cp:lastModifiedBy>Aravinda Baliga</cp:lastModifiedBy>
  <cp:revision>43</cp:revision>
  <dcterms:created xsi:type="dcterms:W3CDTF">2026-10-22T09:49:12Z</dcterms:created>
  <dcterms:modified xsi:type="dcterms:W3CDTF">2026-10-28T09:09:13Z</dcterms:modified>
</cp:coreProperties>
</file>